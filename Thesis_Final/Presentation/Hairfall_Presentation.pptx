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topic: we compare three models for predicting hair fall risk and explain each prediction.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Outline of the talk: the project in one slide, the problem, what is known, the gap, the data and methods, and what we expect.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One-slide summary. The problem, the aim, what is missing in earlier work, the data and method, and what we expect.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Hair loss has many causes that act together, so no single test predicts it. Earlier studies used classical models, and new foundation models are untested and hard to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objectives: compare the three models, and explain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Hair grows in cycles. Anything that pushes follicles into the resting phase early causes shedding. These factors overlap, so a model that combines many indicators is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closest studies. They use classical models on survey data, the results differ a lot, and none compared explanations.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CatBoost is a strong boosted-tree model. TabPFN and TabFM are new foundation models: pretrained once, then they predict in one pass without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we found missing. It is why the project compares these three models and explains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public datasets feed a super dataset of 200,000 records. Comparing it with them gives the final dataset of 21,606 records used for modelling.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pipeline: clean and split once, give the same rows to the three models, evaluate them the same way, and explain each with SHAP.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CatBoost needs training and tuning. TabPFN and TabFM only read the training rows as context and predict, so they need no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expectations to test, not results. The study can also show the opposite.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595959"/>
                </a:solidFill>
                <a:latin typeface="Arial"/>
              </a:rPr>
              <a:t>Tribhuvan University, Institute of Science and Technology</a:t>
            </a:r>
          </a:p>
        </p:txBody>
      </p:sp>
      <p:pic>
        <p:nvPicPr>
          <p:cNvPr id="3" name="Picture 2" descr="tu_logo_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1188720"/>
            <a:ext cx="123383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926080"/>
            <a:ext cx="10698480" cy="1554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000000"/>
                </a:solidFill>
                <a:latin typeface="Arial"/>
              </a:rPr>
              <a:t>Comparing CatBoost, TabPFN, and TabFM for Explainable Hair Fall Risk Prediction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26080" y="4617720"/>
            <a:ext cx="64008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4800600"/>
            <a:ext cx="106984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Dissertation Proposal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Submitted by: Nirajan Shahi (Roll no. 49/079)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Supervised by: Asst. Prof. Jagadish Bhatta</a:t>
            </a:r>
          </a:p>
          <a:p>
            <a:pPr algn="ctr"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Arial"/>
              </a:rPr>
              <a:t>Central Department of Computer Science and Information Technology, Kirtipur, Kathmandu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43000"/>
            <a:ext cx="109728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Comparing CatBoost, TabPFN, and TabFM for Explainable Hair Fall Risk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2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11680" y="1554480"/>
          <a:ext cx="8138160" cy="4160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400800"/>
                <a:gridCol w="1737360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000000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EEEEEE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000000"/>
                          </a:solidFill>
                          <a:latin typeface="Arial"/>
                        </a:rPr>
                        <a:t>Slides</a:t>
                      </a:r>
                    </a:p>
                  </a:txBody>
                  <a:tcPr marL="73152" marR="73152" marT="36576" marB="36576">
                    <a:solidFill>
                      <a:srgbClr val="EEEEEE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1.  Project at a glance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2.  Problem and objectives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4 - 5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3.  Background and literature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6 - 8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4.  Research gap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5.  Data and methods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10 - 12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6.  Expected outcomes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Project at a glance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43000"/>
            <a:ext cx="109728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Comparing CatBoost, TabPFN, and TabFM for Explainable Hair Fall Risk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3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554480"/>
          <a:ext cx="10972800" cy="3886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7440"/>
                <a:gridCol w="859536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Problem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Hair fall risk is hard to judge, and prediction models are hard to explain.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Objectives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Benchmark CatBoost, TabPFN, and TabFM, and explain every model with SHAP.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Research gap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Foundation models were never tested on hair fall data, and CatBoost was never tuned.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Data and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21,606 records, 3 risk tiers; same split for all models; accuracy, macro-F1, ROC-AUC.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Arial"/>
                        </a:rPr>
                        <a:t>Expected outcome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Arial"/>
                        </a:rPr>
                        <a:t>A fair comparison and explanations that agree with known causes.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Problem statement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43000"/>
            <a:ext cx="109728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Comparing CatBoost, TabPFN, and TabFM for Explainable Hair Fall Risk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698480" cy="411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•  Hair loss risk is hard to judge: hormones, nutrition, stress, and habits act together.</a:t>
            </a:r>
          </a:p>
          <a:p>
            <a:pPr algn="l">
              <a:spcAft>
                <a:spcPts val="2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•  Earlier studies used classical algorithms, with accuracies from about 50% to 100%.</a:t>
            </a:r>
          </a:p>
          <a:p>
            <a:pPr algn="l">
              <a:spcAft>
                <a:spcPts val="2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•  Newer foundation models (TabPFN, TabFM) are untested on hair fall data and hard to explain.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Objectives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43000"/>
            <a:ext cx="109728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Comparing CatBoost, TabPFN, and TabFM for Explainable Hair Fall Risk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5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69848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30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1.  Implement and benchmark CatBoost, TabPFN, and TabFM for multi-tier hair fall risk.</a:t>
            </a:r>
          </a:p>
          <a:p>
            <a:pPr algn="l">
              <a:spcAft>
                <a:spcPts val="30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2.  Explain every model with SHAP so each predicted risk tier can be traced to specific indicators.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Background: what causes hair loss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43000"/>
            <a:ext cx="109728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Comparing CatBoost, TabPFN, and TabFM for Explainable Hair Fall Risk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6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645920"/>
          <a:ext cx="10972799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474720"/>
                <a:gridCol w="7498079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000000"/>
                          </a:solidFill>
                          <a:latin typeface="Arial"/>
                        </a:rPr>
                        <a:t>Factor</a:t>
                      </a:r>
                    </a:p>
                  </a:txBody>
                  <a:tcPr marL="73152" marR="73152" marT="36576" marB="36576">
                    <a:solidFill>
                      <a:srgbClr val="EEEEEE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000000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marL="73152" marR="73152" marT="36576" marB="36576">
                    <a:solidFill>
                      <a:srgbClr val="EEEEEE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Hormones and heredity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Inherited sensitivity to androgens; family history matters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Nutrition and iron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Shortage of iron, zinc, and vitamins weakens follicles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Thyroid function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Thyroid hormones regulate the hair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Psychological stress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Pushes follicles into the resting phase early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Literature: what others did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43000"/>
            <a:ext cx="109728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Comparing CatBoost, TabPFN, and TabFM for Explainable Hair Fall Risk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7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645920"/>
          <a:ext cx="10972800" cy="29260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474720"/>
                <a:gridCol w="4572000"/>
                <a:gridCol w="29260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000000"/>
                          </a:solidFill>
                          <a:latin typeface="Arial"/>
                        </a:rPr>
                        <a:t>Study</a:t>
                      </a:r>
                    </a:p>
                  </a:txBody>
                  <a:tcPr marL="73152" marR="73152" marT="36576" marB="36576">
                    <a:solidFill>
                      <a:srgbClr val="EEEEEE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000000"/>
                          </a:solidFill>
                          <a:latin typeface="Arial"/>
                        </a:rPr>
                        <a:t>Models</a:t>
                      </a:r>
                    </a:p>
                  </a:txBody>
                  <a:tcPr marL="73152" marR="73152" marT="36576" marB="36576">
                    <a:solidFill>
                      <a:srgbClr val="EEEEEE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1">
                          <a:solidFill>
                            <a:srgbClr val="000000"/>
                          </a:solidFill>
                          <a:latin typeface="Arial"/>
                        </a:rPr>
                        <a:t>Main result</a:t>
                      </a:r>
                    </a:p>
                  </a:txBody>
                  <a:tcPr marL="73152" marR="73152" marT="36576" marB="36576">
                    <a:solidFill>
                      <a:srgbClr val="EEEEEE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Khatun et al. (2022)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SVM, KNN, LR, RF, XGBoost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XGBoost 92.62%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Kumar et al. (2025)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RF, XGBoost, CatBoost, LightGBM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RF 100%, CatBoost 49.5%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Siami &amp; Azis (2025)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LR, DT, RF, GB, XGBoost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000" b="0">
                          <a:solidFill>
                            <a:srgbClr val="000000"/>
                          </a:solidFill>
                          <a:latin typeface="Arial"/>
                        </a:rPr>
                        <a:t>About 50% at best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502920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LR = Logistic Regression, DT = Decision Tree, RF = Random Forest, GB = Gradient Boosting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Literature: the three models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43000"/>
            <a:ext cx="109728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Comparing CatBoost, TabPFN, and TabFM for Explainable Hair Fall Risk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8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698480" cy="411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•  CatBoost (Prokhorenkova et al., 2018): boosted trees for categorical data.</a:t>
            </a:r>
          </a:p>
          <a:p>
            <a:pPr algn="l">
              <a:spcAft>
                <a:spcPts val="2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•  TabPFN (Hollmann et al., 2025): pretrained transformer, best on small tables.</a:t>
            </a:r>
          </a:p>
          <a:p>
            <a:pPr algn="l">
              <a:spcAft>
                <a:spcPts val="2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•  TabFM (Kong et al., 2026): 400-million-parameter foundation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Research gap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43000"/>
            <a:ext cx="109728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Comparing CatBoost, TabPFN, and TabFM for Explainable Hair Fall Risk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9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698480" cy="411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8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•  Only classical algorithms were used, and CatBoost was never tuned.</a:t>
            </a:r>
          </a:p>
          <a:p>
            <a:pPr algn="l">
              <a:spcAft>
                <a:spcPts val="28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•  TabPFN and TabFM were never tested on hair loss data.</a:t>
            </a:r>
          </a:p>
          <a:p>
            <a:pPr algn="l">
              <a:spcAft>
                <a:spcPts val="2800"/>
              </a:spcAft>
            </a:pPr>
            <a:r>
              <a:rPr sz="2800" b="0">
                <a:solidFill>
                  <a:srgbClr val="000000"/>
                </a:solidFill>
                <a:latin typeface="Arial"/>
              </a:rPr>
              <a:t>•  No study explains boosted trees and foundation models side by side.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43000"/>
            <a:ext cx="109728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Comparing CatBoost, TabPFN, and TabFM for Explainable Hair Fall Risk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4572000" cy="411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•  Two public datasets: Kaggle and Mendeley.</a:t>
            </a:r>
          </a:p>
          <a:p>
            <a:pPr algn="l">
              <a:spcAft>
                <a:spcPts val="20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•  Super dataset: 200,000 records.</a:t>
            </a:r>
          </a:p>
          <a:p>
            <a:pPr algn="l">
              <a:spcAft>
                <a:spcPts val="20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•  Final dataset: 21,606 records, 20 features, 3 risk tiers.</a:t>
            </a:r>
          </a:p>
        </p:txBody>
      </p:sp>
      <p:pic>
        <p:nvPicPr>
          <p:cNvPr id="7" name="Picture 6" descr="fig_3_2_dataset_l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2194560"/>
            <a:ext cx="6675120" cy="28535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Research framework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43000"/>
            <a:ext cx="109728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Comparing CatBoost, TabPFN, and TabFM for Explainable Hair Fall Risk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11 / 14</a:t>
            </a:r>
          </a:p>
        </p:txBody>
      </p:sp>
      <p:pic>
        <p:nvPicPr>
          <p:cNvPr id="6" name="Picture 5" descr="fig_3_1_frame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463040"/>
            <a:ext cx="8686800" cy="3750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000000"/>
                </a:solidFill>
                <a:latin typeface="Arial"/>
              </a:rPr>
              <a:t>Same split and seed for all models.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Models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43000"/>
            <a:ext cx="109728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Comparing CatBoost, TabPFN, and TabFM for Explainable Hair Fall Risk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12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645920"/>
          <a:ext cx="10972799" cy="32918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474720"/>
                <a:gridCol w="7498079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2200" b="1">
                          <a:solidFill>
                            <a:srgbClr val="000000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73152" marR="73152" marT="36576" marB="36576">
                    <a:solidFill>
                      <a:srgbClr val="EEEEEE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200" b="1">
                          <a:solidFill>
                            <a:srgbClr val="000000"/>
                          </a:solidFill>
                          <a:latin typeface="Arial"/>
                        </a:rPr>
                        <a:t>Tuning</a:t>
                      </a:r>
                    </a:p>
                  </a:txBody>
                  <a:tcPr marL="73152" marR="73152" marT="36576" marB="36576">
                    <a:solidFill>
                      <a:srgbClr val="EEEEEE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Arial"/>
                        </a:rPr>
                        <a:t>CatBoost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Arial"/>
                        </a:rPr>
                        <a:t>Trained and tuned (grid search, 5-fold cross-validation)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Arial"/>
                        </a:rPr>
                        <a:t>TabPFN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Arial"/>
                        </a:rPr>
                        <a:t>TabFM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  <a:lnL w="12700" cap="flat" cmpd="sng" algn="ctr">
                      <a:solidFill>
                        <a:srgbClr val="000000"/>
                      </a:solidFill>
                      <a:prstDash val="soli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000000"/>
                </a:solidFill>
                <a:latin typeface="Arial"/>
              </a:rPr>
              <a:t>Expected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94360" y="1143000"/>
            <a:ext cx="109728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Comparing CatBoost, TabPFN, and TabFM for Explainable Hair Fall Risk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698480" cy="411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•  A fair comparison of the three models on the same data.</a:t>
            </a:r>
          </a:p>
          <a:p>
            <a:pPr algn="l">
              <a:spcAft>
                <a:spcPts val="2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•  TabPFN and TabFM competitive without tuning (to be tested).</a:t>
            </a:r>
          </a:p>
          <a:p>
            <a:pPr algn="l">
              <a:spcAft>
                <a:spcPts val="2600"/>
              </a:spcAft>
            </a:pPr>
            <a:r>
              <a:rPr sz="2600" b="0">
                <a:solidFill>
                  <a:srgbClr val="000000"/>
                </a:solidFill>
                <a:latin typeface="Arial"/>
              </a:rPr>
              <a:t>•  Explanations that agree with known causes: iron, stress, family history.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5400" b="1">
                <a:solidFill>
                  <a:srgbClr val="000000"/>
                </a:solidFill>
                <a:latin typeface="Arial"/>
              </a:rPr>
              <a:t>Thank you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40480" y="3566160"/>
            <a:ext cx="457200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31520" y="3749039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Questions are welcome</a:t>
            </a:r>
          </a:p>
          <a:p>
            <a:pPr algn="ctr">
              <a:spcAft>
                <a:spcPts val="800"/>
              </a:spcAft>
            </a:pPr>
            <a:r>
              <a:rPr sz="2000" b="0">
                <a:solidFill>
                  <a:srgbClr val="000000"/>
                </a:solidFill>
                <a:latin typeface="Arial"/>
              </a:rPr>
              <a:t>Nirajan Shahi  |  Supervisor: Asst. Prof. Jagadish Bhatta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