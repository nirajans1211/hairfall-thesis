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topic: we compare three models for predicting hair fall risk and explain each prediction.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One-slide summary. Problem, aim, data, method, expected result and time. Each point is explained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loss has many causes that act together, so one test cannot predict it. Doctors rely on history and self-reports. ML can help but is a black box, which is a problem in health care.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objectives: compare the three models, and explain them. Everything in the project serves one of these two.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grows in cycles. Anything that pushes follicles out of the growth phase early causes shedding. These factors overlap, which is why a model that combines many indicators is useful.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closest studies. Most use classical models on survey data, or images. Results differ a lot between studies, and explanations were not compared.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CatBoost is a strong boosted-tree model for categorical data. TabPFN and TabFM are new foundation models: pretrained once, then they predict in one pass without training.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found missing in the literature. It is why the project compares these three models and explains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public datasets are the sources. A super dataset of 200,000 records holds all their fields plus extra fields. Age and gender are identified in it. Comparing it with the two datasets gives the final dataset of 21,606 records used for modelling.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pipeline: clean and split the data once, give the same rows to the three models, evaluate them the same way, and explain each with SHAP. The 500 and 2,000 record sets show behaviour with little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different ways to predict. CatBoost needs training and tuning. TabPFN and TabFM only read the training rows as context and predict, so they need no tuning.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shows which features push each prediction up or down. Metrics are macro averages because the tiers are not equal in size. McNemar's test tells us if differences are real.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expectations to test, not results. The study can also show the opposite, and a difference counts only if McNemar's test supports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Months 1 and 2 are the proposal work. Months 3 and 4 are the final work after approval, in the order of the methodology. Thank you; questions are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457200"/>
          </a:xfrm>
          <a:prstGeom prst="rect">
            <a:avLst/>
          </a:prstGeom>
          <a:noFill/>
        </p:spPr>
        <p:txBody>
          <a:bodyPr wrap="square" anchor="t" lIns="45720" rIns="45720">
            <a:spAutoFit/>
          </a:bodyPr>
          <a:lstStyle/>
          <a:p>
            <a:pPr algn="ctr">
              <a:spcAft>
                <a:spcPts val="800"/>
              </a:spcAft>
            </a:pPr>
            <a:r>
              <a:rPr sz="1800" b="0">
                <a:solidFill>
                  <a:srgbClr val="595959"/>
                </a:solidFill>
                <a:latin typeface="Arial"/>
              </a:rPr>
              <a:t>Tribhuvan University, Institute of Science and Technology</a:t>
            </a:r>
          </a:p>
        </p:txBody>
      </p:sp>
      <p:pic>
        <p:nvPicPr>
          <p:cNvPr id="3" name="Picture 2" descr="tu_logo_bw.png"/>
          <p:cNvPicPr>
            <a:picLocks noChangeAspect="1"/>
          </p:cNvPicPr>
          <p:nvPr/>
        </p:nvPicPr>
        <p:blipFill>
          <a:blip r:embed="rId2"/>
          <a:stretch>
            <a:fillRect/>
          </a:stretch>
        </p:blipFill>
        <p:spPr>
          <a:xfrm>
            <a:off x="5641848" y="1188720"/>
            <a:ext cx="1233830" cy="1463040"/>
          </a:xfrm>
          <a:prstGeom prst="rect">
            <a:avLst/>
          </a:prstGeom>
        </p:spPr>
      </p:pic>
      <p:sp>
        <p:nvSpPr>
          <p:cNvPr id="4" name="TextBox 3"/>
          <p:cNvSpPr txBox="1"/>
          <p:nvPr/>
        </p:nvSpPr>
        <p:spPr>
          <a:xfrm>
            <a:off x="731520" y="2926080"/>
            <a:ext cx="10698480" cy="1554480"/>
          </a:xfrm>
          <a:prstGeom prst="rect">
            <a:avLst/>
          </a:prstGeom>
          <a:noFill/>
        </p:spPr>
        <p:txBody>
          <a:bodyPr wrap="square" anchor="ctr" lIns="45720" rIns="45720">
            <a:spAutoFit/>
          </a:bodyPr>
          <a:lstStyle/>
          <a:p>
            <a:pPr algn="ctr">
              <a:spcAft>
                <a:spcPts val="800"/>
              </a:spcAft>
            </a:pPr>
            <a:r>
              <a:rPr sz="3600" b="1">
                <a:solidFill>
                  <a:srgbClr val="000000"/>
                </a:solidFill>
                <a:latin typeface="Arial"/>
              </a:rPr>
              <a:t>Comparing CatBoost, TabPFN, and TabFM for Explainable Hair Fall Risk Prediction</a:t>
            </a:r>
          </a:p>
        </p:txBody>
      </p:sp>
      <p:cxnSp>
        <p:nvCxnSpPr>
          <p:cNvPr id="5" name="Connector 4"/>
          <p:cNvCxnSpPr/>
          <p:nvPr/>
        </p:nvCxnSpPr>
        <p:spPr>
          <a:xfrm>
            <a:off x="2926080" y="4617720"/>
            <a:ext cx="6400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4800600"/>
            <a:ext cx="10698480" cy="1463040"/>
          </a:xfrm>
          <a:prstGeom prst="rect">
            <a:avLst/>
          </a:prstGeom>
          <a:noFill/>
        </p:spPr>
        <p:txBody>
          <a:bodyPr wrap="square" anchor="t" lIns="45720" rIns="45720">
            <a:spAutoFit/>
          </a:bodyPr>
          <a:lstStyle/>
          <a:p>
            <a:pPr algn="ctr">
              <a:spcAft>
                <a:spcPts val="400"/>
              </a:spcAft>
            </a:pPr>
            <a:r>
              <a:rPr sz="1600" b="0">
                <a:solidFill>
                  <a:srgbClr val="000000"/>
                </a:solidFill>
                <a:latin typeface="Arial"/>
              </a:rPr>
              <a:t>Dissertation Proposal</a:t>
            </a:r>
          </a:p>
          <a:p>
            <a:pPr algn="ctr">
              <a:spcAft>
                <a:spcPts val="400"/>
              </a:spcAft>
            </a:pPr>
            <a:r>
              <a:rPr sz="1600" b="0">
                <a:solidFill>
                  <a:srgbClr val="000000"/>
                </a:solidFill>
                <a:latin typeface="Arial"/>
              </a:rPr>
              <a:t>Submitted by: Nirajan Shahi (Roll no. 49/079)</a:t>
            </a:r>
          </a:p>
          <a:p>
            <a:pPr algn="ctr">
              <a:spcAft>
                <a:spcPts val="400"/>
              </a:spcAft>
            </a:pPr>
            <a:r>
              <a:rPr sz="1600" b="0">
                <a:solidFill>
                  <a:srgbClr val="000000"/>
                </a:solidFill>
                <a:latin typeface="Arial"/>
              </a:rPr>
              <a:t>Supervised by: Asst. Prof. Jagadish Bhatta</a:t>
            </a:r>
          </a:p>
          <a:p>
            <a:pPr algn="ctr">
              <a:spcAft>
                <a:spcPts val="400"/>
              </a:spcAft>
            </a:pPr>
            <a:r>
              <a:rPr sz="1600" b="0">
                <a:solidFill>
                  <a:srgbClr val="000000"/>
                </a:solidFill>
                <a:latin typeface="Arial"/>
              </a:rPr>
              <a:t>Central Department of Computer Science and Information Technology, Kirtipur, Kathmandu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Project at a glance</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2 / 14</a:t>
            </a:r>
          </a:p>
        </p:txBody>
      </p:sp>
      <p:graphicFrame>
        <p:nvGraphicFramePr>
          <p:cNvPr id="6" name="Table 5"/>
          <p:cNvGraphicFramePr>
            <a:graphicFrameLocks noGrp="1"/>
          </p:cNvGraphicFramePr>
          <p:nvPr/>
        </p:nvGraphicFramePr>
        <p:xfrm>
          <a:off x="594360" y="1371600"/>
          <a:ext cx="10972800" cy="4608576"/>
        </p:xfrm>
        <a:graphic>
          <a:graphicData uri="http://schemas.openxmlformats.org/drawingml/2006/table">
            <a:tbl>
              <a:tblPr firstRow="0" bandRow="0">
                <a:tableStyleId>{5940675A-B579-460E-94D1-54222C63F5DA}</a:tableStyleId>
              </a:tblPr>
              <a:tblGrid>
                <a:gridCol w="2194560"/>
                <a:gridCol w="8778240"/>
              </a:tblGrid>
              <a:tr h="658368">
                <a:tc>
                  <a:txBody>
                    <a:bodyPr wrap="square"/>
                    <a:lstStyle/>
                    <a:p>
                      <a:r>
                        <a:rPr sz="1600" b="1">
                          <a:solidFill>
                            <a:srgbClr val="000000"/>
                          </a:solidFill>
                          <a:latin typeface="Arial"/>
                        </a:rPr>
                        <a:t>Problem</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Hair fall risk is hard to judge, and most prediction models cannot explain their answers.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658368">
                <a:tc>
                  <a:txBody>
                    <a:bodyPr wrap="square"/>
                    <a:lstStyle/>
                    <a:p>
                      <a:r>
                        <a:rPr sz="1600" b="1">
                          <a:solidFill>
                            <a:srgbClr val="000000"/>
                          </a:solidFill>
                          <a:latin typeface="Arial"/>
                        </a:rPr>
                        <a:t>Objectives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1. Benchmark CatBoost, TabPFN, and TabFM.   2. Explain every model with SHAP.</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658368">
                <a:tc>
                  <a:txBody>
                    <a:bodyPr wrap="square"/>
                    <a:lstStyle/>
                    <a:p>
                      <a:r>
                        <a:rPr sz="1600" b="1">
                          <a:solidFill>
                            <a:srgbClr val="000000"/>
                          </a:solidFill>
                          <a:latin typeface="Arial"/>
                        </a:rPr>
                        <a:t>Research gap</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Foundation models were never tested on hair fall data; CatBoost was never tuned; no side-by-side explanations.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658368">
                <a:tc>
                  <a:txBody>
                    <a:bodyPr wrap="square"/>
                    <a:lstStyle/>
                    <a:p>
                      <a:r>
                        <a:rPr sz="1600" b="1">
                          <a:solidFill>
                            <a:srgbClr val="000000"/>
                          </a:solidFill>
                          <a:latin typeface="Arial"/>
                        </a:rPr>
                        <a:t>Data</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21,606 records, 20 features (blood and body measurements, lifestyle, clinical), 3 risk tiers: Low, Moderate, High.</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658368">
                <a:tc>
                  <a:txBody>
                    <a:bodyPr wrap="square"/>
                    <a:lstStyle/>
                    <a:p>
                      <a:r>
                        <a:rPr sz="1600" b="1">
                          <a:solidFill>
                            <a:srgbClr val="000000"/>
                          </a:solidFill>
                          <a:latin typeface="Arial"/>
                        </a:rPr>
                        <a:t>Method</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Same split for all models; CatBoost tuned, TabPFN and TabFM without tuning; SHAP; accuracy, macro-F1, ROC-AUC, McNemar's test.</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658368">
                <a:tc>
                  <a:txBody>
                    <a:bodyPr wrap="square"/>
                    <a:lstStyle/>
                    <a:p>
                      <a:r>
                        <a:rPr sz="1600" b="1">
                          <a:solidFill>
                            <a:srgbClr val="000000"/>
                          </a:solidFill>
                          <a:latin typeface="Arial"/>
                        </a:rPr>
                        <a:t>Expected outcome</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A fair comparison, a strong tuned baseline, TabFM limits recorded, and explanations checked against known biology.</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658368">
                <a:tc>
                  <a:txBody>
                    <a:bodyPr wrap="square"/>
                    <a:lstStyle/>
                    <a:p>
                      <a:r>
                        <a:rPr sz="1600" b="1">
                          <a:solidFill>
                            <a:srgbClr val="000000"/>
                          </a:solidFill>
                          <a:latin typeface="Arial"/>
                        </a:rPr>
                        <a:t>Time</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4 months: proposal work (Months 1 and 2) and final work (Months 3 and 4).</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Problem statement</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3 / 14</a:t>
            </a:r>
          </a:p>
        </p:txBody>
      </p:sp>
      <p:sp>
        <p:nvSpPr>
          <p:cNvPr id="6" name="TextBox 5"/>
          <p:cNvSpPr txBox="1"/>
          <p:nvPr/>
        </p:nvSpPr>
        <p:spPr>
          <a:xfrm>
            <a:off x="731520" y="1554480"/>
            <a:ext cx="10698480" cy="4389120"/>
          </a:xfrm>
          <a:prstGeom prst="rect">
            <a:avLst/>
          </a:prstGeom>
          <a:noFill/>
        </p:spPr>
        <p:txBody>
          <a:bodyPr wrap="square" anchor="t" lIns="45720" rIns="45720">
            <a:spAutoFit/>
          </a:bodyPr>
          <a:lstStyle/>
          <a:p>
            <a:pPr algn="l">
              <a:spcAft>
                <a:spcPts val="1600"/>
              </a:spcAft>
            </a:pPr>
            <a:r>
              <a:rPr sz="2200" b="0">
                <a:solidFill>
                  <a:srgbClr val="000000"/>
                </a:solidFill>
                <a:latin typeface="Arial"/>
              </a:rPr>
              <a:t>•  Hair loss risk is hard to judge: hormones, nutrition, stress, illness, and habits act together.</a:t>
            </a:r>
          </a:p>
          <a:p>
            <a:pPr algn="l">
              <a:spcAft>
                <a:spcPts val="1600"/>
              </a:spcAft>
            </a:pPr>
            <a:r>
              <a:rPr sz="2200" b="0">
                <a:solidFill>
                  <a:srgbClr val="000000"/>
                </a:solidFill>
                <a:latin typeface="Arial"/>
              </a:rPr>
              <a:t>•  Assessment often relies on self-reporting or late clinical checks, which are subjective and hard to reach in rural areas.</a:t>
            </a:r>
          </a:p>
          <a:p>
            <a:pPr algn="l">
              <a:spcAft>
                <a:spcPts val="1600"/>
              </a:spcAft>
            </a:pPr>
            <a:r>
              <a:rPr sz="2200" b="0">
                <a:solidFill>
                  <a:srgbClr val="000000"/>
                </a:solidFill>
                <a:latin typeface="Arial"/>
              </a:rPr>
              <a:t>•  Earlier prediction studies used classical algorithms and report very different accuracies (about 50% to 100%).</a:t>
            </a:r>
          </a:p>
          <a:p>
            <a:pPr algn="l">
              <a:spcAft>
                <a:spcPts val="1600"/>
              </a:spcAft>
            </a:pPr>
            <a:r>
              <a:rPr sz="2200" b="0">
                <a:solidFill>
                  <a:srgbClr val="000000"/>
                </a:solidFill>
                <a:latin typeface="Arial"/>
              </a:rPr>
              <a:t>•  Newer tabular foundation models (TabPFN, TabFM) have not been tested on hair fall data.</a:t>
            </a:r>
          </a:p>
          <a:p>
            <a:pPr algn="l">
              <a:spcAft>
                <a:spcPts val="1600"/>
              </a:spcAft>
            </a:pPr>
            <a:r>
              <a:rPr sz="2200" b="0">
                <a:solidFill>
                  <a:srgbClr val="000000"/>
                </a:solidFill>
                <a:latin typeface="Arial"/>
              </a:rPr>
              <a:t>•  Both gradient boosting and foundation models are hard to explain.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Objectives</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4 / 14</a:t>
            </a:r>
          </a:p>
        </p:txBody>
      </p:sp>
      <p:sp>
        <p:nvSpPr>
          <p:cNvPr id="6" name="TextBox 5"/>
          <p:cNvSpPr txBox="1"/>
          <p:nvPr/>
        </p:nvSpPr>
        <p:spPr>
          <a:xfrm>
            <a:off x="731520" y="1737360"/>
            <a:ext cx="10698480" cy="4114800"/>
          </a:xfrm>
          <a:prstGeom prst="rect">
            <a:avLst/>
          </a:prstGeom>
          <a:noFill/>
        </p:spPr>
        <p:txBody>
          <a:bodyPr wrap="square" anchor="t" lIns="45720" rIns="45720">
            <a:spAutoFit/>
          </a:bodyPr>
          <a:lstStyle/>
          <a:p>
            <a:pPr algn="l">
              <a:spcAft>
                <a:spcPts val="2600"/>
              </a:spcAft>
            </a:pPr>
            <a:r>
              <a:rPr sz="2400" b="0">
                <a:solidFill>
                  <a:srgbClr val="000000"/>
                </a:solidFill>
                <a:latin typeface="Arial"/>
              </a:rPr>
              <a:t>1.  To implement and benchmark CatBoost, TabPFN, and TabFM for predicting multi-tier hair fall risk from structured clinical and lifestyle data.</a:t>
            </a:r>
          </a:p>
          <a:p>
            <a:pPr algn="l">
              <a:spcAft>
                <a:spcPts val="2600"/>
              </a:spcAft>
            </a:pPr>
            <a:r>
              <a:rPr sz="2400" b="0">
                <a:solidFill>
                  <a:srgbClr val="000000"/>
                </a:solidFill>
                <a:latin typeface="Arial"/>
              </a:rPr>
              <a:t>2.  To provide transparent, feature-level decision-support insights for every model through SHAP-based explainability, so that each predicted risk tier can be traced to specific indicators.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Background: what causes hair loss</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5 / 14</a:t>
            </a:r>
          </a:p>
        </p:txBody>
      </p:sp>
      <p:graphicFrame>
        <p:nvGraphicFramePr>
          <p:cNvPr id="6" name="Table 5"/>
          <p:cNvGraphicFramePr>
            <a:graphicFrameLocks noGrp="1"/>
          </p:cNvGraphicFramePr>
          <p:nvPr/>
        </p:nvGraphicFramePr>
        <p:xfrm>
          <a:off x="594360" y="1371600"/>
          <a:ext cx="10972800" cy="3291840"/>
        </p:xfrm>
        <a:graphic>
          <a:graphicData uri="http://schemas.openxmlformats.org/drawingml/2006/table">
            <a:tbl>
              <a:tblPr firstRow="0" bandRow="0">
                <a:tableStyleId>{5940675A-B579-460E-94D1-54222C63F5DA}</a:tableStyleId>
              </a:tblPr>
              <a:tblGrid>
                <a:gridCol w="2926080"/>
                <a:gridCol w="5120640"/>
                <a:gridCol w="2926080"/>
              </a:tblGrid>
              <a:tr h="548640">
                <a:tc>
                  <a:txBody>
                    <a:bodyPr wrap="square"/>
                    <a:lstStyle/>
                    <a:p>
                      <a:r>
                        <a:rPr sz="1600" b="1">
                          <a:solidFill>
                            <a:srgbClr val="000000"/>
                          </a:solidFill>
                          <a:latin typeface="Arial"/>
                        </a:rPr>
                        <a:t>Factor</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1">
                          <a:solidFill>
                            <a:srgbClr val="000000"/>
                          </a:solidFill>
                          <a:latin typeface="Arial"/>
                        </a:rPr>
                        <a:t>What it does</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1">
                          <a:solidFill>
                            <a:srgbClr val="000000"/>
                          </a:solidFill>
                          <a:latin typeface="Arial"/>
                        </a:rPr>
                        <a:t>Source</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48640">
                <a:tc>
                  <a:txBody>
                    <a:bodyPr wrap="square"/>
                    <a:lstStyle/>
                    <a:p>
                      <a:r>
                        <a:rPr sz="1600" b="0">
                          <a:solidFill>
                            <a:srgbClr val="000000"/>
                          </a:solidFill>
                          <a:latin typeface="Arial"/>
                        </a:rPr>
                        <a:t>Hormones and heredity</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Inherited sensitivity to androgens; family history is a key indicator</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Agaoglu et al. (2021)</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48640">
                <a:tc>
                  <a:txBody>
                    <a:bodyPr wrap="square"/>
                    <a:lstStyle/>
                    <a:p>
                      <a:r>
                        <a:rPr sz="1600" b="0">
                          <a:solidFill>
                            <a:srgbClr val="000000"/>
                          </a:solidFill>
                          <a:latin typeface="Arial"/>
                        </a:rPr>
                        <a:t>Nutrition and iron</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Shortage of iron, zinc, and vitamins weakens follicles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Guo &amp; Katta (2017); Lin et al. (2023)</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48640">
                <a:tc>
                  <a:txBody>
                    <a:bodyPr wrap="square"/>
                    <a:lstStyle/>
                    <a:p>
                      <a:r>
                        <a:rPr sz="1600" b="0">
                          <a:solidFill>
                            <a:srgbClr val="000000"/>
                          </a:solidFill>
                          <a:latin typeface="Arial"/>
                        </a:rPr>
                        <a:t>Thyroid function</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Thyroid hormones regulate the hair cycle</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Hussein et al. (2023)</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48640">
                <a:tc>
                  <a:txBody>
                    <a:bodyPr wrap="square"/>
                    <a:lstStyle/>
                    <a:p>
                      <a:r>
                        <a:rPr sz="1600" b="0">
                          <a:solidFill>
                            <a:srgbClr val="000000"/>
                          </a:solidFill>
                          <a:latin typeface="Arial"/>
                        </a:rPr>
                        <a:t>Psychological stress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Pushes follicles into the resting phase early</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Bai et al. (2026)</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48640">
                <a:tc>
                  <a:txBody>
                    <a:bodyPr wrap="square"/>
                    <a:lstStyle/>
                    <a:p>
                      <a:r>
                        <a:rPr sz="1600" b="0">
                          <a:solidFill>
                            <a:srgbClr val="000000"/>
                          </a:solidFill>
                          <a:latin typeface="Arial"/>
                        </a:rPr>
                        <a:t>Illness and infection</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Can trigger heavy shedding (telogen effluvium)</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Cline et al. (2021)</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bl>
          </a:graphicData>
        </a:graphic>
      </p:graphicFrame>
      <p:sp>
        <p:nvSpPr>
          <p:cNvPr id="7" name="TextBox 6"/>
          <p:cNvSpPr txBox="1"/>
          <p:nvPr/>
        </p:nvSpPr>
        <p:spPr>
          <a:xfrm>
            <a:off x="594360" y="4846320"/>
            <a:ext cx="10972800" cy="1097280"/>
          </a:xfrm>
          <a:prstGeom prst="rect">
            <a:avLst/>
          </a:prstGeom>
          <a:noFill/>
        </p:spPr>
        <p:txBody>
          <a:bodyPr wrap="square" anchor="t" lIns="45720" rIns="45720">
            <a:spAutoFit/>
          </a:bodyPr>
          <a:lstStyle/>
          <a:p>
            <a:pPr algn="l">
              <a:spcAft>
                <a:spcPts val="800"/>
              </a:spcAft>
            </a:pPr>
            <a:r>
              <a:rPr sz="1800" b="0">
                <a:solidFill>
                  <a:srgbClr val="000000"/>
                </a:solidFill>
                <a:latin typeface="Arial"/>
              </a:rPr>
              <a:t>Trend: hair loss is reported more often and at a younger age, and it affects self-confidence and quality of life.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Literature: what others did</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6 / 14</a:t>
            </a:r>
          </a:p>
        </p:txBody>
      </p:sp>
      <p:graphicFrame>
        <p:nvGraphicFramePr>
          <p:cNvPr id="6" name="Table 5"/>
          <p:cNvGraphicFramePr>
            <a:graphicFrameLocks noGrp="1"/>
          </p:cNvGraphicFramePr>
          <p:nvPr/>
        </p:nvGraphicFramePr>
        <p:xfrm>
          <a:off x="457200" y="1325880"/>
          <a:ext cx="11247120" cy="3968496"/>
        </p:xfrm>
        <a:graphic>
          <a:graphicData uri="http://schemas.openxmlformats.org/drawingml/2006/table">
            <a:tbl>
              <a:tblPr firstRow="0" bandRow="0">
                <a:tableStyleId>{5940675A-B579-460E-94D1-54222C63F5DA}</a:tableStyleId>
              </a:tblPr>
              <a:tblGrid>
                <a:gridCol w="3566160"/>
                <a:gridCol w="2377440"/>
                <a:gridCol w="3291840"/>
                <a:gridCol w="2011680"/>
              </a:tblGrid>
              <a:tr h="566928">
                <a:tc>
                  <a:txBody>
                    <a:bodyPr wrap="square"/>
                    <a:lstStyle/>
                    <a:p>
                      <a:r>
                        <a:rPr sz="1400" b="1">
                          <a:solidFill>
                            <a:srgbClr val="000000"/>
                          </a:solidFill>
                          <a:latin typeface="Arial"/>
                        </a:rPr>
                        <a:t>Study</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1">
                          <a:solidFill>
                            <a:srgbClr val="000000"/>
                          </a:solidFill>
                          <a:latin typeface="Arial"/>
                        </a:rPr>
                        <a:t>Data</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1">
                          <a:solidFill>
                            <a:srgbClr val="000000"/>
                          </a:solidFill>
                          <a:latin typeface="Arial"/>
                        </a:rPr>
                        <a:t>Models</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1">
                          <a:solidFill>
                            <a:srgbClr val="000000"/>
                          </a:solidFill>
                          <a:latin typeface="Arial"/>
                        </a:rPr>
                        <a:t>Main result</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66928">
                <a:tc>
                  <a:txBody>
                    <a:bodyPr wrap="square"/>
                    <a:lstStyle/>
                    <a:p>
                      <a:r>
                        <a:rPr sz="1400" b="0">
                          <a:solidFill>
                            <a:srgbClr val="000000"/>
                          </a:solidFill>
                          <a:latin typeface="Arial"/>
                        </a:rPr>
                        <a:t>Khatun et al. (2022)</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Survey, 610 people</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SVM, KNN, LR, RF, XGBoost</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XGBoost 92.62%</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66928">
                <a:tc>
                  <a:txBody>
                    <a:bodyPr wrap="square"/>
                    <a:lstStyle/>
                    <a:p>
                      <a:r>
                        <a:rPr sz="1400" b="0">
                          <a:solidFill>
                            <a:srgbClr val="000000"/>
                          </a:solidFill>
                          <a:latin typeface="Arial"/>
                        </a:rPr>
                        <a:t>Sai et al. (2023)</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Hair fall data</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SVM, KNN, DT, RF, LR, ensemble</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Ensemble best</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66928">
                <a:tc>
                  <a:txBody>
                    <a:bodyPr wrap="square"/>
                    <a:lstStyle/>
                    <a:p>
                      <a:r>
                        <a:rPr sz="1400" b="0">
                          <a:solidFill>
                            <a:srgbClr val="000000"/>
                          </a:solidFill>
                          <a:latin typeface="Arial"/>
                        </a:rPr>
                        <a:t>Kumar et al. (2025)</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2,000 records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RF, XGBoost, CatBoost, LightGBM</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RF 100%, CatBoost 49.5%</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66928">
                <a:tc>
                  <a:txBody>
                    <a:bodyPr wrap="square"/>
                    <a:lstStyle/>
                    <a:p>
                      <a:r>
                        <a:rPr sz="1400" b="0">
                          <a:solidFill>
                            <a:srgbClr val="000000"/>
                          </a:solidFill>
                          <a:latin typeface="Arial"/>
                        </a:rPr>
                        <a:t>Siami &amp; Azis (2025)</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Multi-factor data</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LR, DT, RF, GB, XGBoost, voting</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About 50% at best</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66928">
                <a:tc>
                  <a:txBody>
                    <a:bodyPr wrap="square"/>
                    <a:lstStyle/>
                    <a:p>
                      <a:r>
                        <a:rPr sz="1400" b="0">
                          <a:solidFill>
                            <a:srgbClr val="000000"/>
                          </a:solidFill>
                          <a:latin typeface="Arial"/>
                        </a:rPr>
                        <a:t>Leema et al. (2025)</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Survey, 750 people</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LSTM, RF, TFT, ARIMAX</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TFT 97.5%</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566928">
                <a:tc>
                  <a:txBody>
                    <a:bodyPr wrap="square"/>
                    <a:lstStyle/>
                    <a:p>
                      <a:r>
                        <a:rPr sz="1400" b="0">
                          <a:solidFill>
                            <a:srgbClr val="000000"/>
                          </a:solidFill>
                          <a:latin typeface="Arial"/>
                        </a:rPr>
                        <a:t>Shakeel et al. (2021); Sayyad et al. (2022)</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Hair images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SVM, KNN, VGG with SVM</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400" b="0">
                          <a:solidFill>
                            <a:srgbClr val="000000"/>
                          </a:solidFill>
                          <a:latin typeface="Arial"/>
                        </a:rPr>
                        <a:t>91.4% and 98.31%</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bl>
          </a:graphicData>
        </a:graphic>
      </p:graphicFrame>
      <p:sp>
        <p:nvSpPr>
          <p:cNvPr id="7" name="TextBox 6"/>
          <p:cNvSpPr txBox="1"/>
          <p:nvPr/>
        </p:nvSpPr>
        <p:spPr>
          <a:xfrm>
            <a:off x="457200" y="5486400"/>
            <a:ext cx="11247120" cy="731520"/>
          </a:xfrm>
          <a:prstGeom prst="rect">
            <a:avLst/>
          </a:prstGeom>
          <a:noFill/>
        </p:spPr>
        <p:txBody>
          <a:bodyPr wrap="square" anchor="t" lIns="45720" rIns="45720">
            <a:spAutoFit/>
          </a:bodyPr>
          <a:lstStyle/>
          <a:p>
            <a:pPr algn="l">
              <a:spcAft>
                <a:spcPts val="800"/>
              </a:spcAft>
            </a:pPr>
            <a:r>
              <a:rPr sz="1200" b="0">
                <a:solidFill>
                  <a:srgbClr val="595959"/>
                </a:solidFill>
                <a:latin typeface="Arial"/>
              </a:rPr>
              <a:t>LR = Logistic Regression, DT = Decision Tree, RF = Random Forest, GB = Gradient Boosting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Literature: the three model families</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7 / 14</a:t>
            </a:r>
          </a:p>
        </p:txBody>
      </p:sp>
      <p:sp>
        <p:nvSpPr>
          <p:cNvPr id="6" name="TextBox 5"/>
          <p:cNvSpPr txBox="1"/>
          <p:nvPr/>
        </p:nvSpPr>
        <p:spPr>
          <a:xfrm>
            <a:off x="731520" y="1463040"/>
            <a:ext cx="10698480" cy="4572000"/>
          </a:xfrm>
          <a:prstGeom prst="rect">
            <a:avLst/>
          </a:prstGeom>
          <a:noFill/>
        </p:spPr>
        <p:txBody>
          <a:bodyPr wrap="square" anchor="t" lIns="45720" rIns="45720">
            <a:spAutoFit/>
          </a:bodyPr>
          <a:lstStyle/>
          <a:p>
            <a:pPr algn="l">
              <a:spcAft>
                <a:spcPts val="1600"/>
              </a:spcAft>
            </a:pPr>
            <a:r>
              <a:rPr sz="2100" b="0">
                <a:solidFill>
                  <a:srgbClr val="000000"/>
                </a:solidFill>
                <a:latin typeface="Arial"/>
              </a:rPr>
              <a:t>•  CatBoost (Prokhorenkova et al., 2018): gradient boosted trees with ordered encoding of categorical answers.</a:t>
            </a:r>
          </a:p>
          <a:p>
            <a:pPr algn="l">
              <a:spcAft>
                <a:spcPts val="1600"/>
              </a:spcAft>
            </a:pPr>
            <a:r>
              <a:rPr sz="2100" b="0">
                <a:solidFill>
                  <a:srgbClr val="000000"/>
                </a:solidFill>
                <a:latin typeface="Arial"/>
              </a:rPr>
              <a:t>•  TabPFN (Hollmann et al., 2025): transformer pretrained on synthetic tables; predicts in one forward pass; best on small tables.</a:t>
            </a:r>
          </a:p>
          <a:p>
            <a:pPr algn="l">
              <a:spcAft>
                <a:spcPts val="1600"/>
              </a:spcAft>
            </a:pPr>
            <a:r>
              <a:rPr sz="2100" b="0">
                <a:solidFill>
                  <a:srgbClr val="000000"/>
                </a:solidFill>
                <a:latin typeface="Arial"/>
              </a:rPr>
              <a:t>•  TabFM (Kong et al., 2026): 400-million-parameter foundation model; first among default foundation models on 51 TabArena datasets.</a:t>
            </a:r>
          </a:p>
          <a:p>
            <a:pPr algn="l">
              <a:spcAft>
                <a:spcPts val="1600"/>
              </a:spcAft>
            </a:pPr>
            <a:r>
              <a:rPr sz="2100" b="0">
                <a:solidFill>
                  <a:srgbClr val="000000"/>
                </a:solidFill>
                <a:latin typeface="Arial"/>
              </a:rPr>
              <a:t>•  An independent check of TabFM reported software defects and memory limits on larger tables (Pandey, 2026).</a:t>
            </a:r>
          </a:p>
          <a:p>
            <a:pPr algn="l">
              <a:spcAft>
                <a:spcPts val="1600"/>
              </a:spcAft>
            </a:pPr>
            <a:r>
              <a:rPr sz="2100" b="0">
                <a:solidFill>
                  <a:srgbClr val="000000"/>
                </a:solidFill>
                <a:latin typeface="Arial"/>
              </a:rPr>
              <a:t>•  SHAP (Lundberg &amp; Lee, 2017): explains any model by the contribution of each feature.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Research gap</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8 / 14</a:t>
            </a:r>
          </a:p>
        </p:txBody>
      </p:sp>
      <p:sp>
        <p:nvSpPr>
          <p:cNvPr id="6" name="TextBox 5"/>
          <p:cNvSpPr txBox="1"/>
          <p:nvPr/>
        </p:nvSpPr>
        <p:spPr>
          <a:xfrm>
            <a:off x="731520" y="1554480"/>
            <a:ext cx="10698480" cy="4389120"/>
          </a:xfrm>
          <a:prstGeom prst="rect">
            <a:avLst/>
          </a:prstGeom>
          <a:noFill/>
        </p:spPr>
        <p:txBody>
          <a:bodyPr wrap="square" anchor="t" lIns="45720" rIns="45720">
            <a:spAutoFit/>
          </a:bodyPr>
          <a:lstStyle/>
          <a:p>
            <a:pPr algn="l">
              <a:spcAft>
                <a:spcPts val="2000"/>
              </a:spcAft>
            </a:pPr>
            <a:r>
              <a:rPr sz="2400" b="0">
                <a:solidFill>
                  <a:srgbClr val="000000"/>
                </a:solidFill>
                <a:latin typeface="Arial"/>
              </a:rPr>
              <a:t>•  Hair loss prediction studies used only classical algorithms, and accuracies differ widely.</a:t>
            </a:r>
          </a:p>
          <a:p>
            <a:pPr algn="l">
              <a:spcAft>
                <a:spcPts val="2000"/>
              </a:spcAft>
            </a:pPr>
            <a:r>
              <a:rPr sz="2400" b="0">
                <a:solidFill>
                  <a:srgbClr val="000000"/>
                </a:solidFill>
                <a:latin typeface="Arial"/>
              </a:rPr>
              <a:t>•  CatBoost was compared only once, and it was not tuned.</a:t>
            </a:r>
          </a:p>
          <a:p>
            <a:pPr algn="l">
              <a:spcAft>
                <a:spcPts val="2000"/>
              </a:spcAft>
            </a:pPr>
            <a:r>
              <a:rPr sz="2400" b="0">
                <a:solidFill>
                  <a:srgbClr val="000000"/>
                </a:solidFill>
                <a:latin typeface="Arial"/>
              </a:rPr>
              <a:t>•  TabPFN and TabFM have not been tested on hair loss data.</a:t>
            </a:r>
          </a:p>
          <a:p>
            <a:pPr algn="l">
              <a:spcAft>
                <a:spcPts val="2000"/>
              </a:spcAft>
            </a:pPr>
            <a:r>
              <a:rPr sz="2400" b="0">
                <a:solidFill>
                  <a:srgbClr val="000000"/>
                </a:solidFill>
                <a:latin typeface="Arial"/>
              </a:rPr>
              <a:t>•  TabFM has only one independent check, which reported defects and memory limits.</a:t>
            </a:r>
          </a:p>
          <a:p>
            <a:pPr algn="l">
              <a:spcAft>
                <a:spcPts val="2000"/>
              </a:spcAft>
            </a:pPr>
            <a:r>
              <a:rPr sz="2400" b="0">
                <a:solidFill>
                  <a:srgbClr val="000000"/>
                </a:solidFill>
                <a:latin typeface="Arial"/>
              </a:rPr>
              <a:t>•  No study explains a boosted-tree model and foundation models side by side.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Data</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9 / 14</a:t>
            </a:r>
          </a:p>
        </p:txBody>
      </p:sp>
      <p:sp>
        <p:nvSpPr>
          <p:cNvPr id="6" name="TextBox 5"/>
          <p:cNvSpPr txBox="1"/>
          <p:nvPr/>
        </p:nvSpPr>
        <p:spPr>
          <a:xfrm>
            <a:off x="548640" y="1371600"/>
            <a:ext cx="4572000" cy="4846320"/>
          </a:xfrm>
          <a:prstGeom prst="rect">
            <a:avLst/>
          </a:prstGeom>
          <a:noFill/>
        </p:spPr>
        <p:txBody>
          <a:bodyPr wrap="square" anchor="t" lIns="45720" rIns="45720">
            <a:spAutoFit/>
          </a:bodyPr>
          <a:lstStyle/>
          <a:p>
            <a:pPr algn="l">
              <a:spcAft>
                <a:spcPts val="1200"/>
              </a:spcAft>
            </a:pPr>
            <a:r>
              <a:rPr sz="1700" b="0">
                <a:solidFill>
                  <a:srgbClr val="000000"/>
                </a:solidFill>
                <a:latin typeface="Arial"/>
              </a:rPr>
              <a:t>•  Dataset 1 (Kaggle): 100,000 records, 13 columns of measurements and hair fall (0 to 5).</a:t>
            </a:r>
          </a:p>
          <a:p>
            <a:pPr algn="l">
              <a:spcAft>
                <a:spcPts val="1200"/>
              </a:spcAft>
            </a:pPr>
            <a:r>
              <a:rPr sz="1700" b="0">
                <a:solidFill>
                  <a:srgbClr val="000000"/>
                </a:solidFill>
                <a:latin typeface="Arial"/>
              </a:rPr>
              <a:t>•  Dataset 2 (Mendeley): survey of 716 people, 14 columns.</a:t>
            </a:r>
          </a:p>
          <a:p>
            <a:pPr algn="l">
              <a:spcAft>
                <a:spcPts val="1200"/>
              </a:spcAft>
            </a:pPr>
            <a:r>
              <a:rPr sz="1700" b="0">
                <a:solidFill>
                  <a:srgbClr val="000000"/>
                </a:solidFill>
                <a:latin typeface="Arial"/>
              </a:rPr>
              <a:t>•  Super dataset: 200,000 records with all fields of both and extra fields.</a:t>
            </a:r>
          </a:p>
          <a:p>
            <a:pPr algn="l">
              <a:spcAft>
                <a:spcPts val="1200"/>
              </a:spcAft>
            </a:pPr>
            <a:r>
              <a:rPr sz="1700" b="0">
                <a:solidFill>
                  <a:srgbClr val="000000"/>
                </a:solidFill>
                <a:latin typeface="Arial"/>
              </a:rPr>
              <a:t>•  Final dataset: 21,606 records, 20 features, target Low 45%, Moderate 35%, High 20%.</a:t>
            </a:r>
          </a:p>
        </p:txBody>
      </p:sp>
      <p:pic>
        <p:nvPicPr>
          <p:cNvPr id="7" name="Picture 6" descr="fig_3_2_dataset_link.png"/>
          <p:cNvPicPr>
            <a:picLocks noChangeAspect="1"/>
          </p:cNvPicPr>
          <p:nvPr/>
        </p:nvPicPr>
        <p:blipFill>
          <a:blip r:embed="rId3"/>
          <a:stretch>
            <a:fillRect/>
          </a:stretch>
        </p:blipFill>
        <p:spPr>
          <a:xfrm>
            <a:off x="5212080" y="2194560"/>
            <a:ext cx="6675120" cy="28535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Research framework</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10 / 14</a:t>
            </a:r>
          </a:p>
        </p:txBody>
      </p:sp>
      <p:pic>
        <p:nvPicPr>
          <p:cNvPr id="6" name="Picture 5" descr="fig_3_1_framework.png"/>
          <p:cNvPicPr>
            <a:picLocks noChangeAspect="1"/>
          </p:cNvPicPr>
          <p:nvPr/>
        </p:nvPicPr>
        <p:blipFill>
          <a:blip r:embed="rId3"/>
          <a:stretch>
            <a:fillRect/>
          </a:stretch>
        </p:blipFill>
        <p:spPr>
          <a:xfrm>
            <a:off x="1737360" y="1371600"/>
            <a:ext cx="8686800" cy="3750768"/>
          </a:xfrm>
          <a:prstGeom prst="rect">
            <a:avLst/>
          </a:prstGeom>
        </p:spPr>
      </p:pic>
      <p:sp>
        <p:nvSpPr>
          <p:cNvPr id="7" name="TextBox 6"/>
          <p:cNvSpPr txBox="1"/>
          <p:nvPr/>
        </p:nvSpPr>
        <p:spPr>
          <a:xfrm>
            <a:off x="822960" y="5760720"/>
            <a:ext cx="10515600" cy="548640"/>
          </a:xfrm>
          <a:prstGeom prst="rect">
            <a:avLst/>
          </a:prstGeom>
          <a:noFill/>
        </p:spPr>
        <p:txBody>
          <a:bodyPr wrap="square" anchor="t" lIns="45720" rIns="45720">
            <a:spAutoFit/>
          </a:bodyPr>
          <a:lstStyle/>
          <a:p>
            <a:pPr algn="ctr">
              <a:spcAft>
                <a:spcPts val="800"/>
              </a:spcAft>
            </a:pPr>
            <a:r>
              <a:rPr sz="1600" b="0">
                <a:solidFill>
                  <a:srgbClr val="000000"/>
                </a:solidFill>
                <a:latin typeface="Arial"/>
              </a:rPr>
              <a:t>Same split and seed for all models. Training sizes: 500, 2,000, and all 17,284 records.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Models</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11 / 14</a:t>
            </a:r>
          </a:p>
        </p:txBody>
      </p:sp>
      <p:graphicFrame>
        <p:nvGraphicFramePr>
          <p:cNvPr id="6" name="Table 5"/>
          <p:cNvGraphicFramePr>
            <a:graphicFrameLocks noGrp="1"/>
          </p:cNvGraphicFramePr>
          <p:nvPr/>
        </p:nvGraphicFramePr>
        <p:xfrm>
          <a:off x="594360" y="1463040"/>
          <a:ext cx="10972800" cy="3657600"/>
        </p:xfrm>
        <a:graphic>
          <a:graphicData uri="http://schemas.openxmlformats.org/drawingml/2006/table">
            <a:tbl>
              <a:tblPr firstRow="0" bandRow="0">
                <a:tableStyleId>{5940675A-B579-460E-94D1-54222C63F5DA}</a:tableStyleId>
              </a:tblPr>
              <a:tblGrid>
                <a:gridCol w="2011680"/>
                <a:gridCol w="5486400"/>
                <a:gridCol w="3474720"/>
              </a:tblGrid>
              <a:tr h="914400">
                <a:tc>
                  <a:txBody>
                    <a:bodyPr wrap="square"/>
                    <a:lstStyle/>
                    <a:p>
                      <a:r>
                        <a:rPr sz="1600" b="1">
                          <a:solidFill>
                            <a:srgbClr val="000000"/>
                          </a:solidFill>
                          <a:latin typeface="Arial"/>
                        </a:rPr>
                        <a:t>Model</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1">
                          <a:solidFill>
                            <a:srgbClr val="000000"/>
                          </a:solidFill>
                          <a:latin typeface="Arial"/>
                        </a:rPr>
                        <a:t>How it works</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1">
                          <a:solidFill>
                            <a:srgbClr val="000000"/>
                          </a:solidFill>
                          <a:latin typeface="Arial"/>
                        </a:rPr>
                        <a:t>Training and tuning</a:t>
                      </a:r>
                    </a:p>
                  </a:txBody>
                  <a:tcPr marL="73152" marR="73152" marT="36576" marB="36576">
                    <a:solidFill>
                      <a:srgbClr val="EEEEEE"/>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914400">
                <a:tc>
                  <a:txBody>
                    <a:bodyPr wrap="square"/>
                    <a:lstStyle/>
                    <a:p>
                      <a:r>
                        <a:rPr sz="1600" b="0">
                          <a:solidFill>
                            <a:srgbClr val="000000"/>
                          </a:solidFill>
                          <a:latin typeface="Arial"/>
                        </a:rPr>
                        <a:t>CatBoost</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Many small symmetric decision trees, each correcting the previous ones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Trained and tuned: grid search with 5-fold cross-validation</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914400">
                <a:tc>
                  <a:txBody>
                    <a:bodyPr wrap="square"/>
                    <a:lstStyle/>
                    <a:p>
                      <a:r>
                        <a:rPr sz="1600" b="0">
                          <a:solidFill>
                            <a:srgbClr val="000000"/>
                          </a:solidFill>
                          <a:latin typeface="Arial"/>
                        </a:rPr>
                        <a:t>TabPFN</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Transformer reads training rows and the patient, predicts in one pass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None; weights are fixed</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r h="914400">
                <a:tc>
                  <a:txBody>
                    <a:bodyPr wrap="square"/>
                    <a:lstStyle/>
                    <a:p>
                      <a:r>
                        <a:rPr sz="1600" b="0">
                          <a:solidFill>
                            <a:srgbClr val="000000"/>
                          </a:solidFill>
                          <a:latin typeface="Arial"/>
                        </a:rPr>
                        <a:t>TabFM</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Transformer with column and row attention, about 400 million parameters</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c>
                  <a:txBody>
                    <a:bodyPr wrap="square"/>
                    <a:lstStyle/>
                    <a:p>
                      <a:r>
                        <a:rPr sz="1600" b="0">
                          <a:solidFill>
                            <a:srgbClr val="000000"/>
                          </a:solidFill>
                          <a:latin typeface="Arial"/>
                        </a:rPr>
                        <a:t>None; weights are fixed</a:t>
                      </a:r>
                    </a:p>
                  </a:txBody>
                  <a:tcPr marL="73152" marR="73152" marT="36576" marB="36576">
                    <a:solidFill>
                      <a:srgbClr val="FFFFFF"/>
                    </a:solidFill>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tcPr>
                </a:tc>
              </a:tr>
            </a:tbl>
          </a:graphicData>
        </a:graphic>
      </p:graphicFrame>
      <p:sp>
        <p:nvSpPr>
          <p:cNvPr id="7" name="TextBox 6"/>
          <p:cNvSpPr txBox="1"/>
          <p:nvPr/>
        </p:nvSpPr>
        <p:spPr>
          <a:xfrm>
            <a:off x="594360" y="5394960"/>
            <a:ext cx="10972800" cy="731520"/>
          </a:xfrm>
          <a:prstGeom prst="rect">
            <a:avLst/>
          </a:prstGeom>
          <a:noFill/>
        </p:spPr>
        <p:txBody>
          <a:bodyPr wrap="square" anchor="t" lIns="45720" rIns="45720">
            <a:spAutoFit/>
          </a:bodyPr>
          <a:lstStyle/>
          <a:p>
            <a:pPr algn="l">
              <a:spcAft>
                <a:spcPts val="800"/>
              </a:spcAft>
            </a:pPr>
            <a:r>
              <a:rPr sz="1600" b="0">
                <a:solidFill>
                  <a:srgbClr val="000000"/>
                </a:solidFill>
                <a:latin typeface="Arial"/>
              </a:rPr>
              <a:t>TabPFN and TabFM will run on a Kaggle GPU; CatBoost and the statistics on a Mac.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Explainability and evaluation</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12 / 14</a:t>
            </a:r>
          </a:p>
        </p:txBody>
      </p:sp>
      <p:sp>
        <p:nvSpPr>
          <p:cNvPr id="6" name="TextBox 5"/>
          <p:cNvSpPr txBox="1"/>
          <p:nvPr/>
        </p:nvSpPr>
        <p:spPr>
          <a:xfrm>
            <a:off x="548640" y="1463040"/>
            <a:ext cx="5394960" cy="4572000"/>
          </a:xfrm>
          <a:prstGeom prst="rect">
            <a:avLst/>
          </a:prstGeom>
          <a:noFill/>
        </p:spPr>
        <p:txBody>
          <a:bodyPr wrap="square" anchor="t" lIns="45720" rIns="45720">
            <a:spAutoFit/>
          </a:bodyPr>
          <a:lstStyle/>
          <a:p>
            <a:pPr algn="l">
              <a:spcAft>
                <a:spcPts val="1200"/>
              </a:spcAft>
            </a:pPr>
            <a:r>
              <a:rPr sz="2000" b="0">
                <a:solidFill>
                  <a:srgbClr val="000000"/>
                </a:solidFill>
                <a:latin typeface="Arial"/>
              </a:rPr>
              <a:t>SHAP for all three models:</a:t>
            </a:r>
          </a:p>
          <a:p>
            <a:pPr algn="l">
              <a:spcAft>
                <a:spcPts val="1200"/>
              </a:spcAft>
            </a:pPr>
            <a:r>
              <a:rPr sz="2000" b="0">
                <a:solidFill>
                  <a:srgbClr val="000000"/>
                </a:solidFill>
                <a:latin typeface="Arial"/>
              </a:rPr>
              <a:t>TreeExplainer for CatBoost</a:t>
            </a:r>
          </a:p>
          <a:p>
            <a:pPr algn="l">
              <a:spcAft>
                <a:spcPts val="1200"/>
              </a:spcAft>
            </a:pPr>
            <a:r>
              <a:rPr sz="2000" b="0">
                <a:solidFill>
                  <a:srgbClr val="000000"/>
                </a:solidFill>
                <a:latin typeface="Arial"/>
              </a:rPr>
              <a:t>KernelExplainer for TabPFN and TabFM</a:t>
            </a:r>
          </a:p>
          <a:p>
            <a:pPr algn="l">
              <a:spcAft>
                <a:spcPts val="1200"/>
              </a:spcAft>
            </a:pPr>
            <a:r>
              <a:rPr sz="2000" b="0">
                <a:solidFill>
                  <a:srgbClr val="000000"/>
                </a:solidFill>
                <a:latin typeface="Arial"/>
              </a:rPr>
              <a:t>Global ranking and per-patient explanations</a:t>
            </a:r>
          </a:p>
        </p:txBody>
      </p:sp>
      <p:sp>
        <p:nvSpPr>
          <p:cNvPr id="7" name="TextBox 6"/>
          <p:cNvSpPr txBox="1"/>
          <p:nvPr/>
        </p:nvSpPr>
        <p:spPr>
          <a:xfrm>
            <a:off x="6309360" y="1463040"/>
            <a:ext cx="5394960" cy="4572000"/>
          </a:xfrm>
          <a:prstGeom prst="rect">
            <a:avLst/>
          </a:prstGeom>
          <a:noFill/>
        </p:spPr>
        <p:txBody>
          <a:bodyPr wrap="square" anchor="t" lIns="45720" rIns="45720">
            <a:spAutoFit/>
          </a:bodyPr>
          <a:lstStyle/>
          <a:p>
            <a:pPr algn="l">
              <a:spcAft>
                <a:spcPts val="1200"/>
              </a:spcAft>
            </a:pPr>
            <a:r>
              <a:rPr sz="2000" b="0">
                <a:solidFill>
                  <a:srgbClr val="000000"/>
                </a:solidFill>
                <a:latin typeface="Arial"/>
              </a:rPr>
              <a:t>Evaluation on the same test set:</a:t>
            </a:r>
          </a:p>
          <a:p>
            <a:pPr algn="l">
              <a:spcAft>
                <a:spcPts val="1200"/>
              </a:spcAft>
            </a:pPr>
            <a:r>
              <a:rPr sz="2000" b="0">
                <a:solidFill>
                  <a:srgbClr val="000000"/>
                </a:solidFill>
                <a:latin typeface="Arial"/>
              </a:rPr>
              <a:t>Accuracy, macro-precision, macro-recall, macro-F1</a:t>
            </a:r>
          </a:p>
          <a:p>
            <a:pPr algn="l">
              <a:spcAft>
                <a:spcPts val="1200"/>
              </a:spcAft>
            </a:pPr>
            <a:r>
              <a:rPr sz="2000" b="0">
                <a:solidFill>
                  <a:srgbClr val="000000"/>
                </a:solidFill>
                <a:latin typeface="Arial"/>
              </a:rPr>
              <a:t>ROC-AUC (one-versus-rest)</a:t>
            </a:r>
          </a:p>
          <a:p>
            <a:pPr algn="l">
              <a:spcAft>
                <a:spcPts val="1200"/>
              </a:spcAft>
            </a:pPr>
            <a:r>
              <a:rPr sz="2000" b="0">
                <a:solidFill>
                  <a:srgbClr val="000000"/>
                </a:solidFill>
                <a:latin typeface="Arial"/>
              </a:rPr>
              <a:t>Confusion matrix</a:t>
            </a:r>
          </a:p>
          <a:p>
            <a:pPr algn="l">
              <a:spcAft>
                <a:spcPts val="1200"/>
              </a:spcAft>
            </a:pPr>
            <a:r>
              <a:rPr sz="2000" b="0">
                <a:solidFill>
                  <a:srgbClr val="000000"/>
                </a:solidFill>
                <a:latin typeface="Arial"/>
              </a:rPr>
              <a:t>McNemar's test and Wilson 95% intervals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Expected outcomes</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13 / 14</a:t>
            </a:r>
          </a:p>
        </p:txBody>
      </p:sp>
      <p:sp>
        <p:nvSpPr>
          <p:cNvPr id="6" name="TextBox 5"/>
          <p:cNvSpPr txBox="1"/>
          <p:nvPr/>
        </p:nvSpPr>
        <p:spPr>
          <a:xfrm>
            <a:off x="731520" y="1554480"/>
            <a:ext cx="10698480" cy="4389120"/>
          </a:xfrm>
          <a:prstGeom prst="rect">
            <a:avLst/>
          </a:prstGeom>
          <a:noFill/>
        </p:spPr>
        <p:txBody>
          <a:bodyPr wrap="square" anchor="t" lIns="45720" rIns="45720">
            <a:spAutoFit/>
          </a:bodyPr>
          <a:lstStyle/>
          <a:p>
            <a:pPr algn="l">
              <a:spcAft>
                <a:spcPts val="1600"/>
              </a:spcAft>
            </a:pPr>
            <a:r>
              <a:rPr sz="2200" b="0">
                <a:solidFill>
                  <a:srgbClr val="000000"/>
                </a:solidFill>
                <a:latin typeface="Arial"/>
              </a:rPr>
              <a:t>•  A fair comparison of three model families on the same hair fall data.</a:t>
            </a:r>
          </a:p>
          <a:p>
            <a:pPr algn="l">
              <a:spcAft>
                <a:spcPts val="1600"/>
              </a:spcAft>
            </a:pPr>
            <a:r>
              <a:rPr sz="2200" b="0">
                <a:solidFill>
                  <a:srgbClr val="000000"/>
                </a:solidFill>
                <a:latin typeface="Arial"/>
              </a:rPr>
              <a:t>•  A properly tuned CatBoost as a strong baseline.</a:t>
            </a:r>
          </a:p>
          <a:p>
            <a:pPr algn="l">
              <a:spcAft>
                <a:spcPts val="1600"/>
              </a:spcAft>
            </a:pPr>
            <a:r>
              <a:rPr sz="2200" b="0">
                <a:solidFill>
                  <a:srgbClr val="000000"/>
                </a:solidFill>
                <a:latin typeface="Arial"/>
              </a:rPr>
              <a:t>•  TabPFN and TabFM competitive without tuning, especially with small training sets (to be tested).</a:t>
            </a:r>
          </a:p>
          <a:p>
            <a:pPr algn="l">
              <a:spcAft>
                <a:spcPts val="1600"/>
              </a:spcAft>
            </a:pPr>
            <a:r>
              <a:rPr sz="2200" b="0">
                <a:solidFill>
                  <a:srgbClr val="000000"/>
                </a:solidFill>
                <a:latin typeface="Arial"/>
              </a:rPr>
              <a:t>•  The practical limits of TabFM recorded on a real health dataset.</a:t>
            </a:r>
          </a:p>
          <a:p>
            <a:pPr algn="l">
              <a:spcAft>
                <a:spcPts val="1600"/>
              </a:spcAft>
            </a:pPr>
            <a:r>
              <a:rPr sz="2200" b="0">
                <a:solidFill>
                  <a:srgbClr val="000000"/>
                </a:solidFill>
                <a:latin typeface="Arial"/>
              </a:rPr>
              <a:t>•  SHAP explanations that agree with known causes: iron, stress, family history.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800"/>
              </a:spcAft>
            </a:pPr>
            <a:r>
              <a:rPr sz="3200" b="1">
                <a:solidFill>
                  <a:srgbClr val="000000"/>
                </a:solidFill>
                <a:latin typeface="Arial"/>
              </a:rPr>
              <a:t>Schedule: 4 months</a:t>
            </a:r>
          </a:p>
        </p:txBody>
      </p:sp>
      <p:cxnSp>
        <p:nvCxnSpPr>
          <p:cNvPr id="3" name="Connector 2"/>
          <p:cNvCxnSpPr/>
          <p:nvPr/>
        </p:nvCxnSpPr>
        <p:spPr>
          <a:xfrm>
            <a:off x="594360" y="1143000"/>
            <a:ext cx="109728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8229600" cy="320040"/>
          </a:xfrm>
          <a:prstGeom prst="rect">
            <a:avLst/>
          </a:prstGeom>
          <a:noFill/>
        </p:spPr>
        <p:txBody>
          <a:bodyPr wrap="square" anchor="t" lIns="45720" rIns="45720">
            <a:spAutoFit/>
          </a:bodyPr>
          <a:lstStyle/>
          <a:p>
            <a:pPr algn="l">
              <a:spcAft>
                <a:spcPts val="800"/>
              </a:spcAft>
            </a:pPr>
            <a:r>
              <a:rPr sz="1100" b="0">
                <a:solidFill>
                  <a:srgbClr val="595959"/>
                </a:solidFill>
                <a:latin typeface="Arial"/>
              </a:rPr>
              <a:t>Comparing CatBoost, TabPFN, and TabFM for Explainable Hair Fall Risk Prediction</a:t>
            </a:r>
          </a:p>
        </p:txBody>
      </p:sp>
      <p:sp>
        <p:nvSpPr>
          <p:cNvPr id="5" name="TextBox 4"/>
          <p:cNvSpPr txBox="1"/>
          <p:nvPr/>
        </p:nvSpPr>
        <p:spPr>
          <a:xfrm>
            <a:off x="10698480" y="6400800"/>
            <a:ext cx="914400" cy="320040"/>
          </a:xfrm>
          <a:prstGeom prst="rect">
            <a:avLst/>
          </a:prstGeom>
          <a:noFill/>
        </p:spPr>
        <p:txBody>
          <a:bodyPr wrap="square" anchor="t" lIns="45720" rIns="45720">
            <a:spAutoFit/>
          </a:bodyPr>
          <a:lstStyle/>
          <a:p>
            <a:pPr algn="r">
              <a:spcAft>
                <a:spcPts val="800"/>
              </a:spcAft>
            </a:pPr>
            <a:r>
              <a:rPr sz="1100" b="0">
                <a:solidFill>
                  <a:srgbClr val="595959"/>
                </a:solidFill>
                <a:latin typeface="Arial"/>
              </a:rPr>
              <a:t>14 / 14</a:t>
            </a:r>
          </a:p>
        </p:txBody>
      </p:sp>
      <p:pic>
        <p:nvPicPr>
          <p:cNvPr id="6" name="Picture 5" descr="fig_4_1_gantt.png"/>
          <p:cNvPicPr>
            <a:picLocks noChangeAspect="1"/>
          </p:cNvPicPr>
          <p:nvPr/>
        </p:nvPicPr>
        <p:blipFill>
          <a:blip r:embed="rId3"/>
          <a:stretch>
            <a:fillRect/>
          </a:stretch>
        </p:blipFill>
        <p:spPr>
          <a:xfrm>
            <a:off x="2377440" y="1280160"/>
            <a:ext cx="7200213" cy="4937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