
<file path=[Content_Types].xml><?xml version="1.0" encoding="utf-8"?>
<Types xmlns="http://schemas.openxmlformats.org/package/2006/content-types">
  <Default Extension="xml" ContentType="application/xml"/>
  <Default Extension="rels" ContentType="application/vnd.openxmlformats-package.relationships+xml"/>
  <Default Extension="jpeg" ContentType="image/jpeg"/>
  <Default Extension="jpg" ContentType="image/jpg"/>
  <Default Extension="svg" ContentType="image/svg+xml"/>
  <Default Extension="png" ContentType="image/png"/>
  <Default Extension="gif" ContentType="image/gif"/>
  <Default Extension="m4v" ContentType="video/mp4"/>
  <Default Extension="mp4" ContentType="video/mp4"/>
  <Default Extension="vml" ContentType="application/vnd.openxmlformats-officedocument.vmlDrawing"/>
  <Default Extension="xlsx" ContentType="application/vnd.openxmlformats-officedocument.spreadsheetml.sheet"/>
  <Override PartName="/ppt/presentation.xml" ContentType="application/vnd.openxmlformats-officedocument.presentationml.presentation.main+xml"/>
  <Override PartName="/ppt/notesMasters/notesMaster1.xml" ContentType="application/vnd.openxmlformats-officedocument.presentationml.notesMaster+xml"/>
  <Override PartName="/ppt/slideMasters/slideMaster1.xml" ContentType="application/vnd.openxmlformats-officedocument.presentationml.slideMaster+xml"/>
  <Override PartName="/ppt/slides/slide1.xml" ContentType="application/vnd.openxmlformats-officedocument.presentationml.slide+xml"/>
  <Override PartName="/ppt/slideMasters/slideMaster2.xml" ContentType="application/vnd.openxmlformats-officedocument.presentationml.slideMaster+xml"/>
  <Override PartName="/ppt/slides/slide2.xml" ContentType="application/vnd.openxmlformats-officedocument.presentationml.slide+xml"/>
  <Override PartName="/ppt/slideMasters/slideMaster3.xml" ContentType="application/vnd.openxmlformats-officedocument.presentationml.slideMaster+xml"/>
  <Override PartName="/ppt/slides/slide3.xml" ContentType="application/vnd.openxmlformats-officedocument.presentationml.slide+xml"/>
  <Override PartName="/ppt/slideMasters/slideMaster4.xml" ContentType="application/vnd.openxmlformats-officedocument.presentationml.slideMaster+xml"/>
  <Override PartName="/ppt/slides/slide4.xml" ContentType="application/vnd.openxmlformats-officedocument.presentationml.slide+xml"/>
  <Override PartName="/ppt/slideMasters/slideMaster5.xml" ContentType="application/vnd.openxmlformats-officedocument.presentationml.slideMaster+xml"/>
  <Override PartName="/ppt/slides/slide5.xml" ContentType="application/vnd.openxmlformats-officedocument.presentationml.slide+xml"/>
  <Override PartName="/ppt/slideMasters/slideMaster6.xml" ContentType="application/vnd.openxmlformats-officedocument.presentationml.slideMaster+xml"/>
  <Override PartName="/ppt/slides/slide6.xml" ContentType="application/vnd.openxmlformats-officedocument.presentationml.slide+xml"/>
  <Override PartName="/ppt/slideMasters/slideMaster7.xml" ContentType="application/vnd.openxmlformats-officedocument.presentationml.slideMaster+xml"/>
  <Override PartName="/ppt/slides/slide7.xml" ContentType="application/vnd.openxmlformats-officedocument.presentationml.slide+xml"/>
  <Override PartName="/ppt/slideMasters/slideMaster8.xml" ContentType="application/vnd.openxmlformats-officedocument.presentationml.slideMaster+xml"/>
  <Override PartName="/ppt/slides/slide8.xml" ContentType="application/vnd.openxmlformats-officedocument.presentationml.slide+xml"/>
  <Override PartName="/ppt/charts/chart1.xml" ContentType="application/vnd.openxmlformats-officedocument.drawingml.chart+xml"/>
  <Override PartName="/ppt/slideMasters/slideMaster9.xml" ContentType="application/vnd.openxmlformats-officedocument.presentationml.slideMaster+xml"/>
  <Override PartName="/ppt/slides/slide9.xml" ContentType="application/vnd.openxmlformats-officedocument.presentationml.slide+xml"/>
  <Override PartName="/ppt/slideMasters/slideMaster10.xml" ContentType="application/vnd.openxmlformats-officedocument.presentationml.slideMaster+xml"/>
  <Override PartName="/ppt/slides/slide10.xml" ContentType="application/vnd.openxmlformats-officedocument.presentationml.slide+xml"/>
  <Override PartName="/ppt/slideMasters/slideMaster11.xml" ContentType="application/vnd.openxmlformats-officedocument.presentationml.slideMaster+xml"/>
  <Override PartName="/ppt/slides/slide11.xml" ContentType="application/vnd.openxmlformats-officedocument.presentationml.slide+xml"/>
  <Override PartName="/ppt/slideMasters/slideMaster12.xml" ContentType="application/vnd.openxmlformats-officedocument.presentationml.slideMaster+xml"/>
  <Override PartName="/ppt/slides/slide12.xml" ContentType="application/vnd.openxmlformats-officedocument.presentationml.slide+xml"/>
  <Override PartName="/ppt/charts/chart2.xml" ContentType="application/vnd.openxmlformats-officedocument.drawingml.chart+xml"/>
  <Override PartName="/ppt/slideMasters/slideMaster13.xml" ContentType="application/vnd.openxmlformats-officedocument.presentationml.slideMaster+xml"/>
  <Override PartName="/ppt/slides/slide13.xml" ContentType="application/vnd.openxmlformats-officedocument.presentationml.slide+xml"/>
  <Override PartName="/ppt/slideMasters/slideMaster14.xml" ContentType="application/vnd.openxmlformats-officedocument.presentationml.slideMaster+xml"/>
  <Override PartName="/ppt/slides/slide14.xml" ContentType="application/vnd.openxmlformats-officedocument.presentationml.slide+xml"/>
  <Override PartName="/ppt/slideMasters/slideMaster15.xml" ContentType="application/vnd.openxmlformats-officedocument.presentationml.slideMaster+xml"/>
  <Override PartName="/ppt/slides/slide15.xml" ContentType="application/vnd.openxmlformats-officedocument.presentationml.slide+xml"/>
  <Override PartName="/ppt/slideMasters/slideMaster16.xml" ContentType="application/vnd.openxmlformats-officedocument.presentationml.slideMaster+xml"/>
  <Override PartName="/ppt/slides/slide16.xml" ContentType="application/vnd.openxmlformats-officedocument.presentationml.slide+xml"/>
  <Override PartName="/ppt/slideMasters/slideMaster17.xml" ContentType="application/vnd.openxmlformats-officedocument.presentationml.slideMaster+xml"/>
  <Override PartName="/ppt/slides/slide17.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
		<Relationship Id="rId1" Type="http://schemas.openxmlformats.org/officeDocument/2006/relationships/extended-properties" Target="docProps/app.xml"/>
		<Relationship Id="rId2" Type="http://schemas.openxmlformats.org/package/2006/relationships/metadata/core-properties" Target="docProps/core.xml"/>
		<Relationship Id="rId3" Type="http://schemas.openxmlformats.org/officeDocument/2006/relationships/officeDocument" Target="ppt/presentation.xml"/>
		</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2"/>
    <p:sldId id="257" r:id="rId3"/>
    <p:sldId id="258" r:id="rId4"/>
    <p:sldId id="259" r:id="rId5"/>
    <p:sldId id="260" r:id="rId6"/>
    <p:sldId id="261" r:id="rId7"/>
    <p:sldId id="262" r:id="rId8"/>
    <p:sldId id="263" r:id="rId9"/>
    <p:sldId id="264" r:id="rId10"/>
    <p:sldId id="265" r:id="rId11"/>
    <p:sldId id="266" r:id="rId12"/>
    <p:sldId id="267" r:id="rId13"/>
    <p:sldId id="268" r:id="rId14"/>
    <p:sldId id="269" r:id="rId15"/>
    <p:sldId id="270" r:id="rId16"/>
    <p:sldId id="271" r:id="rId17"/>
    <p:sldId id="272" r:id="rId18"/>
  </p:sldIdLst>
  <p:notesMasterIdLst>
    <p:notesMasterId r:id="rId19"/>
  </p:notesMasterIdLst>
  <p:sldSz cx="12192000" cy="6858000"/>
  <p:notesSz cx="6858000" cy="12192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varScale="1">
        <p:scale>
          <a:sx n="136" d="100"/>
          <a:sy n="136" d="100"/>
        </p:scale>
        <p:origin x="216" y="31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slide" Target="slides/slide1.xml"/><Relationship Id="rId3" Type="http://schemas.openxmlformats.org/officeDocument/2006/relationships/slide" Target="slides/slide2.xml"/><Relationship Id="rId4" Type="http://schemas.openxmlformats.org/officeDocument/2006/relationships/slide" Target="slides/slide3.xml"/><Relationship Id="rId5" Type="http://schemas.openxmlformats.org/officeDocument/2006/relationships/slide" Target="slides/slide4.xml"/><Relationship Id="rId6" Type="http://schemas.openxmlformats.org/officeDocument/2006/relationships/slide" Target="slides/slide5.xml"/><Relationship Id="rId7" Type="http://schemas.openxmlformats.org/officeDocument/2006/relationships/slide" Target="slides/slide6.xml"/><Relationship Id="rId8" Type="http://schemas.openxmlformats.org/officeDocument/2006/relationships/slide" Target="slides/slide7.xml"/><Relationship Id="rId9" Type="http://schemas.openxmlformats.org/officeDocument/2006/relationships/slide" Target="slides/slide8.xml"/><Relationship Id="rId10" Type="http://schemas.openxmlformats.org/officeDocument/2006/relationships/slide" Target="slides/slide9.xml"/><Relationship Id="rId11" Type="http://schemas.openxmlformats.org/officeDocument/2006/relationships/slide" Target="slides/slide10.xml"/><Relationship Id="rId12" Type="http://schemas.openxmlformats.org/officeDocument/2006/relationships/slide" Target="slides/slide11.xml"/><Relationship Id="rId13" Type="http://schemas.openxmlformats.org/officeDocument/2006/relationships/slide" Target="slides/slide12.xml"/><Relationship Id="rId14" Type="http://schemas.openxmlformats.org/officeDocument/2006/relationships/slide" Target="slides/slide13.xml"/><Relationship Id="rId15" Type="http://schemas.openxmlformats.org/officeDocument/2006/relationships/slide" Target="slides/slide14.xml"/><Relationship Id="rId16" Type="http://schemas.openxmlformats.org/officeDocument/2006/relationships/slide" Target="slides/slide15.xml"/><Relationship Id="rId17" Type="http://schemas.openxmlformats.org/officeDocument/2006/relationships/slide" Target="slides/slide16.xml"/><Relationship Id="rId18" Type="http://schemas.openxmlformats.org/officeDocument/2006/relationships/slide" Target="slides/slide17.xml"/><Relationship Id="rId19" Type="http://schemas.openxmlformats.org/officeDocument/2006/relationships/notesMaster" Target="notesMasters/notesMaster1.xml"/><Relationship Id="rId20" Type="http://schemas.openxmlformats.org/officeDocument/2006/relationships/presProps" Target="presProps.xml"/><Relationship Id="rId21" Type="http://schemas.openxmlformats.org/officeDocument/2006/relationships/viewProps" Target="viewProps.xml"/><Relationship Id="rId22" Type="http://schemas.openxmlformats.org/officeDocument/2006/relationships/theme" Target="theme/theme1.xml"/><Relationship Id="rId23" Type="http://schemas.openxmlformats.org/officeDocument/2006/relationships/tableStyles" Target="tableStyles.xml"/></Relationships>
</file>

<file path=ppt/charts/_rels/chart1.xml.rels><?xml version="1.0" encoding="UTF-8" standalone="yes"?><Relationships xmlns="http://schemas.openxmlformats.org/package/2006/relationships"><Relationship Id="rId1" Type="http://schemas.openxmlformats.org/officeDocument/2006/relationships/package" Target="../embeddings/Microsoft_Excel_Worksheet1.xlsx"/></Relationships>
</file>

<file path=ppt/charts/_rels/chart2.xml.rels><?xml version="1.0" encoding="UTF-8" standalone="yes"?><Relationships xmlns="http://schemas.openxmlformats.org/package/2006/relationships"><Relationship Id="rId1" Type="http://schemas.openxmlformats.org/officeDocument/2006/relationships/package" Target="../embeddings/Microsoft_Excel_Worksheet2.xlsx"/></Relationships>
</file>

<file path=ppt/charts/chart1.xml><?xml version="1.0" encoding="utf-8"?>
<c:chartSpace xmlns:c="http://schemas.openxmlformats.org/drawingml/2006/chart" xmlns:a="http://schemas.openxmlformats.org/drawingml/2006/main" xmlns:r="http://schemas.openxmlformats.org/officeDocument/2006/relationships">
  <c:date1904 val="0"/>
  <c:roundedCorners val="1"/>
  <c:chart>
    <c:title>
      <c:tx>
        <c:rich>
          <a:bodyPr/>
          <a:lstStyle/>
          <a:p>
            <a:pPr>
              <a:defRPr sz="1400" b="0" i="0" u="none" strike="noStrike">
                <a:solidFill>
                  <a:srgbClr val="1B1F2A"/>
                </a:solidFill>
                <a:latin typeface="Calibri"/>
              </a:defRPr>
            </a:pPr>
            <a:r>
              <a:rPr sz="1400" b="0" i="0" u="none" strike="noStrike">
                <a:solidFill>
                  <a:srgbClr val="1B1F2A"/>
                </a:solidFill>
                <a:latin typeface="Calibri"/>
              </a:rPr>
              <a:t>Records per risk tier</a:t>
            </a:r>
          </a:p>
        </c:rich>
      </c:tx>
      <c:layout/>
      <c:overlay val="0"/>
    </c:title>
    <c:autoTitleDeleted val="0"/>
    <c:plotArea>
      <c:layout/>
      <c:barChart>
        <c:barDir val="col"/>
        <c:grouping val="clustered"/>
        <c:varyColors val="0"/>
        <c:ser>
          <c:idx val="0"/>
          <c:order val="0"/>
          <c:tx>
            <c:strRef>
              <c:f>Sheet1!$B$1</c:f>
              <c:strCache>
                <c:ptCount val="1"/>
                <c:pt idx="0">
                  <c:v>Records</c:v>
                </c:pt>
              </c:strCache>
            </c:strRef>
          </c:tx>
          <c:spPr>
            <a:solidFill>
              <a:srgbClr val="2E7D32"/>
            </a:solidFill>
            <a:effectLst/>
          </c:spPr>
          <c:invertIfNegative val="0"/>
          <c:dLbls>
            <c:numFmt formatCode="#,##0" sourceLinked="0"/>
            <c:txPr>
              <a:bodyPr/>
              <a:lstStyle/>
              <a:p>
                <a:pPr>
                  <a:defRPr b="0" i="0" strike="noStrike" sz="1200" u="none">
                    <a:solidFill>
                      <a:srgbClr val="1B1F2A"/>
                    </a:solidFill>
                    <a:latin typeface="Arial"/>
                  </a:defRPr>
                </a:pPr>
              </a:p>
            </c:txPr>
            <c:showLegendKey val="0"/>
            <c:showVal val="1"/>
            <c:showCatName val="0"/>
            <c:showSerName val="0"/>
            <c:showPercent val="0"/>
            <c:showBubbleSize val="0"/>
            <c:showLeaderLines val="0"/>
          </c:dLbls>
          <c:dPt>
            <c:idx val="0"/>
            <c:invertIfNegative val="0"/>
            <c:bubble3D val="0"/>
            <c:spPr>
              <a:solidFill>
                <a:srgbClr val="2E7D32"/>
              </a:solidFill>
              <a:effectLst/>
            </c:spPr>
          </c:dPt>
          <c:dPt>
            <c:idx val="1"/>
            <c:invertIfNegative val="0"/>
            <c:bubble3D val="0"/>
            <c:spPr>
              <a:solidFill>
                <a:srgbClr val="E0A100"/>
              </a:solidFill>
              <a:effectLst/>
            </c:spPr>
          </c:dPt>
          <c:dPt>
            <c:idx val="2"/>
            <c:invertIfNegative val="0"/>
            <c:bubble3D val="0"/>
            <c:spPr>
              <a:solidFill>
                <a:srgbClr val="C8102E"/>
              </a:solidFill>
              <a:effectLst/>
            </c:spPr>
          </c:dPt>
          <c:cat>
            <c:multiLvlStrRef>
              <c:f>Sheet1!$A$2:$A$4</c:f>
              <c:multiLvlStrCache>
                <c:ptCount val="3"/>
                <c:lvl>
                  <c:pt idx="0">
                    <c:v>Low</c:v>
                  </c:pt>
                  <c:pt idx="1">
                    <c:v>Moderate</c:v>
                  </c:pt>
                  <c:pt idx="2">
                    <c:v>High</c:v>
                  </c:pt>
                </c:lvl>
              </c:multiLvlStrCache>
            </c:multiLvlStrRef>
          </c:cat>
          <c:val>
            <c:numRef>
              <c:f>Sheet1!$B$2:$B$4</c:f>
              <c:numCache>
                <c:formatCode>General</c:formatCode>
                <c:ptCount val="3"/>
                <c:pt idx="0">
                  <c:v>9723</c:v>
                </c:pt>
                <c:pt idx="1">
                  <c:v>7562</c:v>
                </c:pt>
                <c:pt idx="2">
                  <c:v>4321</c:v>
                </c:pt>
              </c:numCache>
            </c:numRef>
          </c:val>
        </c:ser>
        <c:dLbls>
          <c:numFmt formatCode="#,##0" sourceLinked="0"/>
          <c:txPr>
            <a:bodyPr/>
            <a:lstStyle/>
            <a:p>
              <a:pPr>
                <a:defRPr b="0" i="0" strike="noStrike" sz="1200" u="none">
                  <a:solidFill>
                    <a:srgbClr val="1B1F2A"/>
                  </a:solidFill>
                  <a:latin typeface="Arial"/>
                </a:defRPr>
              </a:pPr>
            </a:p>
          </c:txPr>
          <c:showLegendKey val="0"/>
          <c:showVal val="1"/>
          <c:showCatName val="0"/>
          <c:showSerName val="0"/>
          <c:showPercent val="0"/>
          <c:showBubbleSize val="0"/>
          <c:showLeaderLines val="0"/>
        </c:dLbls>
        <c:gapWidth val="150"/>
        <c:overlap val="0"/>
        <c:axId val="2094734554"/>
        <c:axId val="2094734552"/>
        <c:axId val="2094734556"/>
      </c:barChart>
      <c:catAx>
        <c:axId val="2094734554"/>
        <c:scaling>
          <c:orientation val="minMax"/>
        </c:scaling>
        <c:delete val="0"/>
        <c:axPos val="b"/>
        <c:numFmt formatCode="General" sourceLinked="1"/>
        <c:majorTickMark val="out"/>
        <c:minorTickMark val="none"/>
        <c:tickLblPos val="low"/>
        <c:spPr>
          <a:ln w="12700" cap="flat">
            <a:solidFill>
              <a:srgbClr val="888888"/>
            </a:solidFill>
            <a:prstDash val="solid"/>
            <a:round/>
          </a:ln>
        </c:spPr>
        <c:txPr>
          <a:bodyPr/>
          <a:lstStyle/>
          <a:p>
            <a:pPr>
              <a:defRPr sz="1300" b="0" i="0" u="none" strike="noStrike">
                <a:solidFill>
                  <a:srgbClr val="1B1F2A"/>
                </a:solidFill>
                <a:latin typeface="Arial"/>
              </a:defRPr>
            </a:pPr>
            <a:endParaRPr lang="en-US"/>
          </a:p>
        </c:txPr>
        <c:crossAx val="2094734552"/>
        <c:crosses val="autoZero"/>
        <c:auto val="1"/>
        <c:lblAlgn val="ctr"/>
        <c:noMultiLvlLbl val="1"/>
      </c:catAx>
      <c:valAx>
        <c:axId val="2094734552"/>
        <c:scaling>
          <c:orientation val="minMax"/>
        </c:scaling>
        <c:delete val="1"/>
        <c:axPos val="l"/>
        <c:numFmt formatCode="General" sourceLinked="0"/>
        <c:majorTickMark val="out"/>
        <c:minorTickMark val="none"/>
        <c:tickLblPos val="nextTo"/>
        <c:spPr>
          <a:ln w="12700" cap="flat">
            <a:solidFill>
              <a:srgbClr val="888888"/>
            </a:solidFill>
            <a:prstDash val="solid"/>
            <a:round/>
          </a:ln>
        </c:spPr>
        <c:txPr>
          <a:bodyPr/>
          <a:lstStyle/>
          <a:p>
            <a:pPr>
              <a:defRPr sz="1200" b="0" i="0" u="none" strike="noStrike">
                <a:solidFill>
                  <a:srgbClr val="000000"/>
                </a:solidFill>
                <a:latin typeface="Arial"/>
              </a:defRPr>
            </a:pPr>
            <a:endParaRPr lang="en-US"/>
          </a:p>
        </c:txPr>
        <c:crossAx val="2094734554"/>
        <c:crosses val="autoZero"/>
        <c:crossBetween val="between"/>
      </c:valAx>
      <c:spPr>
        <a:noFill/>
        <a:ln>
          <a:noFill/>
        </a:ln>
        <a:effectLst/>
      </c:spPr>
    </c:plotArea>
    <c:plotVisOnly val="1"/>
    <c:dispBlanksAs val="span"/>
  </c:chart>
  <c:spPr>
    <a:noFill/>
    <a:ln>
      <a:noFill/>
    </a:ln>
    <a:effectLst/>
  </c:spPr>
  <c:externalData r:id="rId1">
    <c:autoUpdate val="0"/>
  </c:externalData>
</c:chartSpace>
</file>

<file path=ppt/charts/chart2.xml><?xml version="1.0" encoding="utf-8"?>
<c:chartSpace xmlns:c="http://schemas.openxmlformats.org/drawingml/2006/chart" xmlns:a="http://schemas.openxmlformats.org/drawingml/2006/main" xmlns:r="http://schemas.openxmlformats.org/officeDocument/2006/relationships">
  <c:date1904 val="0"/>
  <c:roundedCorners val="1"/>
  <c:chart>
    <c:autoTitleDeleted val="1"/>
    <c:plotArea>
      <c:layout/>
      <c:lineChart>
        <c:varyColors val="0"/>
        <c:ser>
          <c:idx val="0"/>
          <c:order val="0"/>
          <c:tx>
            <c:strRef>
              <c:f>Sheet1!$B$1</c:f>
              <c:strCache>
                <c:ptCount val="1"/>
                <c:pt idx="0">
                  <c:v>CatBoost</c:v>
                </c:pt>
              </c:strCache>
            </c:strRef>
          </c:tx>
          <c:spPr>
            <a:solidFill>
              <a:srgbClr val="1F4E9C"/>
            </a:solidFill>
            <a:ln w="38100" cap="flat">
              <a:solidFill>
                <a:srgbClr val="1F4E9C"/>
              </a:solidFill>
              <a:prstDash val="solid"/>
              <a:round/>
            </a:ln>
            <a:effectLst/>
          </c:spPr>
          <c:invertIfNegative val="0"/>
          <c:dLbls>
            <c:numFmt formatCode="#,##0" sourceLinked="0"/>
            <c:txPr>
              <a:bodyPr/>
              <a:lstStyle/>
              <a:p>
                <a:pPr>
                  <a:defRPr b="0" i="0" strike="noStrike" sz="1200" u="none">
                    <a:solidFill>
                      <a:srgbClr val="000000"/>
                    </a:solidFill>
                    <a:latin typeface="Arial"/>
                  </a:defRPr>
                </a:pPr>
              </a:p>
            </c:txPr>
            <c:showLegendKey val="0"/>
            <c:showVal val="0"/>
            <c:showCatName val="0"/>
            <c:showSerName val="0"/>
            <c:showPercent val="0"/>
            <c:showBubbleSize val="0"/>
            <c:showLeaderLines val="0"/>
          </c:dLbls>
          <c:marker>
            <c:symbol val="circle"/>
            <c:size val="9"/>
            <c:spPr>
              <a:solidFill>
                <a:srgbClr val="1F4E9C"/>
              </a:solidFill>
              <a:ln w="9525" cap="flat">
                <a:solidFill>
                  <a:srgbClr val="1F4E9C"/>
                </a:solidFill>
                <a:prstDash val="solid"/>
                <a:round/>
              </a:ln>
              <a:effectLst/>
            </c:spPr>
          </c:marker>
          <c:cat>
            <c:multiLvlStrRef>
              <c:f>Sheet1!$A$2:$A$5</c:f>
              <c:multiLvlStrCache>
                <c:ptCount val="4"/>
                <c:lvl>
                  <c:pt idx="0">
                    <c:v>100</c:v>
                  </c:pt>
                  <c:pt idx="1">
                    <c:v>500</c:v>
                  </c:pt>
                  <c:pt idx="2">
                    <c:v>2,000*</c:v>
                  </c:pt>
                  <c:pt idx="3">
                    <c:v>17,284</c:v>
                  </c:pt>
                </c:lvl>
              </c:multiLvlStrCache>
            </c:multiLvlStrRef>
          </c:cat>
          <c:val>
            <c:numRef>
              <c:f>Sheet1!$B$2:$B$5</c:f>
              <c:numCache>
                <c:formatCode>General</c:formatCode>
                <c:ptCount val="4"/>
                <c:pt idx="0">
                  <c:v>60.53</c:v>
                </c:pt>
                <c:pt idx="1">
                  <c:v>69.64</c:v>
                </c:pt>
                <c:pt idx="2">
                  <c:v>74.4</c:v>
                </c:pt>
                <c:pt idx="3">
                  <c:v>78.51</c:v>
                </c:pt>
              </c:numCache>
            </c:numRef>
          </c:val>
          <c:smooth val="0"/>
        </c:ser>
        <c:ser>
          <c:idx val="1"/>
          <c:order val="1"/>
          <c:tx>
            <c:strRef>
              <c:f>Sheet1!$C$1</c:f>
              <c:strCache>
                <c:ptCount val="1"/>
                <c:pt idx="0">
                  <c:v>TabPFN</c:v>
                </c:pt>
              </c:strCache>
            </c:strRef>
          </c:tx>
          <c:spPr>
            <a:solidFill>
              <a:srgbClr val="C05A00"/>
            </a:solidFill>
            <a:ln w="38100" cap="flat">
              <a:solidFill>
                <a:srgbClr val="C05A00"/>
              </a:solidFill>
              <a:prstDash val="solid"/>
              <a:round/>
            </a:ln>
            <a:effectLst/>
          </c:spPr>
          <c:invertIfNegative val="0"/>
          <c:dLbls>
            <c:numFmt formatCode="#,##0" sourceLinked="0"/>
            <c:txPr>
              <a:bodyPr/>
              <a:lstStyle/>
              <a:p>
                <a:pPr>
                  <a:defRPr b="0" i="0" strike="noStrike" sz="1200" u="none">
                    <a:solidFill>
                      <a:srgbClr val="000000"/>
                    </a:solidFill>
                    <a:latin typeface="Arial"/>
                  </a:defRPr>
                </a:pPr>
              </a:p>
            </c:txPr>
            <c:showLegendKey val="0"/>
            <c:showVal val="0"/>
            <c:showCatName val="0"/>
            <c:showSerName val="0"/>
            <c:showPercent val="0"/>
            <c:showBubbleSize val="0"/>
            <c:showLeaderLines val="0"/>
          </c:dLbls>
          <c:marker>
            <c:symbol val="circle"/>
            <c:size val="9"/>
            <c:spPr>
              <a:solidFill>
                <a:srgbClr val="C05A00"/>
              </a:solidFill>
              <a:ln w="9525" cap="flat">
                <a:solidFill>
                  <a:srgbClr val="C05A00"/>
                </a:solidFill>
                <a:prstDash val="solid"/>
                <a:round/>
              </a:ln>
              <a:effectLst/>
            </c:spPr>
          </c:marker>
          <c:cat>
            <c:multiLvlStrRef>
              <c:f>Sheet1!$A$2:$A$5</c:f>
              <c:multiLvlStrCache>
                <c:ptCount val="4"/>
                <c:lvl>
                  <c:pt idx="0">
                    <c:v>100</c:v>
                  </c:pt>
                  <c:pt idx="1">
                    <c:v>500</c:v>
                  </c:pt>
                  <c:pt idx="2">
                    <c:v>2,000*</c:v>
                  </c:pt>
                  <c:pt idx="3">
                    <c:v>17,284</c:v>
                  </c:pt>
                </c:lvl>
              </c:multiLvlStrCache>
            </c:multiLvlStrRef>
          </c:cat>
          <c:val>
            <c:numRef>
              <c:f>Sheet1!$C$2:$C$5</c:f>
              <c:numCache>
                <c:formatCode>General</c:formatCode>
                <c:ptCount val="4"/>
                <c:pt idx="0">
                  <c:v>71.54</c:v>
                </c:pt>
                <c:pt idx="1">
                  <c:v>77.65</c:v>
                </c:pt>
                <c:pt idx="2">
                  <c:v>76.2</c:v>
                </c:pt>
                <c:pt idx="3">
                  <c:v>78.57</c:v>
                </c:pt>
              </c:numCache>
            </c:numRef>
          </c:val>
          <c:smooth val="0"/>
        </c:ser>
        <c:ser>
          <c:idx val="2"/>
          <c:order val="2"/>
          <c:tx>
            <c:strRef>
              <c:f>Sheet1!$D$1</c:f>
              <c:strCache>
                <c:ptCount val="1"/>
                <c:pt idx="0">
                  <c:v>TabFM</c:v>
                </c:pt>
              </c:strCache>
            </c:strRef>
          </c:tx>
          <c:spPr>
            <a:solidFill>
              <a:srgbClr val="2A7F3F"/>
            </a:solidFill>
            <a:ln w="38100" cap="flat">
              <a:solidFill>
                <a:srgbClr val="2A7F3F"/>
              </a:solidFill>
              <a:prstDash val="solid"/>
              <a:round/>
            </a:ln>
            <a:effectLst/>
          </c:spPr>
          <c:invertIfNegative val="0"/>
          <c:dLbls>
            <c:numFmt formatCode="#,##0" sourceLinked="0"/>
            <c:txPr>
              <a:bodyPr/>
              <a:lstStyle/>
              <a:p>
                <a:pPr>
                  <a:defRPr b="0" i="0" strike="noStrike" sz="1200" u="none">
                    <a:solidFill>
                      <a:srgbClr val="000000"/>
                    </a:solidFill>
                    <a:latin typeface="Arial"/>
                  </a:defRPr>
                </a:pPr>
              </a:p>
            </c:txPr>
            <c:showLegendKey val="0"/>
            <c:showVal val="0"/>
            <c:showCatName val="0"/>
            <c:showSerName val="0"/>
            <c:showPercent val="0"/>
            <c:showBubbleSize val="0"/>
            <c:showLeaderLines val="0"/>
          </c:dLbls>
          <c:marker>
            <c:symbol val="circle"/>
            <c:size val="9"/>
            <c:spPr>
              <a:solidFill>
                <a:srgbClr val="2A7F3F"/>
              </a:solidFill>
              <a:ln w="9525" cap="flat">
                <a:solidFill>
                  <a:srgbClr val="2A7F3F"/>
                </a:solidFill>
                <a:prstDash val="solid"/>
                <a:round/>
              </a:ln>
              <a:effectLst/>
            </c:spPr>
          </c:marker>
          <c:cat>
            <c:multiLvlStrRef>
              <c:f>Sheet1!$A$2:$A$5</c:f>
              <c:multiLvlStrCache>
                <c:ptCount val="4"/>
                <c:lvl>
                  <c:pt idx="0">
                    <c:v>100</c:v>
                  </c:pt>
                  <c:pt idx="1">
                    <c:v>500</c:v>
                  </c:pt>
                  <c:pt idx="2">
                    <c:v>2,000*</c:v>
                  </c:pt>
                  <c:pt idx="3">
                    <c:v>17,284</c:v>
                  </c:pt>
                </c:lvl>
              </c:multiLvlStrCache>
            </c:multiLvlStrRef>
          </c:cat>
          <c:val>
            <c:numRef>
              <c:f>Sheet1!$D$2:$D$5</c:f>
              <c:numCache>
                <c:formatCode>General</c:formatCode>
                <c:ptCount val="4"/>
                <c:pt idx="0">
                  <c:v>74.41</c:v>
                </c:pt>
                <c:pt idx="1">
                  <c:v>77.88</c:v>
                </c:pt>
                <c:pt idx="2">
                  <c:v>77.4</c:v>
                </c:pt>
                <c:pt idx="3">
                  <c:v/>
                </c:pt>
              </c:numCache>
            </c:numRef>
          </c:val>
          <c:smooth val="0"/>
        </c:ser>
        <c:dLbls>
          <c:numFmt formatCode="#,##0" sourceLinked="0"/>
          <c:txPr>
            <a:bodyPr/>
            <a:lstStyle/>
            <a:p>
              <a:pPr>
                <a:defRPr b="0" i="0" strike="noStrike" sz="1200" u="none">
                  <a:solidFill>
                    <a:srgbClr val="000000"/>
                  </a:solidFill>
                  <a:latin typeface="Arial"/>
                </a:defRPr>
              </a:pPr>
            </a:p>
          </c:txPr>
          <c:showLegendKey val="0"/>
          <c:showVal val="0"/>
          <c:showCatName val="0"/>
          <c:showSerName val="0"/>
          <c:showPercent val="0"/>
          <c:showBubbleSize val="0"/>
          <c:showLeaderLines val="0"/>
        </c:dLbls>
        <c:marker val="1"/>
        <c:axId val="2094734554"/>
        <c:axId val="2094734552"/>
        <c:axId val="2094734556"/>
      </c:lineChart>
      <c:catAx>
        <c:axId val="2094734554"/>
        <c:scaling>
          <c:orientation val="minMax"/>
        </c:scaling>
        <c:delete val="0"/>
        <c:axPos val="b"/>
        <c:title>
          <c:tx>
            <c:rich>
              <a:bodyPr/>
              <a:lstStyle/>
              <a:p>
                <a:pPr>
                  <a:defRPr sz="1200" b="0" i="0" u="none" strike="noStrike">
                    <a:solidFill>
                      <a:srgbClr val="5B6170"/>
                    </a:solidFill>
                    <a:latin typeface="Arial"/>
                  </a:defRPr>
                </a:pPr>
                <a:r>
                  <a:rPr sz="1200" b="0" i="0" u="none" strike="noStrike">
                    <a:solidFill>
                      <a:srgbClr val="5B6170"/>
                    </a:solidFill>
                    <a:latin typeface="Arial"/>
                  </a:rPr>
                  <a:t>Training rows</a:t>
                </a:r>
              </a:p>
            </c:rich>
          </c:tx>
          <c:layout/>
          <c:overlay val="0"/>
        </c:title>
        <c:numFmt formatCode="General" sourceLinked="1"/>
        <c:majorTickMark val="out"/>
        <c:minorTickMark val="none"/>
        <c:tickLblPos val="low"/>
        <c:spPr>
          <a:ln w="12700" cap="flat">
            <a:solidFill>
              <a:srgbClr val="888888"/>
            </a:solidFill>
            <a:prstDash val="solid"/>
            <a:round/>
          </a:ln>
        </c:spPr>
        <c:txPr>
          <a:bodyPr/>
          <a:lstStyle/>
          <a:p>
            <a:pPr>
              <a:defRPr sz="1300" b="0" i="0" u="none" strike="noStrike">
                <a:solidFill>
                  <a:srgbClr val="1B1F2A"/>
                </a:solidFill>
                <a:latin typeface="Arial"/>
              </a:defRPr>
            </a:pPr>
            <a:endParaRPr lang="en-US"/>
          </a:p>
        </c:txPr>
        <c:crossAx val="2094734552"/>
        <c:crosses val="autoZero"/>
        <c:auto val="1"/>
        <c:lblAlgn val="ctr"/>
        <c:noMultiLvlLbl val="1"/>
      </c:catAx>
      <c:valAx>
        <c:axId val="2094734552"/>
        <c:scaling>
          <c:orientation val="minMax"/>
          <c:max val="82"/>
          <c:min val="55"/>
        </c:scaling>
        <c:delete val="0"/>
        <c:axPos val="l"/>
        <c:majorGridlines>
          <c:spPr>
            <a:ln w="6350" cap="flat">
              <a:solidFill>
                <a:srgbClr val="E3E5E9"/>
              </a:solidFill>
              <a:prstDash val="solid"/>
              <a:round/>
            </a:ln>
          </c:spPr>
        </c:majorGridlines>
        <c:numFmt formatCode="General" sourceLinked="0"/>
        <c:majorTickMark val="out"/>
        <c:minorTickMark val="none"/>
        <c:tickLblPos val="nextTo"/>
        <c:spPr>
          <a:ln w="12700" cap="flat">
            <a:solidFill>
              <a:srgbClr val="888888"/>
            </a:solidFill>
            <a:prstDash val="solid"/>
            <a:round/>
          </a:ln>
        </c:spPr>
        <c:txPr>
          <a:bodyPr/>
          <a:lstStyle/>
          <a:p>
            <a:pPr>
              <a:defRPr sz="1200" b="0" i="0" u="none" strike="noStrike">
                <a:solidFill>
                  <a:srgbClr val="5B6170"/>
                </a:solidFill>
                <a:latin typeface="Arial"/>
              </a:defRPr>
            </a:pPr>
            <a:endParaRPr lang="en-US"/>
          </a:p>
        </c:txPr>
        <c:crossAx val="2094734554"/>
        <c:crosses val="autoZero"/>
        <c:crossBetween val="between"/>
      </c:valAx>
      <c:spPr>
        <a:noFill/>
        <a:ln>
          <a:noFill/>
        </a:ln>
        <a:effectLst/>
      </c:spPr>
    </c:plotArea>
    <c:legend>
      <c:legendPos val="b"/>
      <c:overlay val="0"/>
      <c:txPr>
        <a:bodyPr/>
        <a:lstStyle/>
        <a:p>
          <a:pPr>
            <a:defRPr sz="1300">
              <a:solidFill>
                <a:srgbClr val="1B1F2A"/>
              </a:solidFill>
            </a:defRPr>
          </a:pPr>
          <a:endParaRPr lang="en-US"/>
        </a:p>
      </c:txPr>
    </c:legend>
    <c:plotVisOnly val="1"/>
    <c:dispBlanksAs val="span"/>
  </c:chart>
  <c:spPr>
    <a:noFill/>
    <a:ln>
      <a:noFill/>
    </a:ln>
    <a:effectLst/>
  </c:spPr>
  <c:externalData r:id="rId1">
    <c:autoUpdate val="0"/>
  </c:externalData>
</c:chartSpace>
</file>

<file path=ppt/notesMasters/_rels/notesMaster1.xml.rels><?xml version="1.0" encoding="UTF-8" standalone="yes"?>
<Relationships xmlns="http://schemas.openxmlformats.org/package/2006/relationships">
		<Relationship Id="rId1" Type="http://schemas.openxmlformats.org/officeDocument/2006/relationships/theme" Target="../theme/theme1.xml"/>
		</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5282F153-3F37-0F45-9E97-73ACFA13230C}" type="datetimeFigureOut">
              <a:rPr lang="en-US"/>
              <a:t>7/23/19</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CE5E9CC1-C706-0F49-92D6-E571CC5EEA8F}" type="slidenum">
              <a:rPr lang="en-US"/>
              <a:t>‹#›</a:t>
            </a:fld>
            <a:endParaRPr lang="en-US"/>
          </a:p>
        </p:txBody>
      </p:sp>
    </p:spTree>
    <p:extLst>
      <p:ext uri="{BB962C8B-B14F-4D97-AF65-F5344CB8AC3E}">
        <p14:creationId xmlns:p14="http://schemas.microsoft.com/office/powerpoint/2010/main" val="102408699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xml"/>
		</Relationships>
</file>

<file path=ppt/notesSlides/_rels/notesSlide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xml"/>
		</Relationships>
</file>

<file path=ppt/notesSlides/_rels/notesSlide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xml"/>
		</Relationships>
</file>

<file path=ppt/notesSlides/_rels/notesSlide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xml"/>
		</Relationships>
</file>

<file path=ppt/notesSlides/_rels/notesSlide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xml"/>
		</Relationships>
</file>

<file path=ppt/notesSlides/_rels/notesSlide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6.xml"/>
		</Relationships>
</file>

<file path=ppt/notesSlides/_rels/notesSlide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7.xml"/>
		</Relationships>
</file>

<file path=ppt/notesSlides/_rels/notesSlide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8.xml"/>
		</Relationships>
</file>

<file path=ppt/notesSlides/_rels/notesSlide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9.xml"/>
		</Relationships>
</file>

<file path=ppt/notesSlides/_rels/notesSlide1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0.xml"/>
		</Relationships>
</file>

<file path=ppt/notesSlides/_rels/notesSlide1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1.xml"/>
		</Relationships>
</file>

<file path=ppt/notesSlides/_rels/notesSlide1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2.xml"/>
		</Relationships>
</file>

<file path=ppt/notesSlides/_rels/notesSlide1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3.xml"/>
		</Relationships>
</file>

<file path=ppt/notesSlides/_rels/notesSlide1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4.xml"/>
		</Relationships>
</file>

<file path=ppt/notesSlides/_rels/notesSlide1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5.xml"/>
		</Relationships>
</file>

<file path=ppt/notesSlides/_rels/notesSlide1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6.xml"/>
		</Relationships>
</file>

<file path=ppt/notesSlides/_rels/notesSlide1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7.xml"/>
		</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Good morning. My thesis compares three machine learning models for predicting hair fall risk in three levels, Low, Moderate and High, and explains their predictions with SHAP. One model is a tuned gradient-boosted tree, CatBoost; the other two, TabPFN and TabFM, are new tabular foundation models that need no training.</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talk follows the thesis chapters: problem, questions, related work, method, results, explanations, costs, and conclusions.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Hair fall comes from many interacting factors: nutrition, stress and sleep, health and heredity, and lifestyle. Assessment today relies on self-report and late examination. These factors are recorded as tabular data, which is where machine learning works well.</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First, earlier studies disagree on which model is best. Second, the new zero-shot tabular foundation models have not been tested on this problem. Third, accurate models are opaque, which limits their use in health.</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Four research questions, each with one specific objective: performance, data efficiency, explainability and practical cost.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Tuned boosted trees are still the reference on tabular data. Tabular foundation models are the new alternative. SHAP lets us explain any model. Hair loss studies used classical models and disagree. The gap is a fair comparison with explanations.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data were split once into training and test sets. CatBoost was tuned; TabPFN and TabFM received the training rows as context. All models were evaluated on the same test set, compared with McNemar's test, retrained with smaller contexts, and explained with SHAP.</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21,606 records, 20 predictors, three tiers. The classes are unequal: 45% Low, 35% Moderate, 20% High, so macro-averaged metrics were used. Important: the dataset is constructed, not a clinical registry, so results are a benchmark of models, not a diagnostic tool.</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CatBoost was tuned by grid search with cross-validation. TabPFN and TabFM were not tuned at all — that asymmetry is the point of the study. TabFM used 500 context rows because it became too slow with more.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All three reach about 78% accuracy, far above the 45% of always predicting Low. McNemar's test found no significant difference for any pair. Careful wording: no difference was detected — that is not proof of equivalence.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Almost every error is to a neighbouring tier. Moderate is hardest because it borders both others. High-risk records are often under-rated as Moderate, so a Moderate prediction should not exclude high risk.</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With 100 rows CatBoost reaches 61%, TabPFN 72% and TabFM 74%. The gap narrows as data grows and closes at full size. So the benefit of foundation models is greatest when labelled data is scarce. TabFM versus TabPFN ordering is not reliable.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same seven biomarkers lead in all models, and they are the ones most correlated with risk in the data. Directions agree too. Because the dataset was constructed, this shows the models recovered the built-in relationships — not a new clinical discovery. The foundation-model SHAP used only 20–30 records.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Zero tuning does not mean cheap. TabFM became about sixteen times slower per record when the context grew four times, and the full-context run did not finish. Three software problems needed workarounds, which I document for other users of these new packages.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Each research question is answered. The main message: foundation models match a tuned baseline without tuning and are much better with little data, and all three models can be explained.</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main limitation is the constructed dataset, so this is a benchmark, not a clinical tool. Future work: real clinical data, full-context TabFM, repeated splits, larger SHAP samples and ordinal models.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Thank you. I am happy to answer questions.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17</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
        <p:nvSpPr>
          <p:cNvPr id="25" name="Slide Number Placeholder 0"/>
          <p:cNvSpPr>
            <a:spLocks noGrp="1"/>
          </p:cNvSpPr>
          <p:nvPr>
            <p:ph type="sldNum" sz="quarter" idx="4294967295"/>
          </p:nvPr>
        </p:nvSpPr>
        <p:spPr>
          <a:xfrm>
            <a:off x="11368735" y="6446520"/>
            <a:ext cx="457200" cy="274320"/>
          </a:xfrm>
          <a:prstGeom prst="rect">
            <a:avLst/>
          </a:prstGeom>
          <a:extLst>
            <a:ext uri="{C572A759-6A51-4108-AA02-DFA0A04FC94B}">
              <ma14:wrappingTextBoxFlag xmlns:ma14="http://schemas.microsoft.com/office/mac/drawingml/2011/main" val="0"/>
            </a:ext>
          </a:extLst>
        </p:spPr>
        <p:txBody>
          <a:bodyPr/>
          <a:lstStyle>
            <a:lvl1pPr>
              <a:defRPr sz="1000">
                <a:solidFill>
                  <a:srgbClr val="B8BCC6"/>
                </a:solidFill>
                <a:latin typeface="Calibri"/>
                <a:ea typeface="Calibri"/>
                <a:cs typeface="Calibri"/>
              </a:defRPr>
            </a:lvl1pPr>
          </a:lstStyle>
          <a:p>
            <a:pPr algn="r"/>
            <a:fld id="{F7021451-1387-4CA6-816F-3879F97B5CBC}" type="slidenum">
              <a:rPr b="0" lang="en-US"/>
              <a:t>1000</a:t>
            </a:fld>
            <a:endParaRPr lang="en-US"/>
          </a:p>
        </p:txBody>
      </p:sp>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5" name="Slide Number Placeholder 0"/>
          <p:cNvSpPr>
            <a:spLocks noGrp="1"/>
          </p:cNvSpPr>
          <p:nvPr>
            <p:ph type="sldNum" sz="quarter" idx="4294967295"/>
          </p:nvPr>
        </p:nvSpPr>
        <p:spPr>
          <a:xfrm>
            <a:off x="11368735" y="6446520"/>
            <a:ext cx="457200" cy="274320"/>
          </a:xfrm>
          <a:prstGeom prst="rect">
            <a:avLst/>
          </a:prstGeom>
          <a:extLst>
            <a:ext uri="{C572A759-6A51-4108-AA02-DFA0A04FC94B}">
              <ma14:wrappingTextBoxFlag xmlns:ma14="http://schemas.microsoft.com/office/mac/drawingml/2011/main" val="0"/>
            </a:ext>
          </a:extLst>
        </p:spPr>
        <p:txBody>
          <a:bodyPr/>
          <a:lstStyle>
            <a:lvl1pPr>
              <a:defRPr sz="1000">
                <a:solidFill>
                  <a:srgbClr val="B8BCC6"/>
                </a:solidFill>
                <a:latin typeface="Calibri"/>
                <a:ea typeface="Calibri"/>
                <a:cs typeface="Calibri"/>
              </a:defRPr>
            </a:lvl1pPr>
          </a:lstStyle>
          <a:p>
            <a:pPr algn="r"/>
            <a:fld id="{F7021451-1387-4CA6-816F-3879F97B5CBC}" type="slidenum">
              <a:rPr b="0" lang="en-US"/>
              <a:t>null</a:t>
            </a:fld>
            <a:endParaRPr lang="en-US"/>
          </a:p>
        </p:txBody>
      </p:sp>
    </p:spTree>
  </p:cSld>
  <p:clrMap bg1="lt1" tx1="dk1" bg2="lt2" tx2="dk2" accent1="accent1" accent2="accent2" accent3="accent3" accent4="accent4" accent5="accent5" accent6="accent6" hlink="hlink" folHlink="folHlink"/>
  <p:sldLayoutIdLst>
    <p:sldLayoutId id="2147483649" r:id="rId1"/>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image" Target="../media/image-1-1.jpeg"/><Relationship Id="rId2" Type="http://schemas.openxmlformats.org/officeDocument/2006/relationships/slideLayout" Target="../slideLayouts/slideLayout1.xml"/><Relationship Id="rId3"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image" Target="../media/image-3-1.png"/><Relationship Id="rId2" Type="http://schemas.openxmlformats.org/officeDocument/2006/relationships/image" Target="../media/image-3-2.png"/><Relationship Id="rId3" Type="http://schemas.openxmlformats.org/officeDocument/2006/relationships/image" Target="../media/image-3-3.png"/><Relationship Id="rId4" Type="http://schemas.openxmlformats.org/officeDocument/2006/relationships/image" Target="../media/image-3-4.png"/><Relationship Id="rId5" Type="http://schemas.openxmlformats.org/officeDocument/2006/relationships/slideLayout" Target="../slideLayouts/slideLayout1.xml"/><Relationship Id="rId6"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image" Target="../media/image-4-1.png"/><Relationship Id="rId2" Type="http://schemas.openxmlformats.org/officeDocument/2006/relationships/image" Target="../media/image-4-2.png"/><Relationship Id="rId3" Type="http://schemas.openxmlformats.org/officeDocument/2006/relationships/image" Target="../media/image-4-3.png"/><Relationship Id="rId4" Type="http://schemas.openxmlformats.org/officeDocument/2006/relationships/slideLayout" Target="../slideLayouts/slideLayout1.xml"/><Relationship Id="rId5"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image" Target="../media/image-6-1.png"/><Relationship Id="rId2" Type="http://schemas.openxmlformats.org/officeDocument/2006/relationships/image" Target="../media/image-6-2.png"/><Relationship Id="rId3" Type="http://schemas.openxmlformats.org/officeDocument/2006/relationships/image" Target="../media/image-6-3.png"/><Relationship Id="rId4" Type="http://schemas.openxmlformats.org/officeDocument/2006/relationships/image" Target="../media/image-6-4.png"/><Relationship Id="rId5" Type="http://schemas.openxmlformats.org/officeDocument/2006/relationships/slideLayout" Target="../slideLayouts/slideLayout1.xml"/><Relationship Id="rId6"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image" Target="../media/image-7-1.png"/><Relationship Id="rId2" Type="http://schemas.openxmlformats.org/officeDocument/2006/relationships/image" Target="../media/image-7-2.png"/><Relationship Id="rId3" Type="http://schemas.openxmlformats.org/officeDocument/2006/relationships/image" Target="../media/image-7-3.png"/><Relationship Id="rId4" Type="http://schemas.openxmlformats.org/officeDocument/2006/relationships/image" Target="../media/image-7-4.png"/><Relationship Id="rId5" Type="http://schemas.openxmlformats.org/officeDocument/2006/relationships/image" Target="../media/image-7-5.png"/><Relationship Id="rId6" Type="http://schemas.openxmlformats.org/officeDocument/2006/relationships/image" Target="../media/image-7-6.png"/><Relationship Id="rId7" Type="http://schemas.openxmlformats.org/officeDocument/2006/relationships/slideLayout" Target="../slideLayouts/slideLayout1.xml"/><Relationship Id="rId8"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chart" Target="/ppt/charts/chart1.xml"/><Relationship Id="rId2" Type="http://schemas.openxmlformats.org/officeDocument/2006/relationships/slideLayout" Target="../slideLayouts/slideLayout1.xml"/><Relationship Id="rId3"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image" Target="../media/image-10-1.png"/><Relationship Id="rId2" Type="http://schemas.openxmlformats.org/officeDocument/2006/relationships/slideLayout" Target="../slideLayouts/slideLayout1.xml"/><Relationship Id="rId3"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image" Target="../media/image-11-1.png"/><Relationship Id="rId2" Type="http://schemas.openxmlformats.org/officeDocument/2006/relationships/image" Target="../media/image-11-2.png"/><Relationship Id="rId3" Type="http://schemas.openxmlformats.org/officeDocument/2006/relationships/image" Target="../media/image-11-3.png"/><Relationship Id="rId4" Type="http://schemas.openxmlformats.org/officeDocument/2006/relationships/image" Target="../media/image-11-4.png"/><Relationship Id="rId5" Type="http://schemas.openxmlformats.org/officeDocument/2006/relationships/image" Target="../media/image-11-5.png"/><Relationship Id="rId6" Type="http://schemas.openxmlformats.org/officeDocument/2006/relationships/slideLayout" Target="../slideLayouts/slideLayout1.xml"/><Relationship Id="rId7"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chart" Target="/ppt/charts/chart2.xml"/><Relationship Id="rId2" Type="http://schemas.openxmlformats.org/officeDocument/2006/relationships/slideLayout" Target="../slideLayouts/slideLayout1.xml"/><Relationship Id="rId3"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image" Target="../media/image-13-1.png"/><Relationship Id="rId2" Type="http://schemas.openxmlformats.org/officeDocument/2006/relationships/slideLayout" Target="../slideLayouts/slideLayout1.xml"/><Relationship Id="rId3"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image" Target="../media/image-14-1.png"/><Relationship Id="rId2" Type="http://schemas.openxmlformats.org/officeDocument/2006/relationships/image" Target="../media/image-14-2.png"/><Relationship Id="rId3" Type="http://schemas.openxmlformats.org/officeDocument/2006/relationships/image" Target="../media/image-14-3.png"/><Relationship Id="rId4" Type="http://schemas.openxmlformats.org/officeDocument/2006/relationships/slideLayout" Target="../slideLayouts/slideLayout1.xml"/><Relationship Id="rId5" Type="http://schemas.openxmlformats.org/officeDocument/2006/relationships/notesSlide" Target="../notesSlides/notesSlide14.xml"/></Relationships>
</file>

<file path=ppt/slides/_rels/slide15.xml.rels><?xml version="1.0" encoding="UTF-8" standalone="yes"?>
<Relationships xmlns="http://schemas.openxmlformats.org/package/2006/relationships"><Relationship Id="rId1" Type="http://schemas.openxmlformats.org/officeDocument/2006/relationships/image" Target="../media/image-15-1.png"/><Relationship Id="rId2" Type="http://schemas.openxmlformats.org/officeDocument/2006/relationships/image" Target="../media/image-15-2.png"/><Relationship Id="rId3" Type="http://schemas.openxmlformats.org/officeDocument/2006/relationships/image" Target="../media/image-15-3.png"/><Relationship Id="rId4" Type="http://schemas.openxmlformats.org/officeDocument/2006/relationships/image" Target="../media/image-15-4.png"/><Relationship Id="rId5" Type="http://schemas.openxmlformats.org/officeDocument/2006/relationships/slideLayout" Target="../slideLayouts/slideLayout1.xml"/><Relationship Id="rId6" Type="http://schemas.openxmlformats.org/officeDocument/2006/relationships/notesSlide" Target="../notesSlides/notesSlide15.xml"/></Relationships>
</file>

<file path=ppt/slides/_rels/slide16.xml.rels><?xml version="1.0" encoding="UTF-8" standalone="yes"?>
<Relationships xmlns="http://schemas.openxmlformats.org/package/2006/relationships"><Relationship Id="rId1" Type="http://schemas.openxmlformats.org/officeDocument/2006/relationships/image" Target="../media/image-16-1.png"/><Relationship Id="rId2" Type="http://schemas.openxmlformats.org/officeDocument/2006/relationships/image" Target="../media/image-16-2.png"/><Relationship Id="rId3" Type="http://schemas.openxmlformats.org/officeDocument/2006/relationships/slideLayout" Target="../slideLayouts/slideLayout1.xml"/><Relationship Id="rId4" Type="http://schemas.openxmlformats.org/officeDocument/2006/relationships/notesSlide" Target="../notesSlides/notesSlide16.xml"/></Relationships>
</file>

<file path=ppt/slides/_rels/slide17.xml.rels><?xml version="1.0" encoding="UTF-8" standalone="yes"?>
<Relationships xmlns="http://schemas.openxmlformats.org/package/2006/relationships"><Relationship Id="rId1" Type="http://schemas.openxmlformats.org/officeDocument/2006/relationships/image" Target="../media/image-17-1.jpeg"/><Relationship Id="rId2" Type="http://schemas.openxmlformats.org/officeDocument/2006/relationships/slideLayout" Target="../slideLayouts/slideLayout1.xml"/><Relationship Id="rId3" Type="http://schemas.openxmlformats.org/officeDocument/2006/relationships/notesSlide" Target="../notesSlides/notesSlide17.xml"/></Relationships>
</file>

<file path=ppt/slides/slide1.xml><?xml version="1.0" encoding="utf-8"?>
<p:sld xmlns:a="http://schemas.openxmlformats.org/drawingml/2006/main" xmlns:r="http://schemas.openxmlformats.org/officeDocument/2006/relationships" xmlns:p="http://schemas.openxmlformats.org/presentationml/2006/main">
  <p:cSld name="Slide 1">
    <p:bg>
      <p:bgPr>
        <a:solidFill>
          <a:srgbClr val="1B1F2A"/>
        </a:solidFill>
      </p:bgPr>
    </p:bg>
    <p:spTree>
      <p:nvGrpSpPr>
        <p:cNvPr id="1" name=""/>
        <p:cNvGrpSpPr/>
        <p:nvPr/>
      </p:nvGrpSpPr>
      <p:grpSpPr>
        <a:xfrm>
          <a:off x="0" y="0"/>
          <a:ext cx="0" cy="0"/>
          <a:chOff x="0" y="0"/>
          <a:chExt cx="0" cy="0"/>
        </a:xfrm>
      </p:grpSpPr>
      <p:sp>
        <p:nvSpPr>
          <p:cNvPr id="2" name="Shape 0"/>
          <p:cNvSpPr/>
          <p:nvPr/>
        </p:nvSpPr>
        <p:spPr>
          <a:xfrm>
            <a:off x="548640" y="502920"/>
            <a:ext cx="2834640" cy="1161288"/>
          </a:xfrm>
          <a:prstGeom prst="roundRect">
            <a:avLst>
              <a:gd name="adj" fmla="val 4724"/>
            </a:avLst>
          </a:prstGeom>
          <a:solidFill>
            <a:srgbClr val="FFFFFF"/>
          </a:solidFill>
          <a:ln w="12700">
            <a:solidFill>
              <a:srgbClr val="FFFFFF"/>
            </a:solidFill>
            <a:prstDash val="solid"/>
          </a:ln>
        </p:spPr>
      </p:sp>
      <p:pic>
        <p:nvPicPr>
          <p:cNvPr id="3" name="Image 0" descr="/Users/midas/Desktop/Hairfall-Thesis/thesis/final_src/assets/lincoln_logo.jpeg">    </p:cNvPr>
          <p:cNvPicPr>
            <a:picLocks noChangeAspect="1"/>
          </p:cNvPicPr>
          <p:nvPr/>
        </p:nvPicPr>
        <p:blipFill>
          <a:blip r:embed="rId1"/>
          <a:stretch>
            <a:fillRect/>
          </a:stretch>
        </p:blipFill>
        <p:spPr>
          <a:xfrm>
            <a:off x="640080" y="576072"/>
            <a:ext cx="2651760" cy="1014984"/>
          </a:xfrm>
          <a:prstGeom prst="rect">
            <a:avLst/>
          </a:prstGeom>
        </p:spPr>
      </p:pic>
      <p:sp>
        <p:nvSpPr>
          <p:cNvPr id="4" name="Text 1"/>
          <p:cNvSpPr txBox="1"/>
          <p:nvPr/>
        </p:nvSpPr>
        <p:spPr>
          <a:xfrm>
            <a:off x="548640" y="1874520"/>
            <a:ext cx="7315200" cy="365760"/>
          </a:xfrm>
          <a:prstGeom prst="rect">
            <a:avLst/>
          </a:prstGeom>
          <a:noFill/>
          <a:ln/>
        </p:spPr>
        <p:txBody>
          <a:bodyPr wrap="square" lIns="0" tIns="0" rIns="0" bIns="0" rtlCol="0" anchor="t"/>
          <a:lstStyle/>
          <a:p>
            <a:pPr indent="0" marL="0">
              <a:buNone/>
            </a:pPr>
            <a:r>
              <a:rPr lang="en-US" sz="1600" b="1" dirty="0">
                <a:solidFill>
                  <a:srgbClr val="F2A0AB"/>
                </a:solidFill>
                <a:latin typeface="Calibri" pitchFamily="34" charset="0"/>
                <a:ea typeface="Calibri" pitchFamily="34" charset="-122"/>
                <a:cs typeface="Calibri" pitchFamily="34" charset="-120"/>
              </a:rPr>
              <a:t>MCS Thesis Defence</a:t>
            </a:r>
            <a:endParaRPr lang="en-US" sz="1600" dirty="0"/>
          </a:p>
        </p:txBody>
      </p:sp>
      <p:sp>
        <p:nvSpPr>
          <p:cNvPr id="5" name="Text 2"/>
          <p:cNvSpPr txBox="1"/>
          <p:nvPr/>
        </p:nvSpPr>
        <p:spPr>
          <a:xfrm>
            <a:off x="548640" y="2286000"/>
            <a:ext cx="10424160" cy="1737360"/>
          </a:xfrm>
          <a:prstGeom prst="rect">
            <a:avLst/>
          </a:prstGeom>
          <a:noFill/>
          <a:ln/>
        </p:spPr>
        <p:txBody>
          <a:bodyPr wrap="square" lIns="0" tIns="0" rIns="0" bIns="0" rtlCol="0" anchor="t"/>
          <a:lstStyle/>
          <a:p>
            <a:pPr indent="0" marL="0">
              <a:buNone/>
            </a:pPr>
            <a:r>
              <a:rPr lang="en-US" sz="3600" b="1" dirty="0">
                <a:solidFill>
                  <a:srgbClr val="FFFFFF"/>
                </a:solidFill>
                <a:latin typeface="Cambria" pitchFamily="34" charset="0"/>
                <a:ea typeface="Cambria" pitchFamily="34" charset="-122"/>
                <a:cs typeface="Cambria" pitchFamily="34" charset="-120"/>
              </a:rPr>
              <a:t>Comparative Benchmarking of CatBoost, TabPFN and TabFM for Explainable Multi-Tier Hair Fall Risk Stratification</a:t>
            </a:r>
            <a:endParaRPr lang="en-US" sz="3600" dirty="0"/>
          </a:p>
        </p:txBody>
      </p:sp>
      <p:sp>
        <p:nvSpPr>
          <p:cNvPr id="6" name="Text 3"/>
          <p:cNvSpPr txBox="1"/>
          <p:nvPr/>
        </p:nvSpPr>
        <p:spPr>
          <a:xfrm>
            <a:off x="548640" y="4343400"/>
            <a:ext cx="10515600" cy="1645920"/>
          </a:xfrm>
          <a:prstGeom prst="rect">
            <a:avLst/>
          </a:prstGeom>
          <a:noFill/>
          <a:ln/>
        </p:spPr>
        <p:txBody>
          <a:bodyPr wrap="square" lIns="0" tIns="0" rIns="0" bIns="0" rtlCol="0" anchor="t"/>
          <a:lstStyle/>
          <a:p>
            <a:pPr indent="0" marL="0">
              <a:spcAft>
                <a:spcPts val="400"/>
              </a:spcAft>
              <a:buNone/>
            </a:pPr>
            <a:r>
              <a:rPr lang="en-US" sz="2000" b="1" dirty="0">
                <a:solidFill>
                  <a:srgbClr val="FFFFFF"/>
                </a:solidFill>
                <a:latin typeface="Calibri" pitchFamily="34" charset="0"/>
                <a:ea typeface="Calibri" pitchFamily="34" charset="-122"/>
                <a:cs typeface="Calibri" pitchFamily="34" charset="-120"/>
              </a:rPr>
              <a:t>Krishna Gautam</a:t>
            </a:r>
            <a:endParaRPr lang="en-US" sz="1500" dirty="0"/>
          </a:p>
          <a:p>
            <a:pPr indent="0" marL="0">
              <a:spcAft>
                <a:spcPts val="400"/>
              </a:spcAft>
              <a:buNone/>
            </a:pPr>
            <a:r>
              <a:rPr lang="en-US" sz="1600" dirty="0">
                <a:solidFill>
                  <a:srgbClr val="D5D8DF"/>
                </a:solidFill>
                <a:latin typeface="Calibri" pitchFamily="34" charset="0"/>
                <a:ea typeface="Calibri" pitchFamily="34" charset="-122"/>
                <a:cs typeface="Calibri" pitchFamily="34" charset="-120"/>
              </a:rPr>
              <a:t>Supervisor: Rabin Shrestha</a:t>
            </a:r>
            <a:endParaRPr lang="en-US" sz="1500" dirty="0"/>
          </a:p>
          <a:p>
            <a:pPr indent="0" marL="0">
              <a:spcAft>
                <a:spcPts val="400"/>
              </a:spcAft>
              <a:buNone/>
            </a:pPr>
            <a:r>
              <a:rPr lang="en-US" sz="1600" dirty="0">
                <a:solidFill>
                  <a:srgbClr val="D5D8DF"/>
                </a:solidFill>
                <a:latin typeface="Calibri" pitchFamily="34" charset="0"/>
                <a:ea typeface="Calibri" pitchFamily="34" charset="-122"/>
                <a:cs typeface="Calibri" pitchFamily="34" charset="-120"/>
              </a:rPr>
              <a:t>Master of Computer Science (MCS)</a:t>
            </a:r>
            <a:endParaRPr lang="en-US" sz="1500" dirty="0"/>
          </a:p>
          <a:p>
            <a:pPr indent="0" marL="0">
              <a:spcAft>
                <a:spcPts val="400"/>
              </a:spcAft>
              <a:buNone/>
            </a:pPr>
            <a:r>
              <a:rPr lang="en-US" sz="1600" dirty="0">
                <a:solidFill>
                  <a:srgbClr val="D5D8DF"/>
                </a:solidFill>
                <a:latin typeface="Calibri" pitchFamily="34" charset="0"/>
                <a:ea typeface="Calibri" pitchFamily="34" charset="-122"/>
                <a:cs typeface="Calibri" pitchFamily="34" charset="-120"/>
              </a:rPr>
              <a:t>Lincoln International College of Management &amp; IT  ·  Lincoln University College</a:t>
            </a:r>
            <a:endParaRPr lang="en-US" sz="1500" dirty="0"/>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bg>
      <p:bgPr>
        <a:solidFill>
          <a:srgbClr val="FFFFFF"/>
        </a:solidFill>
      </p:bgPr>
    </p:bg>
    <p:spTree>
      <p:nvGrpSpPr>
        <p:cNvPr id="1" name=""/>
        <p:cNvGrpSpPr/>
        <p:nvPr/>
      </p:nvGrpSpPr>
      <p:grpSpPr>
        <a:xfrm>
          <a:off x="0" y="0"/>
          <a:ext cx="0" cy="0"/>
          <a:chOff x="0" y="0"/>
          <a:chExt cx="0" cy="0"/>
        </a:xfrm>
      </p:grpSpPr>
      <p:sp>
        <p:nvSpPr>
          <p:cNvPr id="2" name="Text 0"/>
          <p:cNvSpPr txBox="1"/>
          <p:nvPr/>
        </p:nvSpPr>
        <p:spPr>
          <a:xfrm>
            <a:off x="548640" y="365760"/>
            <a:ext cx="11094415" cy="685800"/>
          </a:xfrm>
          <a:prstGeom prst="rect">
            <a:avLst/>
          </a:prstGeom>
          <a:noFill/>
          <a:ln/>
        </p:spPr>
        <p:txBody>
          <a:bodyPr wrap="square" lIns="0" tIns="0" rIns="0" bIns="0" rtlCol="0" anchor="ctr"/>
          <a:lstStyle/>
          <a:p>
            <a:pPr indent="0" marL="0">
              <a:buNone/>
            </a:pPr>
            <a:r>
              <a:rPr lang="en-US" sz="3200" b="1" dirty="0">
                <a:solidFill>
                  <a:srgbClr val="1B1F2A"/>
                </a:solidFill>
                <a:latin typeface="Cambria" pitchFamily="34" charset="0"/>
                <a:ea typeface="Cambria" pitchFamily="34" charset="-122"/>
                <a:cs typeface="Cambria" pitchFamily="34" charset="-120"/>
              </a:rPr>
              <a:t>Outline</a:t>
            </a:r>
            <a:endParaRPr lang="en-US" sz="3200" dirty="0"/>
          </a:p>
        </p:txBody>
      </p:sp>
      <p:sp>
        <p:nvSpPr>
          <p:cNvPr id="3" name="Shape 1"/>
          <p:cNvSpPr/>
          <p:nvPr/>
        </p:nvSpPr>
        <p:spPr>
          <a:xfrm>
            <a:off x="548640" y="1463040"/>
            <a:ext cx="685800" cy="685800"/>
          </a:xfrm>
          <a:prstGeom prst="ellipse">
            <a:avLst/>
          </a:prstGeom>
          <a:solidFill>
            <a:srgbClr val="C8102E"/>
          </a:solidFill>
          <a:ln w="12700">
            <a:solidFill>
              <a:srgbClr val="C8102E"/>
            </a:solidFill>
            <a:prstDash val="solid"/>
          </a:ln>
        </p:spPr>
      </p:sp>
      <p:sp>
        <p:nvSpPr>
          <p:cNvPr id="4" name="Text 2"/>
          <p:cNvSpPr txBox="1"/>
          <p:nvPr/>
        </p:nvSpPr>
        <p:spPr>
          <a:xfrm>
            <a:off x="548640" y="1463040"/>
            <a:ext cx="685800" cy="685800"/>
          </a:xfrm>
          <a:prstGeom prst="rect">
            <a:avLst/>
          </a:prstGeom>
          <a:noFill/>
          <a:ln/>
        </p:spPr>
        <p:txBody>
          <a:bodyPr wrap="square" lIns="0" tIns="0" rIns="0" bIns="0" rtlCol="0" anchor="ctr"/>
          <a:lstStyle/>
          <a:p>
            <a:pPr algn="ctr" indent="0" marL="0">
              <a:buNone/>
            </a:pPr>
            <a:r>
              <a:rPr lang="en-US" sz="2200" b="1" dirty="0">
                <a:solidFill>
                  <a:srgbClr val="FFFFFF"/>
                </a:solidFill>
                <a:latin typeface="Cambria" pitchFamily="34" charset="0"/>
                <a:ea typeface="Cambria" pitchFamily="34" charset="-122"/>
                <a:cs typeface="Cambria" pitchFamily="34" charset="-120"/>
              </a:rPr>
              <a:t>1</a:t>
            </a:r>
            <a:endParaRPr lang="en-US" sz="2200" dirty="0"/>
          </a:p>
        </p:txBody>
      </p:sp>
      <p:sp>
        <p:nvSpPr>
          <p:cNvPr id="5" name="Text 3"/>
          <p:cNvSpPr txBox="1"/>
          <p:nvPr/>
        </p:nvSpPr>
        <p:spPr>
          <a:xfrm>
            <a:off x="1463040" y="1463040"/>
            <a:ext cx="4480560" cy="685800"/>
          </a:xfrm>
          <a:prstGeom prst="rect">
            <a:avLst/>
          </a:prstGeom>
          <a:noFill/>
          <a:ln/>
        </p:spPr>
        <p:txBody>
          <a:bodyPr wrap="square" lIns="0" tIns="0" rIns="0" bIns="0" rtlCol="0" anchor="ctr"/>
          <a:lstStyle/>
          <a:p>
            <a:pPr indent="0" marL="0">
              <a:buNone/>
            </a:pPr>
            <a:r>
              <a:rPr lang="en-US" sz="2000" dirty="0">
                <a:solidFill>
                  <a:srgbClr val="1B1F2A"/>
                </a:solidFill>
                <a:latin typeface="Calibri" pitchFamily="34" charset="0"/>
                <a:ea typeface="Calibri" pitchFamily="34" charset="-122"/>
                <a:cs typeface="Calibri" pitchFamily="34" charset="-120"/>
              </a:rPr>
              <a:t>Background &amp; problem</a:t>
            </a:r>
            <a:endParaRPr lang="en-US" sz="2000" dirty="0"/>
          </a:p>
        </p:txBody>
      </p:sp>
      <p:sp>
        <p:nvSpPr>
          <p:cNvPr id="6" name="Shape 4"/>
          <p:cNvSpPr/>
          <p:nvPr/>
        </p:nvSpPr>
        <p:spPr>
          <a:xfrm>
            <a:off x="548640" y="2651760"/>
            <a:ext cx="685800" cy="685800"/>
          </a:xfrm>
          <a:prstGeom prst="ellipse">
            <a:avLst/>
          </a:prstGeom>
          <a:solidFill>
            <a:srgbClr val="1B1F2A"/>
          </a:solidFill>
          <a:ln w="12700">
            <a:solidFill>
              <a:srgbClr val="1B1F2A"/>
            </a:solidFill>
            <a:prstDash val="solid"/>
          </a:ln>
        </p:spPr>
      </p:sp>
      <p:sp>
        <p:nvSpPr>
          <p:cNvPr id="7" name="Text 5"/>
          <p:cNvSpPr txBox="1"/>
          <p:nvPr/>
        </p:nvSpPr>
        <p:spPr>
          <a:xfrm>
            <a:off x="548640" y="2651760"/>
            <a:ext cx="685800" cy="685800"/>
          </a:xfrm>
          <a:prstGeom prst="rect">
            <a:avLst/>
          </a:prstGeom>
          <a:noFill/>
          <a:ln/>
        </p:spPr>
        <p:txBody>
          <a:bodyPr wrap="square" lIns="0" tIns="0" rIns="0" bIns="0" rtlCol="0" anchor="ctr"/>
          <a:lstStyle/>
          <a:p>
            <a:pPr algn="ctr" indent="0" marL="0">
              <a:buNone/>
            </a:pPr>
            <a:r>
              <a:rPr lang="en-US" sz="2200" b="1" dirty="0">
                <a:solidFill>
                  <a:srgbClr val="FFFFFF"/>
                </a:solidFill>
                <a:latin typeface="Cambria" pitchFamily="34" charset="0"/>
                <a:ea typeface="Cambria" pitchFamily="34" charset="-122"/>
                <a:cs typeface="Cambria" pitchFamily="34" charset="-120"/>
              </a:rPr>
              <a:t>2</a:t>
            </a:r>
            <a:endParaRPr lang="en-US" sz="2200" dirty="0"/>
          </a:p>
        </p:txBody>
      </p:sp>
      <p:sp>
        <p:nvSpPr>
          <p:cNvPr id="8" name="Text 6"/>
          <p:cNvSpPr txBox="1"/>
          <p:nvPr/>
        </p:nvSpPr>
        <p:spPr>
          <a:xfrm>
            <a:off x="1463040" y="2651760"/>
            <a:ext cx="4480560" cy="685800"/>
          </a:xfrm>
          <a:prstGeom prst="rect">
            <a:avLst/>
          </a:prstGeom>
          <a:noFill/>
          <a:ln/>
        </p:spPr>
        <p:txBody>
          <a:bodyPr wrap="square" lIns="0" tIns="0" rIns="0" bIns="0" rtlCol="0" anchor="ctr"/>
          <a:lstStyle/>
          <a:p>
            <a:pPr indent="0" marL="0">
              <a:buNone/>
            </a:pPr>
            <a:r>
              <a:rPr lang="en-US" sz="2000" dirty="0">
                <a:solidFill>
                  <a:srgbClr val="1B1F2A"/>
                </a:solidFill>
                <a:latin typeface="Calibri" pitchFamily="34" charset="0"/>
                <a:ea typeface="Calibri" pitchFamily="34" charset="-122"/>
                <a:cs typeface="Calibri" pitchFamily="34" charset="-120"/>
              </a:rPr>
              <a:t>Research questions &amp; objectives</a:t>
            </a:r>
            <a:endParaRPr lang="en-US" sz="2000" dirty="0"/>
          </a:p>
        </p:txBody>
      </p:sp>
      <p:sp>
        <p:nvSpPr>
          <p:cNvPr id="9" name="Shape 7"/>
          <p:cNvSpPr/>
          <p:nvPr/>
        </p:nvSpPr>
        <p:spPr>
          <a:xfrm>
            <a:off x="548640" y="3840480"/>
            <a:ext cx="685800" cy="685800"/>
          </a:xfrm>
          <a:prstGeom prst="ellipse">
            <a:avLst/>
          </a:prstGeom>
          <a:solidFill>
            <a:srgbClr val="1B1F2A"/>
          </a:solidFill>
          <a:ln w="12700">
            <a:solidFill>
              <a:srgbClr val="1B1F2A"/>
            </a:solidFill>
            <a:prstDash val="solid"/>
          </a:ln>
        </p:spPr>
      </p:sp>
      <p:sp>
        <p:nvSpPr>
          <p:cNvPr id="10" name="Text 8"/>
          <p:cNvSpPr txBox="1"/>
          <p:nvPr/>
        </p:nvSpPr>
        <p:spPr>
          <a:xfrm>
            <a:off x="548640" y="3840480"/>
            <a:ext cx="685800" cy="685800"/>
          </a:xfrm>
          <a:prstGeom prst="rect">
            <a:avLst/>
          </a:prstGeom>
          <a:noFill/>
          <a:ln/>
        </p:spPr>
        <p:txBody>
          <a:bodyPr wrap="square" lIns="0" tIns="0" rIns="0" bIns="0" rtlCol="0" anchor="ctr"/>
          <a:lstStyle/>
          <a:p>
            <a:pPr algn="ctr" indent="0" marL="0">
              <a:buNone/>
            </a:pPr>
            <a:r>
              <a:rPr lang="en-US" sz="2200" b="1" dirty="0">
                <a:solidFill>
                  <a:srgbClr val="FFFFFF"/>
                </a:solidFill>
                <a:latin typeface="Cambria" pitchFamily="34" charset="0"/>
                <a:ea typeface="Cambria" pitchFamily="34" charset="-122"/>
                <a:cs typeface="Cambria" pitchFamily="34" charset="-120"/>
              </a:rPr>
              <a:t>3</a:t>
            </a:r>
            <a:endParaRPr lang="en-US" sz="2200" dirty="0"/>
          </a:p>
        </p:txBody>
      </p:sp>
      <p:sp>
        <p:nvSpPr>
          <p:cNvPr id="11" name="Text 9"/>
          <p:cNvSpPr txBox="1"/>
          <p:nvPr/>
        </p:nvSpPr>
        <p:spPr>
          <a:xfrm>
            <a:off x="1463040" y="3840480"/>
            <a:ext cx="4480560" cy="685800"/>
          </a:xfrm>
          <a:prstGeom prst="rect">
            <a:avLst/>
          </a:prstGeom>
          <a:noFill/>
          <a:ln/>
        </p:spPr>
        <p:txBody>
          <a:bodyPr wrap="square" lIns="0" tIns="0" rIns="0" bIns="0" rtlCol="0" anchor="ctr"/>
          <a:lstStyle/>
          <a:p>
            <a:pPr indent="0" marL="0">
              <a:buNone/>
            </a:pPr>
            <a:r>
              <a:rPr lang="en-US" sz="2000" dirty="0">
                <a:solidFill>
                  <a:srgbClr val="1B1F2A"/>
                </a:solidFill>
                <a:latin typeface="Calibri" pitchFamily="34" charset="0"/>
                <a:ea typeface="Calibri" pitchFamily="34" charset="-122"/>
                <a:cs typeface="Calibri" pitchFamily="34" charset="-120"/>
              </a:rPr>
              <a:t>Literature gap</a:t>
            </a:r>
            <a:endParaRPr lang="en-US" sz="2000" dirty="0"/>
          </a:p>
        </p:txBody>
      </p:sp>
      <p:sp>
        <p:nvSpPr>
          <p:cNvPr id="12" name="Shape 10"/>
          <p:cNvSpPr/>
          <p:nvPr/>
        </p:nvSpPr>
        <p:spPr>
          <a:xfrm>
            <a:off x="548640" y="5029200"/>
            <a:ext cx="685800" cy="685800"/>
          </a:xfrm>
          <a:prstGeom prst="ellipse">
            <a:avLst/>
          </a:prstGeom>
          <a:solidFill>
            <a:srgbClr val="1B1F2A"/>
          </a:solidFill>
          <a:ln w="12700">
            <a:solidFill>
              <a:srgbClr val="1B1F2A"/>
            </a:solidFill>
            <a:prstDash val="solid"/>
          </a:ln>
        </p:spPr>
      </p:sp>
      <p:sp>
        <p:nvSpPr>
          <p:cNvPr id="13" name="Text 11"/>
          <p:cNvSpPr txBox="1"/>
          <p:nvPr/>
        </p:nvSpPr>
        <p:spPr>
          <a:xfrm>
            <a:off x="548640" y="5029200"/>
            <a:ext cx="685800" cy="685800"/>
          </a:xfrm>
          <a:prstGeom prst="rect">
            <a:avLst/>
          </a:prstGeom>
          <a:noFill/>
          <a:ln/>
        </p:spPr>
        <p:txBody>
          <a:bodyPr wrap="square" lIns="0" tIns="0" rIns="0" bIns="0" rtlCol="0" anchor="ctr"/>
          <a:lstStyle/>
          <a:p>
            <a:pPr algn="ctr" indent="0" marL="0">
              <a:buNone/>
            </a:pPr>
            <a:r>
              <a:rPr lang="en-US" sz="2200" b="1" dirty="0">
                <a:solidFill>
                  <a:srgbClr val="FFFFFF"/>
                </a:solidFill>
                <a:latin typeface="Cambria" pitchFamily="34" charset="0"/>
                <a:ea typeface="Cambria" pitchFamily="34" charset="-122"/>
                <a:cs typeface="Cambria" pitchFamily="34" charset="-120"/>
              </a:rPr>
              <a:t>4</a:t>
            </a:r>
            <a:endParaRPr lang="en-US" sz="2200" dirty="0"/>
          </a:p>
        </p:txBody>
      </p:sp>
      <p:sp>
        <p:nvSpPr>
          <p:cNvPr id="14" name="Text 12"/>
          <p:cNvSpPr txBox="1"/>
          <p:nvPr/>
        </p:nvSpPr>
        <p:spPr>
          <a:xfrm>
            <a:off x="1463040" y="5029200"/>
            <a:ext cx="4480560" cy="685800"/>
          </a:xfrm>
          <a:prstGeom prst="rect">
            <a:avLst/>
          </a:prstGeom>
          <a:noFill/>
          <a:ln/>
        </p:spPr>
        <p:txBody>
          <a:bodyPr wrap="square" lIns="0" tIns="0" rIns="0" bIns="0" rtlCol="0" anchor="ctr"/>
          <a:lstStyle/>
          <a:p>
            <a:pPr indent="0" marL="0">
              <a:buNone/>
            </a:pPr>
            <a:r>
              <a:rPr lang="en-US" sz="2000" dirty="0">
                <a:solidFill>
                  <a:srgbClr val="1B1F2A"/>
                </a:solidFill>
                <a:latin typeface="Calibri" pitchFamily="34" charset="0"/>
                <a:ea typeface="Calibri" pitchFamily="34" charset="-122"/>
                <a:cs typeface="Calibri" pitchFamily="34" charset="-120"/>
              </a:rPr>
              <a:t>Methodology &amp; data</a:t>
            </a:r>
            <a:endParaRPr lang="en-US" sz="2000" dirty="0"/>
          </a:p>
        </p:txBody>
      </p:sp>
      <p:sp>
        <p:nvSpPr>
          <p:cNvPr id="15" name="Shape 13"/>
          <p:cNvSpPr/>
          <p:nvPr/>
        </p:nvSpPr>
        <p:spPr>
          <a:xfrm>
            <a:off x="6217920" y="1463040"/>
            <a:ext cx="685800" cy="685800"/>
          </a:xfrm>
          <a:prstGeom prst="ellipse">
            <a:avLst/>
          </a:prstGeom>
          <a:solidFill>
            <a:srgbClr val="1B1F2A"/>
          </a:solidFill>
          <a:ln w="12700">
            <a:solidFill>
              <a:srgbClr val="1B1F2A"/>
            </a:solidFill>
            <a:prstDash val="solid"/>
          </a:ln>
        </p:spPr>
      </p:sp>
      <p:sp>
        <p:nvSpPr>
          <p:cNvPr id="16" name="Text 14"/>
          <p:cNvSpPr txBox="1"/>
          <p:nvPr/>
        </p:nvSpPr>
        <p:spPr>
          <a:xfrm>
            <a:off x="6217920" y="1463040"/>
            <a:ext cx="685800" cy="685800"/>
          </a:xfrm>
          <a:prstGeom prst="rect">
            <a:avLst/>
          </a:prstGeom>
          <a:noFill/>
          <a:ln/>
        </p:spPr>
        <p:txBody>
          <a:bodyPr wrap="square" lIns="0" tIns="0" rIns="0" bIns="0" rtlCol="0" anchor="ctr"/>
          <a:lstStyle/>
          <a:p>
            <a:pPr algn="ctr" indent="0" marL="0">
              <a:buNone/>
            </a:pPr>
            <a:r>
              <a:rPr lang="en-US" sz="2200" b="1" dirty="0">
                <a:solidFill>
                  <a:srgbClr val="FFFFFF"/>
                </a:solidFill>
                <a:latin typeface="Cambria" pitchFamily="34" charset="0"/>
                <a:ea typeface="Cambria" pitchFamily="34" charset="-122"/>
                <a:cs typeface="Cambria" pitchFamily="34" charset="-120"/>
              </a:rPr>
              <a:t>5</a:t>
            </a:r>
            <a:endParaRPr lang="en-US" sz="2200" dirty="0"/>
          </a:p>
        </p:txBody>
      </p:sp>
      <p:sp>
        <p:nvSpPr>
          <p:cNvPr id="17" name="Text 15"/>
          <p:cNvSpPr txBox="1"/>
          <p:nvPr/>
        </p:nvSpPr>
        <p:spPr>
          <a:xfrm>
            <a:off x="7132320" y="1463040"/>
            <a:ext cx="4480560" cy="685800"/>
          </a:xfrm>
          <a:prstGeom prst="rect">
            <a:avLst/>
          </a:prstGeom>
          <a:noFill/>
          <a:ln/>
        </p:spPr>
        <p:txBody>
          <a:bodyPr wrap="square" lIns="0" tIns="0" rIns="0" bIns="0" rtlCol="0" anchor="ctr"/>
          <a:lstStyle/>
          <a:p>
            <a:pPr indent="0" marL="0">
              <a:buNone/>
            </a:pPr>
            <a:r>
              <a:rPr lang="en-US" sz="2000" dirty="0">
                <a:solidFill>
                  <a:srgbClr val="1B1F2A"/>
                </a:solidFill>
                <a:latin typeface="Calibri" pitchFamily="34" charset="0"/>
                <a:ea typeface="Calibri" pitchFamily="34" charset="-122"/>
                <a:cs typeface="Calibri" pitchFamily="34" charset="-120"/>
              </a:rPr>
              <a:t>Results</a:t>
            </a:r>
            <a:endParaRPr lang="en-US" sz="2000" dirty="0"/>
          </a:p>
        </p:txBody>
      </p:sp>
      <p:sp>
        <p:nvSpPr>
          <p:cNvPr id="18" name="Shape 16"/>
          <p:cNvSpPr/>
          <p:nvPr/>
        </p:nvSpPr>
        <p:spPr>
          <a:xfrm>
            <a:off x="6217920" y="2651760"/>
            <a:ext cx="685800" cy="685800"/>
          </a:xfrm>
          <a:prstGeom prst="ellipse">
            <a:avLst/>
          </a:prstGeom>
          <a:solidFill>
            <a:srgbClr val="1B1F2A"/>
          </a:solidFill>
          <a:ln w="12700">
            <a:solidFill>
              <a:srgbClr val="1B1F2A"/>
            </a:solidFill>
            <a:prstDash val="solid"/>
          </a:ln>
        </p:spPr>
      </p:sp>
      <p:sp>
        <p:nvSpPr>
          <p:cNvPr id="19" name="Text 17"/>
          <p:cNvSpPr txBox="1"/>
          <p:nvPr/>
        </p:nvSpPr>
        <p:spPr>
          <a:xfrm>
            <a:off x="6217920" y="2651760"/>
            <a:ext cx="685800" cy="685800"/>
          </a:xfrm>
          <a:prstGeom prst="rect">
            <a:avLst/>
          </a:prstGeom>
          <a:noFill/>
          <a:ln/>
        </p:spPr>
        <p:txBody>
          <a:bodyPr wrap="square" lIns="0" tIns="0" rIns="0" bIns="0" rtlCol="0" anchor="ctr"/>
          <a:lstStyle/>
          <a:p>
            <a:pPr algn="ctr" indent="0" marL="0">
              <a:buNone/>
            </a:pPr>
            <a:r>
              <a:rPr lang="en-US" sz="2200" b="1" dirty="0">
                <a:solidFill>
                  <a:srgbClr val="FFFFFF"/>
                </a:solidFill>
                <a:latin typeface="Cambria" pitchFamily="34" charset="0"/>
                <a:ea typeface="Cambria" pitchFamily="34" charset="-122"/>
                <a:cs typeface="Cambria" pitchFamily="34" charset="-120"/>
              </a:rPr>
              <a:t>6</a:t>
            </a:r>
            <a:endParaRPr lang="en-US" sz="2200" dirty="0"/>
          </a:p>
        </p:txBody>
      </p:sp>
      <p:sp>
        <p:nvSpPr>
          <p:cNvPr id="20" name="Text 18"/>
          <p:cNvSpPr txBox="1"/>
          <p:nvPr/>
        </p:nvSpPr>
        <p:spPr>
          <a:xfrm>
            <a:off x="7132320" y="2651760"/>
            <a:ext cx="4480560" cy="685800"/>
          </a:xfrm>
          <a:prstGeom prst="rect">
            <a:avLst/>
          </a:prstGeom>
          <a:noFill/>
          <a:ln/>
        </p:spPr>
        <p:txBody>
          <a:bodyPr wrap="square" lIns="0" tIns="0" rIns="0" bIns="0" rtlCol="0" anchor="ctr"/>
          <a:lstStyle/>
          <a:p>
            <a:pPr indent="0" marL="0">
              <a:buNone/>
            </a:pPr>
            <a:r>
              <a:rPr lang="en-US" sz="2000" dirty="0">
                <a:solidFill>
                  <a:srgbClr val="1B1F2A"/>
                </a:solidFill>
                <a:latin typeface="Calibri" pitchFamily="34" charset="0"/>
                <a:ea typeface="Calibri" pitchFamily="34" charset="-122"/>
                <a:cs typeface="Calibri" pitchFamily="34" charset="-120"/>
              </a:rPr>
              <a:t>Explainability (SHAP)</a:t>
            </a:r>
            <a:endParaRPr lang="en-US" sz="2000" dirty="0"/>
          </a:p>
        </p:txBody>
      </p:sp>
      <p:sp>
        <p:nvSpPr>
          <p:cNvPr id="21" name="Shape 19"/>
          <p:cNvSpPr/>
          <p:nvPr/>
        </p:nvSpPr>
        <p:spPr>
          <a:xfrm>
            <a:off x="6217920" y="3840480"/>
            <a:ext cx="685800" cy="685800"/>
          </a:xfrm>
          <a:prstGeom prst="ellipse">
            <a:avLst/>
          </a:prstGeom>
          <a:solidFill>
            <a:srgbClr val="1B1F2A"/>
          </a:solidFill>
          <a:ln w="12700">
            <a:solidFill>
              <a:srgbClr val="1B1F2A"/>
            </a:solidFill>
            <a:prstDash val="solid"/>
          </a:ln>
        </p:spPr>
      </p:sp>
      <p:sp>
        <p:nvSpPr>
          <p:cNvPr id="22" name="Text 20"/>
          <p:cNvSpPr txBox="1"/>
          <p:nvPr/>
        </p:nvSpPr>
        <p:spPr>
          <a:xfrm>
            <a:off x="6217920" y="3840480"/>
            <a:ext cx="685800" cy="685800"/>
          </a:xfrm>
          <a:prstGeom prst="rect">
            <a:avLst/>
          </a:prstGeom>
          <a:noFill/>
          <a:ln/>
        </p:spPr>
        <p:txBody>
          <a:bodyPr wrap="square" lIns="0" tIns="0" rIns="0" bIns="0" rtlCol="0" anchor="ctr"/>
          <a:lstStyle/>
          <a:p>
            <a:pPr algn="ctr" indent="0" marL="0">
              <a:buNone/>
            </a:pPr>
            <a:r>
              <a:rPr lang="en-US" sz="2200" b="1" dirty="0">
                <a:solidFill>
                  <a:srgbClr val="FFFFFF"/>
                </a:solidFill>
                <a:latin typeface="Cambria" pitchFamily="34" charset="0"/>
                <a:ea typeface="Cambria" pitchFamily="34" charset="-122"/>
                <a:cs typeface="Cambria" pitchFamily="34" charset="-120"/>
              </a:rPr>
              <a:t>7</a:t>
            </a:r>
            <a:endParaRPr lang="en-US" sz="2200" dirty="0"/>
          </a:p>
        </p:txBody>
      </p:sp>
      <p:sp>
        <p:nvSpPr>
          <p:cNvPr id="23" name="Text 21"/>
          <p:cNvSpPr txBox="1"/>
          <p:nvPr/>
        </p:nvSpPr>
        <p:spPr>
          <a:xfrm>
            <a:off x="7132320" y="3840480"/>
            <a:ext cx="4480560" cy="685800"/>
          </a:xfrm>
          <a:prstGeom prst="rect">
            <a:avLst/>
          </a:prstGeom>
          <a:noFill/>
          <a:ln/>
        </p:spPr>
        <p:txBody>
          <a:bodyPr wrap="square" lIns="0" tIns="0" rIns="0" bIns="0" rtlCol="0" anchor="ctr"/>
          <a:lstStyle/>
          <a:p>
            <a:pPr indent="0" marL="0">
              <a:buNone/>
            </a:pPr>
            <a:r>
              <a:rPr lang="en-US" sz="2000" dirty="0">
                <a:solidFill>
                  <a:srgbClr val="1B1F2A"/>
                </a:solidFill>
                <a:latin typeface="Calibri" pitchFamily="34" charset="0"/>
                <a:ea typeface="Calibri" pitchFamily="34" charset="-122"/>
                <a:cs typeface="Calibri" pitchFamily="34" charset="-120"/>
              </a:rPr>
              <a:t>Practical costs</a:t>
            </a:r>
            <a:endParaRPr lang="en-US" sz="2000" dirty="0"/>
          </a:p>
        </p:txBody>
      </p:sp>
      <p:sp>
        <p:nvSpPr>
          <p:cNvPr id="24" name="Shape 22"/>
          <p:cNvSpPr/>
          <p:nvPr/>
        </p:nvSpPr>
        <p:spPr>
          <a:xfrm>
            <a:off x="6217920" y="5029200"/>
            <a:ext cx="685800" cy="685800"/>
          </a:xfrm>
          <a:prstGeom prst="ellipse">
            <a:avLst/>
          </a:prstGeom>
          <a:solidFill>
            <a:srgbClr val="1B1F2A"/>
          </a:solidFill>
          <a:ln w="12700">
            <a:solidFill>
              <a:srgbClr val="1B1F2A"/>
            </a:solidFill>
            <a:prstDash val="solid"/>
          </a:ln>
        </p:spPr>
      </p:sp>
      <p:sp>
        <p:nvSpPr>
          <p:cNvPr id="25" name="Text 23"/>
          <p:cNvSpPr txBox="1"/>
          <p:nvPr/>
        </p:nvSpPr>
        <p:spPr>
          <a:xfrm>
            <a:off x="6217920" y="5029200"/>
            <a:ext cx="685800" cy="685800"/>
          </a:xfrm>
          <a:prstGeom prst="rect">
            <a:avLst/>
          </a:prstGeom>
          <a:noFill/>
          <a:ln/>
        </p:spPr>
        <p:txBody>
          <a:bodyPr wrap="square" lIns="0" tIns="0" rIns="0" bIns="0" rtlCol="0" anchor="ctr"/>
          <a:lstStyle/>
          <a:p>
            <a:pPr algn="ctr" indent="0" marL="0">
              <a:buNone/>
            </a:pPr>
            <a:r>
              <a:rPr lang="en-US" sz="2200" b="1" dirty="0">
                <a:solidFill>
                  <a:srgbClr val="FFFFFF"/>
                </a:solidFill>
                <a:latin typeface="Cambria" pitchFamily="34" charset="0"/>
                <a:ea typeface="Cambria" pitchFamily="34" charset="-122"/>
                <a:cs typeface="Cambria" pitchFamily="34" charset="-120"/>
              </a:rPr>
              <a:t>8</a:t>
            </a:r>
            <a:endParaRPr lang="en-US" sz="2200" dirty="0"/>
          </a:p>
        </p:txBody>
      </p:sp>
      <p:sp>
        <p:nvSpPr>
          <p:cNvPr id="26" name="Text 24"/>
          <p:cNvSpPr txBox="1"/>
          <p:nvPr/>
        </p:nvSpPr>
        <p:spPr>
          <a:xfrm>
            <a:off x="7132320" y="5029200"/>
            <a:ext cx="4480560" cy="685800"/>
          </a:xfrm>
          <a:prstGeom prst="rect">
            <a:avLst/>
          </a:prstGeom>
          <a:noFill/>
          <a:ln/>
        </p:spPr>
        <p:txBody>
          <a:bodyPr wrap="square" lIns="0" tIns="0" rIns="0" bIns="0" rtlCol="0" anchor="ctr"/>
          <a:lstStyle/>
          <a:p>
            <a:pPr indent="0" marL="0">
              <a:buNone/>
            </a:pPr>
            <a:r>
              <a:rPr lang="en-US" sz="2000" dirty="0">
                <a:solidFill>
                  <a:srgbClr val="1B1F2A"/>
                </a:solidFill>
                <a:latin typeface="Calibri" pitchFamily="34" charset="0"/>
                <a:ea typeface="Calibri" pitchFamily="34" charset="-122"/>
                <a:cs typeface="Calibri" pitchFamily="34" charset="-120"/>
              </a:rPr>
              <a:t>Conclusion &amp; future work</a:t>
            </a:r>
            <a:endParaRPr lang="en-US" sz="2000" dirty="0"/>
          </a:p>
        </p:txBody>
      </p:sp>
      <p:sp>
        <p:nvSpPr>
          <p:cNvPr id="25" name="Slide Number Placeholder 0"/>
          <p:cNvSpPr>
            <a:spLocks noGrp="1"/>
          </p:cNvSpPr>
          <p:nvPr>
            <p:ph type="sldNum" sz="quarter" idx="4294967295"/>
          </p:nvPr>
        </p:nvSpPr>
        <p:spPr>
          <a:xfrm>
            <a:off x="11368735" y="6446520"/>
            <a:ext cx="457200" cy="274320"/>
          </a:xfrm>
          <a:prstGeom prst="rect">
            <a:avLst/>
          </a:prstGeom>
          <a:extLst>
            <a:ext uri="{C572A759-6A51-4108-AA02-DFA0A04FC94B}">
              <ma14:wrappingTextBoxFlag xmlns:ma14="http://schemas.microsoft.com/office/mac/drawingml/2011/main" val="0"/>
            </a:ext>
          </a:extLst>
        </p:spPr>
        <p:txBody>
          <a:bodyPr/>
          <a:lstStyle>
            <a:lvl1pPr>
              <a:defRPr sz="1000">
                <a:solidFill>
                  <a:srgbClr val="5B6170"/>
                </a:solidFill>
                <a:latin typeface="Calibri"/>
                <a:ea typeface="Calibri"/>
                <a:cs typeface="Calibri"/>
              </a:defRPr>
            </a:lvl1pPr>
          </a:lstStyle>
          <a:p>
            <a:pPr algn="r"/>
            <a:fld id="{F7021451-1387-4CA6-816F-3879F97B5CBC}" type="slidenum">
              <a:rPr b="0" lang="en-US"/>
              <a:t>2</a:t>
            </a:fld>
            <a:endParaRPr lang="en-US"/>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bg>
      <p:bgPr>
        <a:solidFill>
          <a:srgbClr val="FFFFFF"/>
        </a:solidFill>
      </p:bgPr>
    </p:bg>
    <p:spTree>
      <p:nvGrpSpPr>
        <p:cNvPr id="1" name=""/>
        <p:cNvGrpSpPr/>
        <p:nvPr/>
      </p:nvGrpSpPr>
      <p:grpSpPr>
        <a:xfrm>
          <a:off x="0" y="0"/>
          <a:ext cx="0" cy="0"/>
          <a:chOff x="0" y="0"/>
          <a:chExt cx="0" cy="0"/>
        </a:xfrm>
      </p:grpSpPr>
      <p:sp>
        <p:nvSpPr>
          <p:cNvPr id="2" name="Text 0"/>
          <p:cNvSpPr txBox="1"/>
          <p:nvPr/>
        </p:nvSpPr>
        <p:spPr>
          <a:xfrm>
            <a:off x="548640" y="365760"/>
            <a:ext cx="11094415" cy="685800"/>
          </a:xfrm>
          <a:prstGeom prst="rect">
            <a:avLst/>
          </a:prstGeom>
          <a:noFill/>
          <a:ln/>
        </p:spPr>
        <p:txBody>
          <a:bodyPr wrap="square" lIns="0" tIns="0" rIns="0" bIns="0" rtlCol="0" anchor="ctr"/>
          <a:lstStyle/>
          <a:p>
            <a:pPr indent="0" marL="0">
              <a:buNone/>
            </a:pPr>
            <a:r>
              <a:rPr lang="en-US" sz="3200" b="1" dirty="0">
                <a:solidFill>
                  <a:srgbClr val="1B1F2A"/>
                </a:solidFill>
                <a:latin typeface="Cambria" pitchFamily="34" charset="0"/>
                <a:ea typeface="Cambria" pitchFamily="34" charset="-122"/>
                <a:cs typeface="Cambria" pitchFamily="34" charset="-120"/>
              </a:rPr>
              <a:t>Why hair fall risk?</a:t>
            </a:r>
            <a:endParaRPr lang="en-US" sz="3200" dirty="0"/>
          </a:p>
        </p:txBody>
      </p:sp>
      <p:sp>
        <p:nvSpPr>
          <p:cNvPr id="3" name="Text 1"/>
          <p:cNvSpPr txBox="1"/>
          <p:nvPr/>
        </p:nvSpPr>
        <p:spPr>
          <a:xfrm>
            <a:off x="548640" y="1024128"/>
            <a:ext cx="11094415" cy="365760"/>
          </a:xfrm>
          <a:prstGeom prst="rect">
            <a:avLst/>
          </a:prstGeom>
          <a:noFill/>
          <a:ln/>
        </p:spPr>
        <p:txBody>
          <a:bodyPr wrap="square" lIns="0" tIns="0" rIns="0" bIns="0" rtlCol="0" anchor="ctr"/>
          <a:lstStyle/>
          <a:p>
            <a:pPr indent="0" marL="0">
              <a:buNone/>
            </a:pPr>
            <a:r>
              <a:rPr lang="en-US" sz="1500" i="1" dirty="0">
                <a:solidFill>
                  <a:srgbClr val="5B6170"/>
                </a:solidFill>
                <a:latin typeface="Calibri" pitchFamily="34" charset="0"/>
                <a:ea typeface="Calibri" pitchFamily="34" charset="-122"/>
                <a:cs typeface="Calibri" pitchFamily="34" charset="-120"/>
              </a:rPr>
              <a:t>Many small factors add up — no single test predicts it</a:t>
            </a:r>
            <a:endParaRPr lang="en-US" sz="1500" dirty="0"/>
          </a:p>
        </p:txBody>
      </p:sp>
      <p:sp>
        <p:nvSpPr>
          <p:cNvPr id="4" name="Shape 2"/>
          <p:cNvSpPr/>
          <p:nvPr/>
        </p:nvSpPr>
        <p:spPr>
          <a:xfrm>
            <a:off x="548640" y="1645920"/>
            <a:ext cx="640080" cy="640080"/>
          </a:xfrm>
          <a:prstGeom prst="ellipse">
            <a:avLst/>
          </a:prstGeom>
          <a:solidFill>
            <a:srgbClr val="C8102E"/>
          </a:solidFill>
          <a:ln w="12700">
            <a:solidFill>
              <a:srgbClr val="C8102E"/>
            </a:solidFill>
            <a:prstDash val="solid"/>
          </a:ln>
        </p:spPr>
      </p:sp>
      <p:pic>
        <p:nvPicPr>
          <p:cNvPr id="5" name="Image 0" descr="preencoded.png">    </p:cNvPr>
          <p:cNvPicPr>
            <a:picLocks noChangeAspect="1"/>
          </p:cNvPicPr>
          <p:nvPr/>
        </p:nvPicPr>
        <p:blipFill>
          <a:blip r:embed="rId1"/>
          <a:stretch>
            <a:fillRect/>
          </a:stretch>
        </p:blipFill>
        <p:spPr>
          <a:xfrm>
            <a:off x="715061" y="1812341"/>
            <a:ext cx="307238" cy="307238"/>
          </a:xfrm>
          <a:prstGeom prst="rect">
            <a:avLst/>
          </a:prstGeom>
        </p:spPr>
      </p:pic>
      <p:sp>
        <p:nvSpPr>
          <p:cNvPr id="6" name="Text 3"/>
          <p:cNvSpPr txBox="1"/>
          <p:nvPr/>
        </p:nvSpPr>
        <p:spPr>
          <a:xfrm>
            <a:off x="1417320" y="1627632"/>
            <a:ext cx="4754880" cy="347472"/>
          </a:xfrm>
          <a:prstGeom prst="rect">
            <a:avLst/>
          </a:prstGeom>
          <a:noFill/>
          <a:ln/>
        </p:spPr>
        <p:txBody>
          <a:bodyPr wrap="square" lIns="0" tIns="0" rIns="0" bIns="0" rtlCol="0" anchor="t"/>
          <a:lstStyle/>
          <a:p>
            <a:pPr indent="0" marL="0">
              <a:buNone/>
            </a:pPr>
            <a:r>
              <a:rPr lang="en-US" sz="1800" b="1" dirty="0">
                <a:solidFill>
                  <a:srgbClr val="1B1F2A"/>
                </a:solidFill>
                <a:latin typeface="Calibri" pitchFamily="34" charset="0"/>
                <a:ea typeface="Calibri" pitchFamily="34" charset="-122"/>
                <a:cs typeface="Calibri" pitchFamily="34" charset="-120"/>
              </a:rPr>
              <a:t>Nutrition</a:t>
            </a:r>
            <a:endParaRPr lang="en-US" sz="1800" dirty="0"/>
          </a:p>
        </p:txBody>
      </p:sp>
      <p:sp>
        <p:nvSpPr>
          <p:cNvPr id="7" name="Text 4"/>
          <p:cNvSpPr txBox="1"/>
          <p:nvPr/>
        </p:nvSpPr>
        <p:spPr>
          <a:xfrm>
            <a:off x="1417320" y="1975104"/>
            <a:ext cx="4754880" cy="320040"/>
          </a:xfrm>
          <a:prstGeom prst="rect">
            <a:avLst/>
          </a:prstGeom>
          <a:noFill/>
          <a:ln/>
        </p:spPr>
        <p:txBody>
          <a:bodyPr wrap="square" lIns="0" tIns="0" rIns="0" bIns="0" rtlCol="0" anchor="t"/>
          <a:lstStyle/>
          <a:p>
            <a:pPr indent="0" marL="0">
              <a:buNone/>
            </a:pPr>
            <a:r>
              <a:rPr lang="en-US" sz="1400" dirty="0">
                <a:solidFill>
                  <a:srgbClr val="5B6170"/>
                </a:solidFill>
                <a:latin typeface="Calibri" pitchFamily="34" charset="0"/>
                <a:ea typeface="Calibri" pitchFamily="34" charset="-122"/>
                <a:cs typeface="Calibri" pitchFamily="34" charset="-120"/>
              </a:rPr>
              <a:t>iron · protein · vitamin D · calcium</a:t>
            </a:r>
            <a:endParaRPr lang="en-US" sz="1400" dirty="0"/>
          </a:p>
        </p:txBody>
      </p:sp>
      <p:sp>
        <p:nvSpPr>
          <p:cNvPr id="8" name="Shape 5"/>
          <p:cNvSpPr/>
          <p:nvPr/>
        </p:nvSpPr>
        <p:spPr>
          <a:xfrm>
            <a:off x="548640" y="2724912"/>
            <a:ext cx="640080" cy="640080"/>
          </a:xfrm>
          <a:prstGeom prst="ellipse">
            <a:avLst/>
          </a:prstGeom>
          <a:solidFill>
            <a:srgbClr val="C8102E"/>
          </a:solidFill>
          <a:ln w="12700">
            <a:solidFill>
              <a:srgbClr val="C8102E"/>
            </a:solidFill>
            <a:prstDash val="solid"/>
          </a:ln>
        </p:spPr>
      </p:sp>
      <p:pic>
        <p:nvPicPr>
          <p:cNvPr id="9" name="Image 1" descr="preencoded.png">    </p:cNvPr>
          <p:cNvPicPr>
            <a:picLocks noChangeAspect="1"/>
          </p:cNvPicPr>
          <p:nvPr/>
        </p:nvPicPr>
        <p:blipFill>
          <a:blip r:embed="rId2"/>
          <a:stretch>
            <a:fillRect/>
          </a:stretch>
        </p:blipFill>
        <p:spPr>
          <a:xfrm>
            <a:off x="715061" y="2891333"/>
            <a:ext cx="307238" cy="307238"/>
          </a:xfrm>
          <a:prstGeom prst="rect">
            <a:avLst/>
          </a:prstGeom>
        </p:spPr>
      </p:pic>
      <p:sp>
        <p:nvSpPr>
          <p:cNvPr id="10" name="Text 6"/>
          <p:cNvSpPr txBox="1"/>
          <p:nvPr/>
        </p:nvSpPr>
        <p:spPr>
          <a:xfrm>
            <a:off x="1417320" y="2706624"/>
            <a:ext cx="4754880" cy="347472"/>
          </a:xfrm>
          <a:prstGeom prst="rect">
            <a:avLst/>
          </a:prstGeom>
          <a:noFill/>
          <a:ln/>
        </p:spPr>
        <p:txBody>
          <a:bodyPr wrap="square" lIns="0" tIns="0" rIns="0" bIns="0" rtlCol="0" anchor="t"/>
          <a:lstStyle/>
          <a:p>
            <a:pPr indent="0" marL="0">
              <a:buNone/>
            </a:pPr>
            <a:r>
              <a:rPr lang="en-US" sz="1800" b="1" dirty="0">
                <a:solidFill>
                  <a:srgbClr val="1B1F2A"/>
                </a:solidFill>
                <a:latin typeface="Calibri" pitchFamily="34" charset="0"/>
                <a:ea typeface="Calibri" pitchFamily="34" charset="-122"/>
                <a:cs typeface="Calibri" pitchFamily="34" charset="-120"/>
              </a:rPr>
              <a:t>Stress &amp; sleep</a:t>
            </a:r>
            <a:endParaRPr lang="en-US" sz="1800" dirty="0"/>
          </a:p>
        </p:txBody>
      </p:sp>
      <p:sp>
        <p:nvSpPr>
          <p:cNvPr id="11" name="Text 7"/>
          <p:cNvSpPr txBox="1"/>
          <p:nvPr/>
        </p:nvSpPr>
        <p:spPr>
          <a:xfrm>
            <a:off x="1417320" y="3054096"/>
            <a:ext cx="4754880" cy="320040"/>
          </a:xfrm>
          <a:prstGeom prst="rect">
            <a:avLst/>
          </a:prstGeom>
          <a:noFill/>
          <a:ln/>
        </p:spPr>
        <p:txBody>
          <a:bodyPr wrap="square" lIns="0" tIns="0" rIns="0" bIns="0" rtlCol="0" anchor="t"/>
          <a:lstStyle/>
          <a:p>
            <a:pPr indent="0" marL="0">
              <a:buNone/>
            </a:pPr>
            <a:r>
              <a:rPr lang="en-US" sz="1400" dirty="0">
                <a:solidFill>
                  <a:srgbClr val="5B6170"/>
                </a:solidFill>
                <a:latin typeface="Calibri" pitchFamily="34" charset="0"/>
                <a:ea typeface="Calibri" pitchFamily="34" charset="-122"/>
                <a:cs typeface="Calibri" pitchFamily="34" charset="-120"/>
              </a:rPr>
              <a:t>stress level · late sleep · disturbance</a:t>
            </a:r>
            <a:endParaRPr lang="en-US" sz="1400" dirty="0"/>
          </a:p>
        </p:txBody>
      </p:sp>
      <p:sp>
        <p:nvSpPr>
          <p:cNvPr id="12" name="Shape 8"/>
          <p:cNvSpPr/>
          <p:nvPr/>
        </p:nvSpPr>
        <p:spPr>
          <a:xfrm>
            <a:off x="548640" y="3803904"/>
            <a:ext cx="640080" cy="640080"/>
          </a:xfrm>
          <a:prstGeom prst="ellipse">
            <a:avLst/>
          </a:prstGeom>
          <a:solidFill>
            <a:srgbClr val="C8102E"/>
          </a:solidFill>
          <a:ln w="12700">
            <a:solidFill>
              <a:srgbClr val="C8102E"/>
            </a:solidFill>
            <a:prstDash val="solid"/>
          </a:ln>
        </p:spPr>
      </p:sp>
      <p:pic>
        <p:nvPicPr>
          <p:cNvPr id="13" name="Image 2" descr="preencoded.png">    </p:cNvPr>
          <p:cNvPicPr>
            <a:picLocks noChangeAspect="1"/>
          </p:cNvPicPr>
          <p:nvPr/>
        </p:nvPicPr>
        <p:blipFill>
          <a:blip r:embed="rId3"/>
          <a:stretch>
            <a:fillRect/>
          </a:stretch>
        </p:blipFill>
        <p:spPr>
          <a:xfrm>
            <a:off x="715061" y="3970325"/>
            <a:ext cx="307238" cy="307238"/>
          </a:xfrm>
          <a:prstGeom prst="rect">
            <a:avLst/>
          </a:prstGeom>
        </p:spPr>
      </p:pic>
      <p:sp>
        <p:nvSpPr>
          <p:cNvPr id="14" name="Text 9"/>
          <p:cNvSpPr txBox="1"/>
          <p:nvPr/>
        </p:nvSpPr>
        <p:spPr>
          <a:xfrm>
            <a:off x="1417320" y="3785616"/>
            <a:ext cx="4754880" cy="347472"/>
          </a:xfrm>
          <a:prstGeom prst="rect">
            <a:avLst/>
          </a:prstGeom>
          <a:noFill/>
          <a:ln/>
        </p:spPr>
        <p:txBody>
          <a:bodyPr wrap="square" lIns="0" tIns="0" rIns="0" bIns="0" rtlCol="0" anchor="t"/>
          <a:lstStyle/>
          <a:p>
            <a:pPr indent="0" marL="0">
              <a:buNone/>
            </a:pPr>
            <a:r>
              <a:rPr lang="en-US" sz="1800" b="1" dirty="0">
                <a:solidFill>
                  <a:srgbClr val="1B1F2A"/>
                </a:solidFill>
                <a:latin typeface="Calibri" pitchFamily="34" charset="0"/>
                <a:ea typeface="Calibri" pitchFamily="34" charset="-122"/>
                <a:cs typeface="Calibri" pitchFamily="34" charset="-120"/>
              </a:rPr>
              <a:t>Health &amp; heredity</a:t>
            </a:r>
            <a:endParaRPr lang="en-US" sz="1800" dirty="0"/>
          </a:p>
        </p:txBody>
      </p:sp>
      <p:sp>
        <p:nvSpPr>
          <p:cNvPr id="15" name="Text 10"/>
          <p:cNvSpPr txBox="1"/>
          <p:nvPr/>
        </p:nvSpPr>
        <p:spPr>
          <a:xfrm>
            <a:off x="1417320" y="4133088"/>
            <a:ext cx="4754880" cy="320040"/>
          </a:xfrm>
          <a:prstGeom prst="rect">
            <a:avLst/>
          </a:prstGeom>
          <a:noFill/>
          <a:ln/>
        </p:spPr>
        <p:txBody>
          <a:bodyPr wrap="square" lIns="0" tIns="0" rIns="0" bIns="0" rtlCol="0" anchor="t"/>
          <a:lstStyle/>
          <a:p>
            <a:pPr indent="0" marL="0">
              <a:buNone/>
            </a:pPr>
            <a:r>
              <a:rPr lang="en-US" sz="1400" dirty="0">
                <a:solidFill>
                  <a:srgbClr val="5B6170"/>
                </a:solidFill>
                <a:latin typeface="Calibri" pitchFamily="34" charset="0"/>
                <a:ea typeface="Calibri" pitchFamily="34" charset="-122"/>
                <a:cs typeface="Calibri" pitchFamily="34" charset="-120"/>
              </a:rPr>
              <a:t>liver enzyme ALT · anaemia · family history</a:t>
            </a:r>
            <a:endParaRPr lang="en-US" sz="1400" dirty="0"/>
          </a:p>
        </p:txBody>
      </p:sp>
      <p:sp>
        <p:nvSpPr>
          <p:cNvPr id="16" name="Shape 11"/>
          <p:cNvSpPr/>
          <p:nvPr/>
        </p:nvSpPr>
        <p:spPr>
          <a:xfrm>
            <a:off x="548640" y="4882896"/>
            <a:ext cx="640080" cy="640080"/>
          </a:xfrm>
          <a:prstGeom prst="ellipse">
            <a:avLst/>
          </a:prstGeom>
          <a:solidFill>
            <a:srgbClr val="C8102E"/>
          </a:solidFill>
          <a:ln w="12700">
            <a:solidFill>
              <a:srgbClr val="C8102E"/>
            </a:solidFill>
            <a:prstDash val="solid"/>
          </a:ln>
        </p:spPr>
      </p:sp>
      <p:pic>
        <p:nvPicPr>
          <p:cNvPr id="17" name="Image 3" descr="preencoded.png">    </p:cNvPr>
          <p:cNvPicPr>
            <a:picLocks noChangeAspect="1"/>
          </p:cNvPicPr>
          <p:nvPr/>
        </p:nvPicPr>
        <p:blipFill>
          <a:blip r:embed="rId4"/>
          <a:stretch>
            <a:fillRect/>
          </a:stretch>
        </p:blipFill>
        <p:spPr>
          <a:xfrm>
            <a:off x="715061" y="5049317"/>
            <a:ext cx="307238" cy="307238"/>
          </a:xfrm>
          <a:prstGeom prst="rect">
            <a:avLst/>
          </a:prstGeom>
        </p:spPr>
      </p:pic>
      <p:sp>
        <p:nvSpPr>
          <p:cNvPr id="18" name="Text 12"/>
          <p:cNvSpPr txBox="1"/>
          <p:nvPr/>
        </p:nvSpPr>
        <p:spPr>
          <a:xfrm>
            <a:off x="1417320" y="4864608"/>
            <a:ext cx="4754880" cy="347472"/>
          </a:xfrm>
          <a:prstGeom prst="rect">
            <a:avLst/>
          </a:prstGeom>
          <a:noFill/>
          <a:ln/>
        </p:spPr>
        <p:txBody>
          <a:bodyPr wrap="square" lIns="0" tIns="0" rIns="0" bIns="0" rtlCol="0" anchor="t"/>
          <a:lstStyle/>
          <a:p>
            <a:pPr indent="0" marL="0">
              <a:buNone/>
            </a:pPr>
            <a:r>
              <a:rPr lang="en-US" sz="1800" b="1" dirty="0">
                <a:solidFill>
                  <a:srgbClr val="1B1F2A"/>
                </a:solidFill>
                <a:latin typeface="Calibri" pitchFamily="34" charset="0"/>
                <a:ea typeface="Calibri" pitchFamily="34" charset="-122"/>
                <a:cs typeface="Calibri" pitchFamily="34" charset="-120"/>
              </a:rPr>
              <a:t>Lifestyle</a:t>
            </a:r>
            <a:endParaRPr lang="en-US" sz="1800" dirty="0"/>
          </a:p>
        </p:txBody>
      </p:sp>
      <p:sp>
        <p:nvSpPr>
          <p:cNvPr id="19" name="Text 13"/>
          <p:cNvSpPr txBox="1"/>
          <p:nvPr/>
        </p:nvSpPr>
        <p:spPr>
          <a:xfrm>
            <a:off x="1417320" y="5212080"/>
            <a:ext cx="4754880" cy="320040"/>
          </a:xfrm>
          <a:prstGeom prst="rect">
            <a:avLst/>
          </a:prstGeom>
          <a:noFill/>
          <a:ln/>
        </p:spPr>
        <p:txBody>
          <a:bodyPr wrap="square" lIns="0" tIns="0" rIns="0" bIns="0" rtlCol="0" anchor="t"/>
          <a:lstStyle/>
          <a:p>
            <a:pPr indent="0" marL="0">
              <a:buNone/>
            </a:pPr>
            <a:r>
              <a:rPr lang="en-US" sz="1400" dirty="0">
                <a:solidFill>
                  <a:srgbClr val="5B6170"/>
                </a:solidFill>
                <a:latin typeface="Calibri" pitchFamily="34" charset="0"/>
                <a:ea typeface="Calibri" pitchFamily="34" charset="-122"/>
                <a:cs typeface="Calibri" pitchFamily="34" charset="-120"/>
              </a:rPr>
              <a:t>chemical treatments · hard water</a:t>
            </a:r>
            <a:endParaRPr lang="en-US" sz="1400" dirty="0"/>
          </a:p>
        </p:txBody>
      </p:sp>
      <p:sp>
        <p:nvSpPr>
          <p:cNvPr id="20" name="Shape 14"/>
          <p:cNvSpPr/>
          <p:nvPr/>
        </p:nvSpPr>
        <p:spPr>
          <a:xfrm>
            <a:off x="6675120" y="1645920"/>
            <a:ext cx="4937760" cy="4206240"/>
          </a:xfrm>
          <a:prstGeom prst="roundRect">
            <a:avLst>
              <a:gd name="adj" fmla="val 1739"/>
            </a:avLst>
          </a:prstGeom>
          <a:solidFill>
            <a:srgbClr val="1B1F2A"/>
          </a:solidFill>
          <a:ln w="12700">
            <a:solidFill>
              <a:srgbClr val="1B1F2A"/>
            </a:solidFill>
            <a:prstDash val="solid"/>
          </a:ln>
        </p:spPr>
      </p:sp>
      <p:sp>
        <p:nvSpPr>
          <p:cNvPr id="21" name="Text 15"/>
          <p:cNvSpPr txBox="1"/>
          <p:nvPr/>
        </p:nvSpPr>
        <p:spPr>
          <a:xfrm>
            <a:off x="7040880" y="1920240"/>
            <a:ext cx="4206240" cy="365760"/>
          </a:xfrm>
          <a:prstGeom prst="rect">
            <a:avLst/>
          </a:prstGeom>
          <a:noFill/>
          <a:ln/>
        </p:spPr>
        <p:txBody>
          <a:bodyPr wrap="square" lIns="0" tIns="0" rIns="0" bIns="0" rtlCol="0" anchor="t"/>
          <a:lstStyle/>
          <a:p>
            <a:pPr indent="0" marL="0">
              <a:buNone/>
            </a:pPr>
            <a:r>
              <a:rPr lang="en-US" sz="1600" b="1" dirty="0">
                <a:solidFill>
                  <a:srgbClr val="F2A0AB"/>
                </a:solidFill>
                <a:latin typeface="Calibri" pitchFamily="34" charset="0"/>
                <a:ea typeface="Calibri" pitchFamily="34" charset="-122"/>
                <a:cs typeface="Calibri" pitchFamily="34" charset="-120"/>
              </a:rPr>
              <a:t>Today</a:t>
            </a:r>
            <a:endParaRPr lang="en-US" sz="1600" dirty="0"/>
          </a:p>
        </p:txBody>
      </p:sp>
      <p:sp>
        <p:nvSpPr>
          <p:cNvPr id="22" name="Text 16"/>
          <p:cNvSpPr txBox="1"/>
          <p:nvPr/>
        </p:nvSpPr>
        <p:spPr>
          <a:xfrm>
            <a:off x="7040880" y="2377440"/>
            <a:ext cx="4297680" cy="1737360"/>
          </a:xfrm>
          <a:prstGeom prst="rect">
            <a:avLst/>
          </a:prstGeom>
          <a:noFill/>
          <a:ln/>
        </p:spPr>
        <p:txBody>
          <a:bodyPr wrap="square" lIns="0" tIns="0" rIns="0" bIns="0" rtlCol="0" anchor="t"/>
          <a:lstStyle/>
          <a:p>
            <a:pPr marL="203200" indent="-203200">
              <a:spcAft>
                <a:spcPts val="800"/>
              </a:spcAft>
              <a:buSzPct val="100000"/>
              <a:buChar char="•"/>
            </a:pPr>
            <a:r>
              <a:rPr lang="en-US" sz="1700" dirty="0">
                <a:solidFill>
                  <a:srgbClr val="FFFFFF"/>
                </a:solidFill>
                <a:latin typeface="Calibri" pitchFamily="34" charset="0"/>
                <a:ea typeface="Calibri" pitchFamily="34" charset="-122"/>
                <a:cs typeface="Calibri" pitchFamily="34" charset="-120"/>
              </a:rPr>
              <a:t>Self-reported history, late clinical check</a:t>
            </a:r>
            <a:endParaRPr lang="en-US" sz="1700" dirty="0"/>
          </a:p>
          <a:p>
            <a:pPr marL="203200" indent="-203200">
              <a:spcAft>
                <a:spcPts val="800"/>
              </a:spcAft>
              <a:buSzPct val="100000"/>
              <a:buChar char="•"/>
            </a:pPr>
            <a:r>
              <a:rPr lang="en-US" sz="1700" dirty="0">
                <a:solidFill>
                  <a:srgbClr val="FFFFFF"/>
                </a:solidFill>
                <a:latin typeface="Calibri" pitchFamily="34" charset="0"/>
                <a:ea typeface="Calibri" pitchFamily="34" charset="-122"/>
                <a:cs typeface="Calibri" pitchFamily="34" charset="-120"/>
              </a:rPr>
              <a:t>Subjective and hard to access</a:t>
            </a:r>
            <a:endParaRPr lang="en-US" sz="1700" dirty="0"/>
          </a:p>
          <a:p>
            <a:pPr marL="203200" indent="-203200">
              <a:spcAft>
                <a:spcPts val="800"/>
              </a:spcAft>
              <a:buSzPct val="100000"/>
              <a:buChar char="•"/>
            </a:pPr>
            <a:r>
              <a:rPr lang="en-US" sz="1700" dirty="0">
                <a:solidFill>
                  <a:srgbClr val="FFFFFF"/>
                </a:solidFill>
                <a:latin typeface="Calibri" pitchFamily="34" charset="0"/>
                <a:ea typeface="Calibri" pitchFamily="34" charset="-122"/>
                <a:cs typeface="Calibri" pitchFamily="34" charset="-120"/>
              </a:rPr>
              <a:t>Data are tabular — ideal for machine learning</a:t>
            </a:r>
            <a:endParaRPr lang="en-US" sz="1700" dirty="0"/>
          </a:p>
        </p:txBody>
      </p:sp>
      <p:sp>
        <p:nvSpPr>
          <p:cNvPr id="23" name="Text 17"/>
          <p:cNvSpPr txBox="1"/>
          <p:nvPr/>
        </p:nvSpPr>
        <p:spPr>
          <a:xfrm>
            <a:off x="7040880" y="4343400"/>
            <a:ext cx="4297680" cy="1188720"/>
          </a:xfrm>
          <a:prstGeom prst="rect">
            <a:avLst/>
          </a:prstGeom>
          <a:noFill/>
          <a:ln/>
        </p:spPr>
        <p:txBody>
          <a:bodyPr wrap="square" lIns="0" tIns="0" rIns="0" bIns="0" rtlCol="0" anchor="t"/>
          <a:lstStyle/>
          <a:p>
            <a:pPr indent="0" marL="0">
              <a:buNone/>
            </a:pPr>
            <a:r>
              <a:rPr lang="en-US" sz="1800" b="1" dirty="0">
                <a:solidFill>
                  <a:srgbClr val="FFFFFF"/>
                </a:solidFill>
                <a:latin typeface="Calibri" pitchFamily="34" charset="0"/>
                <a:ea typeface="Calibri" pitchFamily="34" charset="-122"/>
                <a:cs typeface="Calibri" pitchFamily="34" charset="-120"/>
              </a:rPr>
              <a:t>Goal: an accurate and explainable risk tier — Low, Moderate or High</a:t>
            </a:r>
            <a:endParaRPr lang="en-US" sz="1800" dirty="0"/>
          </a:p>
        </p:txBody>
      </p:sp>
      <p:sp>
        <p:nvSpPr>
          <p:cNvPr id="25" name="Slide Number Placeholder 0"/>
          <p:cNvSpPr>
            <a:spLocks noGrp="1"/>
          </p:cNvSpPr>
          <p:nvPr>
            <p:ph type="sldNum" sz="quarter" idx="4294967295"/>
          </p:nvPr>
        </p:nvSpPr>
        <p:spPr>
          <a:xfrm>
            <a:off x="11368735" y="6446520"/>
            <a:ext cx="457200" cy="274320"/>
          </a:xfrm>
          <a:prstGeom prst="rect">
            <a:avLst/>
          </a:prstGeom>
          <a:extLst>
            <a:ext uri="{C572A759-6A51-4108-AA02-DFA0A04FC94B}">
              <ma14:wrappingTextBoxFlag xmlns:ma14="http://schemas.microsoft.com/office/mac/drawingml/2011/main" val="0"/>
            </a:ext>
          </a:extLst>
        </p:spPr>
        <p:txBody>
          <a:bodyPr/>
          <a:lstStyle>
            <a:lvl1pPr>
              <a:defRPr sz="1000">
                <a:solidFill>
                  <a:srgbClr val="5B6170"/>
                </a:solidFill>
                <a:latin typeface="Calibri"/>
                <a:ea typeface="Calibri"/>
                <a:cs typeface="Calibri"/>
              </a:defRPr>
            </a:lvl1pPr>
          </a:lstStyle>
          <a:p>
            <a:pPr algn="r"/>
            <a:fld id="{F7021451-1387-4CA6-816F-3879F97B5CBC}" type="slidenum">
              <a:rPr b="0" lang="en-US"/>
              <a:t>3</a:t>
            </a:fld>
            <a:endParaRPr lang="en-US"/>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bg>
      <p:bgPr>
        <a:solidFill>
          <a:srgbClr val="FFFFFF"/>
        </a:solidFill>
      </p:bgPr>
    </p:bg>
    <p:spTree>
      <p:nvGrpSpPr>
        <p:cNvPr id="1" name=""/>
        <p:cNvGrpSpPr/>
        <p:nvPr/>
      </p:nvGrpSpPr>
      <p:grpSpPr>
        <a:xfrm>
          <a:off x="0" y="0"/>
          <a:ext cx="0" cy="0"/>
          <a:chOff x="0" y="0"/>
          <a:chExt cx="0" cy="0"/>
        </a:xfrm>
      </p:grpSpPr>
      <p:sp>
        <p:nvSpPr>
          <p:cNvPr id="2" name="Text 0"/>
          <p:cNvSpPr txBox="1"/>
          <p:nvPr/>
        </p:nvSpPr>
        <p:spPr>
          <a:xfrm>
            <a:off x="548640" y="365760"/>
            <a:ext cx="11094415" cy="685800"/>
          </a:xfrm>
          <a:prstGeom prst="rect">
            <a:avLst/>
          </a:prstGeom>
          <a:noFill/>
          <a:ln/>
        </p:spPr>
        <p:txBody>
          <a:bodyPr wrap="square" lIns="0" tIns="0" rIns="0" bIns="0" rtlCol="0" anchor="ctr"/>
          <a:lstStyle/>
          <a:p>
            <a:pPr indent="0" marL="0">
              <a:buNone/>
            </a:pPr>
            <a:r>
              <a:rPr lang="en-US" sz="3200" b="1" dirty="0">
                <a:solidFill>
                  <a:srgbClr val="1B1F2A"/>
                </a:solidFill>
                <a:latin typeface="Cambria" pitchFamily="34" charset="0"/>
                <a:ea typeface="Cambria" pitchFamily="34" charset="-122"/>
                <a:cs typeface="Cambria" pitchFamily="34" charset="-120"/>
              </a:rPr>
              <a:t>Problem statement</a:t>
            </a:r>
            <a:endParaRPr lang="en-US" sz="3200" dirty="0"/>
          </a:p>
        </p:txBody>
      </p:sp>
      <p:sp>
        <p:nvSpPr>
          <p:cNvPr id="3" name="Text 1"/>
          <p:cNvSpPr txBox="1"/>
          <p:nvPr/>
        </p:nvSpPr>
        <p:spPr>
          <a:xfrm>
            <a:off x="548640" y="1024128"/>
            <a:ext cx="11094415" cy="365760"/>
          </a:xfrm>
          <a:prstGeom prst="rect">
            <a:avLst/>
          </a:prstGeom>
          <a:noFill/>
          <a:ln/>
        </p:spPr>
        <p:txBody>
          <a:bodyPr wrap="square" lIns="0" tIns="0" rIns="0" bIns="0" rtlCol="0" anchor="ctr"/>
          <a:lstStyle/>
          <a:p>
            <a:pPr indent="0" marL="0">
              <a:buNone/>
            </a:pPr>
            <a:r>
              <a:rPr lang="en-US" sz="1500" i="1" dirty="0">
                <a:solidFill>
                  <a:srgbClr val="5B6170"/>
                </a:solidFill>
                <a:latin typeface="Calibri" pitchFamily="34" charset="0"/>
                <a:ea typeface="Calibri" pitchFamily="34" charset="-122"/>
                <a:cs typeface="Calibri" pitchFamily="34" charset="-120"/>
              </a:rPr>
              <a:t>Three gaps in existing work</a:t>
            </a:r>
            <a:endParaRPr lang="en-US" sz="1500" dirty="0"/>
          </a:p>
        </p:txBody>
      </p:sp>
      <p:sp>
        <p:nvSpPr>
          <p:cNvPr id="4" name="Shape 2"/>
          <p:cNvSpPr/>
          <p:nvPr/>
        </p:nvSpPr>
        <p:spPr>
          <a:xfrm>
            <a:off x="548640" y="1691640"/>
            <a:ext cx="3474720" cy="3246120"/>
          </a:xfrm>
          <a:prstGeom prst="roundRect">
            <a:avLst>
              <a:gd name="adj" fmla="val 2254"/>
            </a:avLst>
          </a:prstGeom>
          <a:solidFill>
            <a:srgbClr val="F2F3F5"/>
          </a:solidFill>
          <a:ln w="12700">
            <a:solidFill>
              <a:srgbClr val="F2F3F5"/>
            </a:solidFill>
            <a:prstDash val="solid"/>
          </a:ln>
        </p:spPr>
      </p:sp>
      <p:sp>
        <p:nvSpPr>
          <p:cNvPr id="5" name="Shape 3"/>
          <p:cNvSpPr/>
          <p:nvPr/>
        </p:nvSpPr>
        <p:spPr>
          <a:xfrm>
            <a:off x="868680" y="1965960"/>
            <a:ext cx="731520" cy="731520"/>
          </a:xfrm>
          <a:prstGeom prst="ellipse">
            <a:avLst/>
          </a:prstGeom>
          <a:solidFill>
            <a:srgbClr val="C8102E"/>
          </a:solidFill>
          <a:ln w="12700">
            <a:solidFill>
              <a:srgbClr val="C8102E"/>
            </a:solidFill>
            <a:prstDash val="solid"/>
          </a:ln>
        </p:spPr>
      </p:sp>
      <p:pic>
        <p:nvPicPr>
          <p:cNvPr id="6" name="Image 0" descr="preencoded.png">    </p:cNvPr>
          <p:cNvPicPr>
            <a:picLocks noChangeAspect="1"/>
          </p:cNvPicPr>
          <p:nvPr/>
        </p:nvPicPr>
        <p:blipFill>
          <a:blip r:embed="rId1"/>
          <a:stretch>
            <a:fillRect/>
          </a:stretch>
        </p:blipFill>
        <p:spPr>
          <a:xfrm>
            <a:off x="1058875" y="2156155"/>
            <a:ext cx="351130" cy="351130"/>
          </a:xfrm>
          <a:prstGeom prst="rect">
            <a:avLst/>
          </a:prstGeom>
        </p:spPr>
      </p:pic>
      <p:sp>
        <p:nvSpPr>
          <p:cNvPr id="7" name="Text 4"/>
          <p:cNvSpPr txBox="1"/>
          <p:nvPr/>
        </p:nvSpPr>
        <p:spPr>
          <a:xfrm>
            <a:off x="868680" y="2880360"/>
            <a:ext cx="2834640" cy="731520"/>
          </a:xfrm>
          <a:prstGeom prst="rect">
            <a:avLst/>
          </a:prstGeom>
          <a:noFill/>
          <a:ln/>
        </p:spPr>
        <p:txBody>
          <a:bodyPr wrap="square" lIns="0" tIns="0" rIns="0" bIns="0" rtlCol="0" anchor="t"/>
          <a:lstStyle/>
          <a:p>
            <a:pPr indent="0" marL="0">
              <a:buNone/>
            </a:pPr>
            <a:r>
              <a:rPr lang="en-US" sz="2000" b="1" dirty="0">
                <a:solidFill>
                  <a:srgbClr val="1B1F2A"/>
                </a:solidFill>
                <a:latin typeface="Cambria" pitchFamily="34" charset="0"/>
                <a:ea typeface="Cambria" pitchFamily="34" charset="-122"/>
                <a:cs typeface="Cambria" pitchFamily="34" charset="-120"/>
              </a:rPr>
              <a:t>Conflicting evidence</a:t>
            </a:r>
            <a:endParaRPr lang="en-US" sz="2000" dirty="0"/>
          </a:p>
        </p:txBody>
      </p:sp>
      <p:sp>
        <p:nvSpPr>
          <p:cNvPr id="8" name="Text 5"/>
          <p:cNvSpPr txBox="1"/>
          <p:nvPr/>
        </p:nvSpPr>
        <p:spPr>
          <a:xfrm>
            <a:off x="868680" y="3611880"/>
            <a:ext cx="2834640" cy="1188720"/>
          </a:xfrm>
          <a:prstGeom prst="rect">
            <a:avLst/>
          </a:prstGeom>
          <a:noFill/>
          <a:ln/>
        </p:spPr>
        <p:txBody>
          <a:bodyPr wrap="square" lIns="0" tIns="0" rIns="0" bIns="0" rtlCol="0" anchor="t"/>
          <a:lstStyle/>
          <a:p>
            <a:pPr indent="0" marL="0">
              <a:buNone/>
            </a:pPr>
            <a:r>
              <a:rPr lang="en-US" sz="1500" dirty="0">
                <a:solidFill>
                  <a:srgbClr val="5B6170"/>
                </a:solidFill>
                <a:latin typeface="Calibri" pitchFamily="34" charset="0"/>
                <a:ea typeface="Calibri" pitchFamily="34" charset="-122"/>
                <a:cs typeface="Calibri" pitchFamily="34" charset="-120"/>
              </a:rPr>
              <a:t>Ensembles best in one study, Random Forest beats CatBoost in another — no clear model choice.</a:t>
            </a:r>
            <a:endParaRPr lang="en-US" sz="1500" dirty="0"/>
          </a:p>
        </p:txBody>
      </p:sp>
      <p:sp>
        <p:nvSpPr>
          <p:cNvPr id="9" name="Shape 6"/>
          <p:cNvSpPr/>
          <p:nvPr/>
        </p:nvSpPr>
        <p:spPr>
          <a:xfrm>
            <a:off x="4297680" y="1691640"/>
            <a:ext cx="3474720" cy="3246120"/>
          </a:xfrm>
          <a:prstGeom prst="roundRect">
            <a:avLst>
              <a:gd name="adj" fmla="val 2254"/>
            </a:avLst>
          </a:prstGeom>
          <a:solidFill>
            <a:srgbClr val="F2F3F5"/>
          </a:solidFill>
          <a:ln w="12700">
            <a:solidFill>
              <a:srgbClr val="F2F3F5"/>
            </a:solidFill>
            <a:prstDash val="solid"/>
          </a:ln>
        </p:spPr>
      </p:sp>
      <p:sp>
        <p:nvSpPr>
          <p:cNvPr id="10" name="Shape 7"/>
          <p:cNvSpPr/>
          <p:nvPr/>
        </p:nvSpPr>
        <p:spPr>
          <a:xfrm>
            <a:off x="4617720" y="1965960"/>
            <a:ext cx="731520" cy="731520"/>
          </a:xfrm>
          <a:prstGeom prst="ellipse">
            <a:avLst/>
          </a:prstGeom>
          <a:solidFill>
            <a:srgbClr val="C8102E"/>
          </a:solidFill>
          <a:ln w="12700">
            <a:solidFill>
              <a:srgbClr val="C8102E"/>
            </a:solidFill>
            <a:prstDash val="solid"/>
          </a:ln>
        </p:spPr>
      </p:sp>
      <p:pic>
        <p:nvPicPr>
          <p:cNvPr id="11" name="Image 1" descr="preencoded.png">    </p:cNvPr>
          <p:cNvPicPr>
            <a:picLocks noChangeAspect="1"/>
          </p:cNvPicPr>
          <p:nvPr/>
        </p:nvPicPr>
        <p:blipFill>
          <a:blip r:embed="rId2"/>
          <a:stretch>
            <a:fillRect/>
          </a:stretch>
        </p:blipFill>
        <p:spPr>
          <a:xfrm>
            <a:off x="4807915" y="2156155"/>
            <a:ext cx="351130" cy="351130"/>
          </a:xfrm>
          <a:prstGeom prst="rect">
            <a:avLst/>
          </a:prstGeom>
        </p:spPr>
      </p:pic>
      <p:sp>
        <p:nvSpPr>
          <p:cNvPr id="12" name="Text 8"/>
          <p:cNvSpPr txBox="1"/>
          <p:nvPr/>
        </p:nvSpPr>
        <p:spPr>
          <a:xfrm>
            <a:off x="4617720" y="2880360"/>
            <a:ext cx="2834640" cy="731520"/>
          </a:xfrm>
          <a:prstGeom prst="rect">
            <a:avLst/>
          </a:prstGeom>
          <a:noFill/>
          <a:ln/>
        </p:spPr>
        <p:txBody>
          <a:bodyPr wrap="square" lIns="0" tIns="0" rIns="0" bIns="0" rtlCol="0" anchor="t"/>
          <a:lstStyle/>
          <a:p>
            <a:pPr indent="0" marL="0">
              <a:buNone/>
            </a:pPr>
            <a:r>
              <a:rPr lang="en-US" sz="2000" b="1" dirty="0">
                <a:solidFill>
                  <a:srgbClr val="1B1F2A"/>
                </a:solidFill>
                <a:latin typeface="Cambria" pitchFamily="34" charset="0"/>
                <a:ea typeface="Cambria" pitchFamily="34" charset="-122"/>
                <a:cs typeface="Cambria" pitchFamily="34" charset="-120"/>
              </a:rPr>
              <a:t>Foundation models untested</a:t>
            </a:r>
            <a:endParaRPr lang="en-US" sz="2000" dirty="0"/>
          </a:p>
        </p:txBody>
      </p:sp>
      <p:sp>
        <p:nvSpPr>
          <p:cNvPr id="13" name="Text 9"/>
          <p:cNvSpPr txBox="1"/>
          <p:nvPr/>
        </p:nvSpPr>
        <p:spPr>
          <a:xfrm>
            <a:off x="4617720" y="3611880"/>
            <a:ext cx="2834640" cy="1188720"/>
          </a:xfrm>
          <a:prstGeom prst="rect">
            <a:avLst/>
          </a:prstGeom>
          <a:noFill/>
          <a:ln/>
        </p:spPr>
        <p:txBody>
          <a:bodyPr wrap="square" lIns="0" tIns="0" rIns="0" bIns="0" rtlCol="0" anchor="t"/>
          <a:lstStyle/>
          <a:p>
            <a:pPr indent="0" marL="0">
              <a:buNone/>
            </a:pPr>
            <a:r>
              <a:rPr lang="en-US" sz="1500" dirty="0">
                <a:solidFill>
                  <a:srgbClr val="5B6170"/>
                </a:solidFill>
                <a:latin typeface="Calibri" pitchFamily="34" charset="0"/>
                <a:ea typeface="Calibri" pitchFamily="34" charset="-122"/>
                <a:cs typeface="Calibri" pitchFamily="34" charset="-120"/>
              </a:rPr>
              <a:t>TabPFN and TabFM predict without training, but were never tested on hair fall data.</a:t>
            </a:r>
            <a:endParaRPr lang="en-US" sz="1500" dirty="0"/>
          </a:p>
        </p:txBody>
      </p:sp>
      <p:sp>
        <p:nvSpPr>
          <p:cNvPr id="14" name="Shape 10"/>
          <p:cNvSpPr/>
          <p:nvPr/>
        </p:nvSpPr>
        <p:spPr>
          <a:xfrm>
            <a:off x="8046720" y="1691640"/>
            <a:ext cx="3474720" cy="3246120"/>
          </a:xfrm>
          <a:prstGeom prst="roundRect">
            <a:avLst>
              <a:gd name="adj" fmla="val 2254"/>
            </a:avLst>
          </a:prstGeom>
          <a:solidFill>
            <a:srgbClr val="F2F3F5"/>
          </a:solidFill>
          <a:ln w="12700">
            <a:solidFill>
              <a:srgbClr val="F2F3F5"/>
            </a:solidFill>
            <a:prstDash val="solid"/>
          </a:ln>
        </p:spPr>
      </p:sp>
      <p:sp>
        <p:nvSpPr>
          <p:cNvPr id="15" name="Shape 11"/>
          <p:cNvSpPr/>
          <p:nvPr/>
        </p:nvSpPr>
        <p:spPr>
          <a:xfrm>
            <a:off x="8366760" y="1965960"/>
            <a:ext cx="731520" cy="731520"/>
          </a:xfrm>
          <a:prstGeom prst="ellipse">
            <a:avLst/>
          </a:prstGeom>
          <a:solidFill>
            <a:srgbClr val="C8102E"/>
          </a:solidFill>
          <a:ln w="12700">
            <a:solidFill>
              <a:srgbClr val="C8102E"/>
            </a:solidFill>
            <a:prstDash val="solid"/>
          </a:ln>
        </p:spPr>
      </p:sp>
      <p:pic>
        <p:nvPicPr>
          <p:cNvPr id="16" name="Image 2" descr="preencoded.png">    </p:cNvPr>
          <p:cNvPicPr>
            <a:picLocks noChangeAspect="1"/>
          </p:cNvPicPr>
          <p:nvPr/>
        </p:nvPicPr>
        <p:blipFill>
          <a:blip r:embed="rId3"/>
          <a:stretch>
            <a:fillRect/>
          </a:stretch>
        </p:blipFill>
        <p:spPr>
          <a:xfrm>
            <a:off x="8556955" y="2156155"/>
            <a:ext cx="351130" cy="351130"/>
          </a:xfrm>
          <a:prstGeom prst="rect">
            <a:avLst/>
          </a:prstGeom>
        </p:spPr>
      </p:pic>
      <p:sp>
        <p:nvSpPr>
          <p:cNvPr id="17" name="Text 12"/>
          <p:cNvSpPr txBox="1"/>
          <p:nvPr/>
        </p:nvSpPr>
        <p:spPr>
          <a:xfrm>
            <a:off x="8366760" y="2880360"/>
            <a:ext cx="2834640" cy="731520"/>
          </a:xfrm>
          <a:prstGeom prst="rect">
            <a:avLst/>
          </a:prstGeom>
          <a:noFill/>
          <a:ln/>
        </p:spPr>
        <p:txBody>
          <a:bodyPr wrap="square" lIns="0" tIns="0" rIns="0" bIns="0" rtlCol="0" anchor="t"/>
          <a:lstStyle/>
          <a:p>
            <a:pPr indent="0" marL="0">
              <a:buNone/>
            </a:pPr>
            <a:r>
              <a:rPr lang="en-US" sz="2000" b="1" dirty="0">
                <a:solidFill>
                  <a:srgbClr val="1B1F2A"/>
                </a:solidFill>
                <a:latin typeface="Cambria" pitchFamily="34" charset="0"/>
                <a:ea typeface="Cambria" pitchFamily="34" charset="-122"/>
                <a:cs typeface="Cambria" pitchFamily="34" charset="-120"/>
              </a:rPr>
              <a:t>Black-box predictions</a:t>
            </a:r>
            <a:endParaRPr lang="en-US" sz="2000" dirty="0"/>
          </a:p>
        </p:txBody>
      </p:sp>
      <p:sp>
        <p:nvSpPr>
          <p:cNvPr id="18" name="Text 13"/>
          <p:cNvSpPr txBox="1"/>
          <p:nvPr/>
        </p:nvSpPr>
        <p:spPr>
          <a:xfrm>
            <a:off x="8366760" y="3611880"/>
            <a:ext cx="2834640" cy="1188720"/>
          </a:xfrm>
          <a:prstGeom prst="rect">
            <a:avLst/>
          </a:prstGeom>
          <a:noFill/>
          <a:ln/>
        </p:spPr>
        <p:txBody>
          <a:bodyPr wrap="square" lIns="0" tIns="0" rIns="0" bIns="0" rtlCol="0" anchor="t"/>
          <a:lstStyle/>
          <a:p>
            <a:pPr indent="0" marL="0">
              <a:buNone/>
            </a:pPr>
            <a:r>
              <a:rPr lang="en-US" sz="1500" dirty="0">
                <a:solidFill>
                  <a:srgbClr val="5B6170"/>
                </a:solidFill>
                <a:latin typeface="Calibri" pitchFamily="34" charset="0"/>
                <a:ea typeface="Calibri" pitchFamily="34" charset="-122"/>
                <a:cs typeface="Calibri" pitchFamily="34" charset="-120"/>
              </a:rPr>
              <a:t>Accurate models are hard to explain — clinicians cannot check the reason.</a:t>
            </a:r>
            <a:endParaRPr lang="en-US" sz="1500" dirty="0"/>
          </a:p>
        </p:txBody>
      </p:sp>
      <p:sp>
        <p:nvSpPr>
          <p:cNvPr id="19" name="Shape 14"/>
          <p:cNvSpPr/>
          <p:nvPr/>
        </p:nvSpPr>
        <p:spPr>
          <a:xfrm>
            <a:off x="548640" y="5212080"/>
            <a:ext cx="11094415" cy="868680"/>
          </a:xfrm>
          <a:prstGeom prst="roundRect">
            <a:avLst>
              <a:gd name="adj" fmla="val 8421"/>
            </a:avLst>
          </a:prstGeom>
          <a:solidFill>
            <a:srgbClr val="1B1F2A"/>
          </a:solidFill>
          <a:ln w="12700">
            <a:solidFill>
              <a:srgbClr val="1B1F2A"/>
            </a:solidFill>
            <a:prstDash val="solid"/>
          </a:ln>
        </p:spPr>
      </p:sp>
      <p:sp>
        <p:nvSpPr>
          <p:cNvPr id="20" name="Text 15"/>
          <p:cNvSpPr txBox="1"/>
          <p:nvPr/>
        </p:nvSpPr>
        <p:spPr>
          <a:xfrm>
            <a:off x="868680" y="5212080"/>
            <a:ext cx="10454335" cy="868680"/>
          </a:xfrm>
          <a:prstGeom prst="rect">
            <a:avLst/>
          </a:prstGeom>
          <a:noFill/>
          <a:ln/>
        </p:spPr>
        <p:txBody>
          <a:bodyPr wrap="square" lIns="0" tIns="0" rIns="0" bIns="0" rtlCol="0" anchor="ctr"/>
          <a:lstStyle/>
          <a:p>
            <a:pPr indent="0" marL="0">
              <a:buNone/>
            </a:pPr>
            <a:r>
              <a:rPr lang="en-US" sz="1700" b="1" dirty="0">
                <a:solidFill>
                  <a:srgbClr val="F2A0AB"/>
                </a:solidFill>
                <a:latin typeface="Calibri" pitchFamily="34" charset="0"/>
                <a:ea typeface="Calibri" pitchFamily="34" charset="-122"/>
                <a:cs typeface="Calibri" pitchFamily="34" charset="-120"/>
              </a:rPr>
              <a:t>This study:  </a:t>
            </a:r>
            <a:pPr indent="0" marL="0">
              <a:buNone/>
            </a:pPr>
            <a:r>
              <a:rPr lang="en-US" sz="1700" dirty="0">
                <a:solidFill>
                  <a:srgbClr val="FFFFFF"/>
                </a:solidFill>
                <a:latin typeface="Calibri" pitchFamily="34" charset="0"/>
                <a:ea typeface="Calibri" pitchFamily="34" charset="-122"/>
                <a:cs typeface="Calibri" pitchFamily="34" charset="-120"/>
              </a:rPr>
              <a:t>a fair benchmark of CatBoost, TabPFN and TabFM on the same data — with SHAP for every model.</a:t>
            </a:r>
            <a:endParaRPr lang="en-US" sz="1700" dirty="0"/>
          </a:p>
        </p:txBody>
      </p:sp>
      <p:sp>
        <p:nvSpPr>
          <p:cNvPr id="25" name="Slide Number Placeholder 0"/>
          <p:cNvSpPr>
            <a:spLocks noGrp="1"/>
          </p:cNvSpPr>
          <p:nvPr>
            <p:ph type="sldNum" sz="quarter" idx="4294967295"/>
          </p:nvPr>
        </p:nvSpPr>
        <p:spPr>
          <a:xfrm>
            <a:off x="11368735" y="6446520"/>
            <a:ext cx="457200" cy="274320"/>
          </a:xfrm>
          <a:prstGeom prst="rect">
            <a:avLst/>
          </a:prstGeom>
          <a:extLst>
            <a:ext uri="{C572A759-6A51-4108-AA02-DFA0A04FC94B}">
              <ma14:wrappingTextBoxFlag xmlns:ma14="http://schemas.microsoft.com/office/mac/drawingml/2011/main" val="0"/>
            </a:ext>
          </a:extLst>
        </p:spPr>
        <p:txBody>
          <a:bodyPr/>
          <a:lstStyle>
            <a:lvl1pPr>
              <a:defRPr sz="1000">
                <a:solidFill>
                  <a:srgbClr val="5B6170"/>
                </a:solidFill>
                <a:latin typeface="Calibri"/>
                <a:ea typeface="Calibri"/>
                <a:cs typeface="Calibri"/>
              </a:defRPr>
            </a:lvl1pPr>
          </a:lstStyle>
          <a:p>
            <a:pPr algn="r"/>
            <a:fld id="{F7021451-1387-4CA6-816F-3879F97B5CBC}" type="slidenum">
              <a:rPr b="0" lang="en-US"/>
              <a:t>4</a:t>
            </a:fld>
            <a:endParaRPr lang="en-US"/>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5">
    <p:bg>
      <p:bgPr>
        <a:solidFill>
          <a:srgbClr val="FFFFFF"/>
        </a:solidFill>
      </p:bgPr>
    </p:bg>
    <p:spTree>
      <p:nvGrpSpPr>
        <p:cNvPr id="1" name=""/>
        <p:cNvGrpSpPr/>
        <p:nvPr/>
      </p:nvGrpSpPr>
      <p:grpSpPr>
        <a:xfrm>
          <a:off x="0" y="0"/>
          <a:ext cx="0" cy="0"/>
          <a:chOff x="0" y="0"/>
          <a:chExt cx="0" cy="0"/>
        </a:xfrm>
      </p:grpSpPr>
      <p:sp>
        <p:nvSpPr>
          <p:cNvPr id="2" name="Text 0"/>
          <p:cNvSpPr txBox="1"/>
          <p:nvPr/>
        </p:nvSpPr>
        <p:spPr>
          <a:xfrm>
            <a:off x="548640" y="365760"/>
            <a:ext cx="11094415" cy="685800"/>
          </a:xfrm>
          <a:prstGeom prst="rect">
            <a:avLst/>
          </a:prstGeom>
          <a:noFill/>
          <a:ln/>
        </p:spPr>
        <p:txBody>
          <a:bodyPr wrap="square" lIns="0" tIns="0" rIns="0" bIns="0" rtlCol="0" anchor="ctr"/>
          <a:lstStyle/>
          <a:p>
            <a:pPr indent="0" marL="0">
              <a:buNone/>
            </a:pPr>
            <a:r>
              <a:rPr lang="en-US" sz="3200" b="1" dirty="0">
                <a:solidFill>
                  <a:srgbClr val="1B1F2A"/>
                </a:solidFill>
                <a:latin typeface="Cambria" pitchFamily="34" charset="0"/>
                <a:ea typeface="Cambria" pitchFamily="34" charset="-122"/>
                <a:cs typeface="Cambria" pitchFamily="34" charset="-120"/>
              </a:rPr>
              <a:t>Research questions → objectives</a:t>
            </a:r>
            <a:endParaRPr lang="en-US" sz="3200" dirty="0"/>
          </a:p>
        </p:txBody>
      </p:sp>
      <p:sp>
        <p:nvSpPr>
          <p:cNvPr id="3" name="Text 1"/>
          <p:cNvSpPr txBox="1"/>
          <p:nvPr/>
        </p:nvSpPr>
        <p:spPr>
          <a:xfrm>
            <a:off x="548640" y="1024128"/>
            <a:ext cx="11094415" cy="365760"/>
          </a:xfrm>
          <a:prstGeom prst="rect">
            <a:avLst/>
          </a:prstGeom>
          <a:noFill/>
          <a:ln/>
        </p:spPr>
        <p:txBody>
          <a:bodyPr wrap="square" lIns="0" tIns="0" rIns="0" bIns="0" rtlCol="0" anchor="ctr"/>
          <a:lstStyle/>
          <a:p>
            <a:pPr indent="0" marL="0">
              <a:buNone/>
            </a:pPr>
            <a:r>
              <a:rPr lang="en-US" sz="1500" i="1" dirty="0">
                <a:solidFill>
                  <a:srgbClr val="5B6170"/>
                </a:solidFill>
                <a:latin typeface="Calibri" pitchFamily="34" charset="0"/>
                <a:ea typeface="Calibri" pitchFamily="34" charset="-122"/>
                <a:cs typeface="Calibri" pitchFamily="34" charset="-120"/>
              </a:rPr>
              <a:t>General objective: benchmark CatBoost, TabPFN and TabFM for explainable hair fall risk stratification</a:t>
            </a:r>
            <a:endParaRPr lang="en-US" sz="1500" dirty="0"/>
          </a:p>
        </p:txBody>
      </p:sp>
      <p:sp>
        <p:nvSpPr>
          <p:cNvPr id="4" name="Text 2"/>
          <p:cNvSpPr txBox="1"/>
          <p:nvPr/>
        </p:nvSpPr>
        <p:spPr>
          <a:xfrm>
            <a:off x="3200400" y="1600200"/>
            <a:ext cx="4023360" cy="320040"/>
          </a:xfrm>
          <a:prstGeom prst="rect">
            <a:avLst/>
          </a:prstGeom>
          <a:noFill/>
          <a:ln/>
        </p:spPr>
        <p:txBody>
          <a:bodyPr wrap="square" lIns="0" tIns="0" rIns="0" bIns="0" rtlCol="0" anchor="t"/>
          <a:lstStyle/>
          <a:p>
            <a:pPr indent="0" marL="0">
              <a:buNone/>
            </a:pPr>
            <a:r>
              <a:rPr lang="en-US" sz="1300" b="1" dirty="0">
                <a:solidFill>
                  <a:srgbClr val="5B6170"/>
                </a:solidFill>
                <a:latin typeface="Calibri" pitchFamily="34" charset="0"/>
                <a:ea typeface="Calibri" pitchFamily="34" charset="-122"/>
                <a:cs typeface="Calibri" pitchFamily="34" charset="-120"/>
              </a:rPr>
              <a:t>Question</a:t>
            </a:r>
            <a:endParaRPr lang="en-US" sz="1300" dirty="0"/>
          </a:p>
        </p:txBody>
      </p:sp>
      <p:sp>
        <p:nvSpPr>
          <p:cNvPr id="5" name="Text 3"/>
          <p:cNvSpPr txBox="1"/>
          <p:nvPr/>
        </p:nvSpPr>
        <p:spPr>
          <a:xfrm>
            <a:off x="7498080" y="1600200"/>
            <a:ext cx="4023360" cy="320040"/>
          </a:xfrm>
          <a:prstGeom prst="rect">
            <a:avLst/>
          </a:prstGeom>
          <a:noFill/>
          <a:ln/>
        </p:spPr>
        <p:txBody>
          <a:bodyPr wrap="square" lIns="0" tIns="0" rIns="0" bIns="0" rtlCol="0" anchor="t"/>
          <a:lstStyle/>
          <a:p>
            <a:pPr indent="0" marL="0">
              <a:buNone/>
            </a:pPr>
            <a:r>
              <a:rPr lang="en-US" sz="1300" b="1" dirty="0">
                <a:solidFill>
                  <a:srgbClr val="5B6170"/>
                </a:solidFill>
                <a:latin typeface="Calibri" pitchFamily="34" charset="0"/>
                <a:ea typeface="Calibri" pitchFamily="34" charset="-122"/>
                <a:cs typeface="Calibri" pitchFamily="34" charset="-120"/>
              </a:rPr>
              <a:t>Specific objective</a:t>
            </a:r>
            <a:endParaRPr lang="en-US" sz="1300" dirty="0"/>
          </a:p>
        </p:txBody>
      </p:sp>
      <p:sp>
        <p:nvSpPr>
          <p:cNvPr id="6" name="Shape 4"/>
          <p:cNvSpPr/>
          <p:nvPr/>
        </p:nvSpPr>
        <p:spPr>
          <a:xfrm>
            <a:off x="548640" y="2011680"/>
            <a:ext cx="11094415" cy="914400"/>
          </a:xfrm>
          <a:prstGeom prst="roundRect">
            <a:avLst>
              <a:gd name="adj" fmla="val 8000"/>
            </a:avLst>
          </a:prstGeom>
          <a:solidFill>
            <a:srgbClr val="F2F3F5"/>
          </a:solidFill>
          <a:ln w="12700">
            <a:solidFill>
              <a:srgbClr val="F2F3F5"/>
            </a:solidFill>
            <a:prstDash val="solid"/>
          </a:ln>
        </p:spPr>
      </p:sp>
      <p:sp>
        <p:nvSpPr>
          <p:cNvPr id="7" name="Shape 5"/>
          <p:cNvSpPr/>
          <p:nvPr/>
        </p:nvSpPr>
        <p:spPr>
          <a:xfrm>
            <a:off x="731520" y="2194560"/>
            <a:ext cx="548640" cy="548640"/>
          </a:xfrm>
          <a:prstGeom prst="ellipse">
            <a:avLst/>
          </a:prstGeom>
          <a:solidFill>
            <a:srgbClr val="C8102E"/>
          </a:solidFill>
          <a:ln w="12700">
            <a:solidFill>
              <a:srgbClr val="C8102E"/>
            </a:solidFill>
            <a:prstDash val="solid"/>
          </a:ln>
        </p:spPr>
      </p:sp>
      <p:sp>
        <p:nvSpPr>
          <p:cNvPr id="8" name="Text 6"/>
          <p:cNvSpPr txBox="1"/>
          <p:nvPr/>
        </p:nvSpPr>
        <p:spPr>
          <a:xfrm>
            <a:off x="731520" y="2194560"/>
            <a:ext cx="548640" cy="548640"/>
          </a:xfrm>
          <a:prstGeom prst="rect">
            <a:avLst/>
          </a:prstGeom>
          <a:noFill/>
          <a:ln/>
        </p:spPr>
        <p:txBody>
          <a:bodyPr wrap="square" lIns="0" tIns="0" rIns="0" bIns="0" rtlCol="0" anchor="ctr"/>
          <a:lstStyle/>
          <a:p>
            <a:pPr algn="ctr" indent="0" marL="0">
              <a:buNone/>
            </a:pPr>
            <a:r>
              <a:rPr lang="en-US" sz="1800" b="1" dirty="0">
                <a:solidFill>
                  <a:srgbClr val="FFFFFF"/>
                </a:solidFill>
                <a:latin typeface="Cambria" pitchFamily="34" charset="0"/>
                <a:ea typeface="Cambria" pitchFamily="34" charset="-122"/>
                <a:cs typeface="Cambria" pitchFamily="34" charset="-120"/>
              </a:rPr>
              <a:t>1</a:t>
            </a:r>
            <a:endParaRPr lang="en-US" sz="1800" dirty="0"/>
          </a:p>
        </p:txBody>
      </p:sp>
      <p:sp>
        <p:nvSpPr>
          <p:cNvPr id="9" name="Text 7"/>
          <p:cNvSpPr txBox="1"/>
          <p:nvPr/>
        </p:nvSpPr>
        <p:spPr>
          <a:xfrm>
            <a:off x="1463040" y="2011680"/>
            <a:ext cx="1645920" cy="914400"/>
          </a:xfrm>
          <a:prstGeom prst="rect">
            <a:avLst/>
          </a:prstGeom>
          <a:noFill/>
          <a:ln/>
        </p:spPr>
        <p:txBody>
          <a:bodyPr wrap="square" lIns="0" tIns="0" rIns="0" bIns="0" rtlCol="0" anchor="ctr"/>
          <a:lstStyle/>
          <a:p>
            <a:pPr indent="0" marL="0">
              <a:buNone/>
            </a:pPr>
            <a:r>
              <a:rPr lang="en-US" sz="1600" b="1" dirty="0">
                <a:solidFill>
                  <a:srgbClr val="1B1F2A"/>
                </a:solidFill>
                <a:latin typeface="Calibri" pitchFamily="34" charset="0"/>
                <a:ea typeface="Calibri" pitchFamily="34" charset="-122"/>
                <a:cs typeface="Calibri" pitchFamily="34" charset="-120"/>
              </a:rPr>
              <a:t>Performance</a:t>
            </a:r>
            <a:endParaRPr lang="en-US" sz="1600" dirty="0"/>
          </a:p>
        </p:txBody>
      </p:sp>
      <p:sp>
        <p:nvSpPr>
          <p:cNvPr id="10" name="Text 8"/>
          <p:cNvSpPr txBox="1"/>
          <p:nvPr/>
        </p:nvSpPr>
        <p:spPr>
          <a:xfrm>
            <a:off x="3200400" y="2011680"/>
            <a:ext cx="4023360" cy="914400"/>
          </a:xfrm>
          <a:prstGeom prst="rect">
            <a:avLst/>
          </a:prstGeom>
          <a:noFill/>
          <a:ln/>
        </p:spPr>
        <p:txBody>
          <a:bodyPr wrap="square" lIns="0" tIns="0" rIns="0" bIns="0" rtlCol="0" anchor="ctr"/>
          <a:lstStyle/>
          <a:p>
            <a:pPr indent="0" marL="0">
              <a:buNone/>
            </a:pPr>
            <a:r>
              <a:rPr lang="en-US" sz="1500" dirty="0">
                <a:solidFill>
                  <a:srgbClr val="1B1F2A"/>
                </a:solidFill>
                <a:latin typeface="Calibri" pitchFamily="34" charset="0"/>
                <a:ea typeface="Calibri" pitchFamily="34" charset="-122"/>
                <a:cs typeface="Calibri" pitchFamily="34" charset="-120"/>
              </a:rPr>
              <a:t>Can zero-shot models match a tuned CatBoost?</a:t>
            </a:r>
            <a:endParaRPr lang="en-US" sz="1500" dirty="0"/>
          </a:p>
        </p:txBody>
      </p:sp>
      <p:sp>
        <p:nvSpPr>
          <p:cNvPr id="11" name="Text 9"/>
          <p:cNvSpPr txBox="1"/>
          <p:nvPr/>
        </p:nvSpPr>
        <p:spPr>
          <a:xfrm>
            <a:off x="7498080" y="2011680"/>
            <a:ext cx="4023360" cy="914400"/>
          </a:xfrm>
          <a:prstGeom prst="rect">
            <a:avLst/>
          </a:prstGeom>
          <a:noFill/>
          <a:ln/>
        </p:spPr>
        <p:txBody>
          <a:bodyPr wrap="square" lIns="0" tIns="0" rIns="0" bIns="0" rtlCol="0" anchor="ctr"/>
          <a:lstStyle/>
          <a:p>
            <a:pPr indent="0" marL="0">
              <a:buNone/>
            </a:pPr>
            <a:r>
              <a:rPr lang="en-US" sz="1500" dirty="0">
                <a:solidFill>
                  <a:srgbClr val="5B6170"/>
                </a:solidFill>
                <a:latin typeface="Calibri" pitchFamily="34" charset="0"/>
                <a:ea typeface="Calibri" pitchFamily="34" charset="-122"/>
                <a:cs typeface="Calibri" pitchFamily="34" charset="-120"/>
              </a:rPr>
              <a:t>Compare accuracy, macro-F1, ROC-AUC + McNemar test</a:t>
            </a:r>
            <a:endParaRPr lang="en-US" sz="1500" dirty="0"/>
          </a:p>
        </p:txBody>
      </p:sp>
      <p:sp>
        <p:nvSpPr>
          <p:cNvPr id="12" name="Shape 10"/>
          <p:cNvSpPr/>
          <p:nvPr/>
        </p:nvSpPr>
        <p:spPr>
          <a:xfrm>
            <a:off x="548640" y="3090672"/>
            <a:ext cx="11094415" cy="914400"/>
          </a:xfrm>
          <a:prstGeom prst="roundRect">
            <a:avLst>
              <a:gd name="adj" fmla="val 8000"/>
            </a:avLst>
          </a:prstGeom>
          <a:solidFill>
            <a:srgbClr val="F2F3F5"/>
          </a:solidFill>
          <a:ln w="12700">
            <a:solidFill>
              <a:srgbClr val="F2F3F5"/>
            </a:solidFill>
            <a:prstDash val="solid"/>
          </a:ln>
        </p:spPr>
      </p:sp>
      <p:sp>
        <p:nvSpPr>
          <p:cNvPr id="13" name="Shape 11"/>
          <p:cNvSpPr/>
          <p:nvPr/>
        </p:nvSpPr>
        <p:spPr>
          <a:xfrm>
            <a:off x="731520" y="3273552"/>
            <a:ext cx="548640" cy="548640"/>
          </a:xfrm>
          <a:prstGeom prst="ellipse">
            <a:avLst/>
          </a:prstGeom>
          <a:solidFill>
            <a:srgbClr val="C8102E"/>
          </a:solidFill>
          <a:ln w="12700">
            <a:solidFill>
              <a:srgbClr val="C8102E"/>
            </a:solidFill>
            <a:prstDash val="solid"/>
          </a:ln>
        </p:spPr>
      </p:sp>
      <p:sp>
        <p:nvSpPr>
          <p:cNvPr id="14" name="Text 12"/>
          <p:cNvSpPr txBox="1"/>
          <p:nvPr/>
        </p:nvSpPr>
        <p:spPr>
          <a:xfrm>
            <a:off x="731520" y="3273552"/>
            <a:ext cx="548640" cy="548640"/>
          </a:xfrm>
          <a:prstGeom prst="rect">
            <a:avLst/>
          </a:prstGeom>
          <a:noFill/>
          <a:ln/>
        </p:spPr>
        <p:txBody>
          <a:bodyPr wrap="square" lIns="0" tIns="0" rIns="0" bIns="0" rtlCol="0" anchor="ctr"/>
          <a:lstStyle/>
          <a:p>
            <a:pPr algn="ctr" indent="0" marL="0">
              <a:buNone/>
            </a:pPr>
            <a:r>
              <a:rPr lang="en-US" sz="1800" b="1" dirty="0">
                <a:solidFill>
                  <a:srgbClr val="FFFFFF"/>
                </a:solidFill>
                <a:latin typeface="Cambria" pitchFamily="34" charset="0"/>
                <a:ea typeface="Cambria" pitchFamily="34" charset="-122"/>
                <a:cs typeface="Cambria" pitchFamily="34" charset="-120"/>
              </a:rPr>
              <a:t>2</a:t>
            </a:r>
            <a:endParaRPr lang="en-US" sz="1800" dirty="0"/>
          </a:p>
        </p:txBody>
      </p:sp>
      <p:sp>
        <p:nvSpPr>
          <p:cNvPr id="15" name="Text 13"/>
          <p:cNvSpPr txBox="1"/>
          <p:nvPr/>
        </p:nvSpPr>
        <p:spPr>
          <a:xfrm>
            <a:off x="1463040" y="3090672"/>
            <a:ext cx="1645920" cy="914400"/>
          </a:xfrm>
          <a:prstGeom prst="rect">
            <a:avLst/>
          </a:prstGeom>
          <a:noFill/>
          <a:ln/>
        </p:spPr>
        <p:txBody>
          <a:bodyPr wrap="square" lIns="0" tIns="0" rIns="0" bIns="0" rtlCol="0" anchor="ctr"/>
          <a:lstStyle/>
          <a:p>
            <a:pPr indent="0" marL="0">
              <a:buNone/>
            </a:pPr>
            <a:r>
              <a:rPr lang="en-US" sz="1600" b="1" dirty="0">
                <a:solidFill>
                  <a:srgbClr val="1B1F2A"/>
                </a:solidFill>
                <a:latin typeface="Calibri" pitchFamily="34" charset="0"/>
                <a:ea typeface="Calibri" pitchFamily="34" charset="-122"/>
                <a:cs typeface="Calibri" pitchFamily="34" charset="-120"/>
              </a:rPr>
              <a:t>Data efficiency</a:t>
            </a:r>
            <a:endParaRPr lang="en-US" sz="1600" dirty="0"/>
          </a:p>
        </p:txBody>
      </p:sp>
      <p:sp>
        <p:nvSpPr>
          <p:cNvPr id="16" name="Text 14"/>
          <p:cNvSpPr txBox="1"/>
          <p:nvPr/>
        </p:nvSpPr>
        <p:spPr>
          <a:xfrm>
            <a:off x="3200400" y="3090672"/>
            <a:ext cx="4023360" cy="914400"/>
          </a:xfrm>
          <a:prstGeom prst="rect">
            <a:avLst/>
          </a:prstGeom>
          <a:noFill/>
          <a:ln/>
        </p:spPr>
        <p:txBody>
          <a:bodyPr wrap="square" lIns="0" tIns="0" rIns="0" bIns="0" rtlCol="0" anchor="ctr"/>
          <a:lstStyle/>
          <a:p>
            <a:pPr indent="0" marL="0">
              <a:buNone/>
            </a:pPr>
            <a:r>
              <a:rPr lang="en-US" sz="1500" dirty="0">
                <a:solidFill>
                  <a:srgbClr val="1B1F2A"/>
                </a:solidFill>
                <a:latin typeface="Calibri" pitchFamily="34" charset="0"/>
                <a:ea typeface="Calibri" pitchFamily="34" charset="-122"/>
                <a:cs typeface="Calibri" pitchFamily="34" charset="-120"/>
              </a:rPr>
              <a:t>How does training size change results?</a:t>
            </a:r>
            <a:endParaRPr lang="en-US" sz="1500" dirty="0"/>
          </a:p>
        </p:txBody>
      </p:sp>
      <p:sp>
        <p:nvSpPr>
          <p:cNvPr id="17" name="Text 15"/>
          <p:cNvSpPr txBox="1"/>
          <p:nvPr/>
        </p:nvSpPr>
        <p:spPr>
          <a:xfrm>
            <a:off x="7498080" y="3090672"/>
            <a:ext cx="4023360" cy="914400"/>
          </a:xfrm>
          <a:prstGeom prst="rect">
            <a:avLst/>
          </a:prstGeom>
          <a:noFill/>
          <a:ln/>
        </p:spPr>
        <p:txBody>
          <a:bodyPr wrap="square" lIns="0" tIns="0" rIns="0" bIns="0" rtlCol="0" anchor="ctr"/>
          <a:lstStyle/>
          <a:p>
            <a:pPr indent="0" marL="0">
              <a:buNone/>
            </a:pPr>
            <a:r>
              <a:rPr lang="en-US" sz="1500" dirty="0">
                <a:solidFill>
                  <a:srgbClr val="5B6170"/>
                </a:solidFill>
                <a:latin typeface="Calibri" pitchFamily="34" charset="0"/>
                <a:ea typeface="Calibri" pitchFamily="34" charset="-122"/>
                <a:cs typeface="Calibri" pitchFamily="34" charset="-120"/>
              </a:rPr>
              <a:t>Retrain with 100, 500, 2,000 rows</a:t>
            </a:r>
            <a:endParaRPr lang="en-US" sz="1500" dirty="0"/>
          </a:p>
        </p:txBody>
      </p:sp>
      <p:sp>
        <p:nvSpPr>
          <p:cNvPr id="18" name="Shape 16"/>
          <p:cNvSpPr/>
          <p:nvPr/>
        </p:nvSpPr>
        <p:spPr>
          <a:xfrm>
            <a:off x="548640" y="4169664"/>
            <a:ext cx="11094415" cy="914400"/>
          </a:xfrm>
          <a:prstGeom prst="roundRect">
            <a:avLst>
              <a:gd name="adj" fmla="val 8000"/>
            </a:avLst>
          </a:prstGeom>
          <a:solidFill>
            <a:srgbClr val="F2F3F5"/>
          </a:solidFill>
          <a:ln w="12700">
            <a:solidFill>
              <a:srgbClr val="F2F3F5"/>
            </a:solidFill>
            <a:prstDash val="solid"/>
          </a:ln>
        </p:spPr>
      </p:sp>
      <p:sp>
        <p:nvSpPr>
          <p:cNvPr id="19" name="Shape 17"/>
          <p:cNvSpPr/>
          <p:nvPr/>
        </p:nvSpPr>
        <p:spPr>
          <a:xfrm>
            <a:off x="731520" y="4352544"/>
            <a:ext cx="548640" cy="548640"/>
          </a:xfrm>
          <a:prstGeom prst="ellipse">
            <a:avLst/>
          </a:prstGeom>
          <a:solidFill>
            <a:srgbClr val="C8102E"/>
          </a:solidFill>
          <a:ln w="12700">
            <a:solidFill>
              <a:srgbClr val="C8102E"/>
            </a:solidFill>
            <a:prstDash val="solid"/>
          </a:ln>
        </p:spPr>
      </p:sp>
      <p:sp>
        <p:nvSpPr>
          <p:cNvPr id="20" name="Text 18"/>
          <p:cNvSpPr txBox="1"/>
          <p:nvPr/>
        </p:nvSpPr>
        <p:spPr>
          <a:xfrm>
            <a:off x="731520" y="4352544"/>
            <a:ext cx="548640" cy="548640"/>
          </a:xfrm>
          <a:prstGeom prst="rect">
            <a:avLst/>
          </a:prstGeom>
          <a:noFill/>
          <a:ln/>
        </p:spPr>
        <p:txBody>
          <a:bodyPr wrap="square" lIns="0" tIns="0" rIns="0" bIns="0" rtlCol="0" anchor="ctr"/>
          <a:lstStyle/>
          <a:p>
            <a:pPr algn="ctr" indent="0" marL="0">
              <a:buNone/>
            </a:pPr>
            <a:r>
              <a:rPr lang="en-US" sz="1800" b="1" dirty="0">
                <a:solidFill>
                  <a:srgbClr val="FFFFFF"/>
                </a:solidFill>
                <a:latin typeface="Cambria" pitchFamily="34" charset="0"/>
                <a:ea typeface="Cambria" pitchFamily="34" charset="-122"/>
                <a:cs typeface="Cambria" pitchFamily="34" charset="-120"/>
              </a:rPr>
              <a:t>3</a:t>
            </a:r>
            <a:endParaRPr lang="en-US" sz="1800" dirty="0"/>
          </a:p>
        </p:txBody>
      </p:sp>
      <p:sp>
        <p:nvSpPr>
          <p:cNvPr id="21" name="Text 19"/>
          <p:cNvSpPr txBox="1"/>
          <p:nvPr/>
        </p:nvSpPr>
        <p:spPr>
          <a:xfrm>
            <a:off x="1463040" y="4169664"/>
            <a:ext cx="1645920" cy="914400"/>
          </a:xfrm>
          <a:prstGeom prst="rect">
            <a:avLst/>
          </a:prstGeom>
          <a:noFill/>
          <a:ln/>
        </p:spPr>
        <p:txBody>
          <a:bodyPr wrap="square" lIns="0" tIns="0" rIns="0" bIns="0" rtlCol="0" anchor="ctr"/>
          <a:lstStyle/>
          <a:p>
            <a:pPr indent="0" marL="0">
              <a:buNone/>
            </a:pPr>
            <a:r>
              <a:rPr lang="en-US" sz="1600" b="1" dirty="0">
                <a:solidFill>
                  <a:srgbClr val="1B1F2A"/>
                </a:solidFill>
                <a:latin typeface="Calibri" pitchFamily="34" charset="0"/>
                <a:ea typeface="Calibri" pitchFamily="34" charset="-122"/>
                <a:cs typeface="Calibri" pitchFamily="34" charset="-120"/>
              </a:rPr>
              <a:t>Explainability</a:t>
            </a:r>
            <a:endParaRPr lang="en-US" sz="1600" dirty="0"/>
          </a:p>
        </p:txBody>
      </p:sp>
      <p:sp>
        <p:nvSpPr>
          <p:cNvPr id="22" name="Text 20"/>
          <p:cNvSpPr txBox="1"/>
          <p:nvPr/>
        </p:nvSpPr>
        <p:spPr>
          <a:xfrm>
            <a:off x="3200400" y="4169664"/>
            <a:ext cx="4023360" cy="914400"/>
          </a:xfrm>
          <a:prstGeom prst="rect">
            <a:avLst/>
          </a:prstGeom>
          <a:noFill/>
          <a:ln/>
        </p:spPr>
        <p:txBody>
          <a:bodyPr wrap="square" lIns="0" tIns="0" rIns="0" bIns="0" rtlCol="0" anchor="ctr"/>
          <a:lstStyle/>
          <a:p>
            <a:pPr indent="0" marL="0">
              <a:buNone/>
            </a:pPr>
            <a:r>
              <a:rPr lang="en-US" sz="1500" dirty="0">
                <a:solidFill>
                  <a:srgbClr val="1B1F2A"/>
                </a:solidFill>
                <a:latin typeface="Calibri" pitchFamily="34" charset="0"/>
                <a:ea typeface="Calibri" pitchFamily="34" charset="-122"/>
                <a:cs typeface="Calibri" pitchFamily="34" charset="-120"/>
              </a:rPr>
              <a:t>Which features drive predictions?</a:t>
            </a:r>
            <a:endParaRPr lang="en-US" sz="1500" dirty="0"/>
          </a:p>
        </p:txBody>
      </p:sp>
      <p:sp>
        <p:nvSpPr>
          <p:cNvPr id="23" name="Text 21"/>
          <p:cNvSpPr txBox="1"/>
          <p:nvPr/>
        </p:nvSpPr>
        <p:spPr>
          <a:xfrm>
            <a:off x="7498080" y="4169664"/>
            <a:ext cx="4023360" cy="914400"/>
          </a:xfrm>
          <a:prstGeom prst="rect">
            <a:avLst/>
          </a:prstGeom>
          <a:noFill/>
          <a:ln/>
        </p:spPr>
        <p:txBody>
          <a:bodyPr wrap="square" lIns="0" tIns="0" rIns="0" bIns="0" rtlCol="0" anchor="ctr"/>
          <a:lstStyle/>
          <a:p>
            <a:pPr indent="0" marL="0">
              <a:buNone/>
            </a:pPr>
            <a:r>
              <a:rPr lang="en-US" sz="1500" dirty="0">
                <a:solidFill>
                  <a:srgbClr val="5B6170"/>
                </a:solidFill>
                <a:latin typeface="Calibri" pitchFamily="34" charset="0"/>
                <a:ea typeface="Calibri" pitchFamily="34" charset="-122"/>
                <a:cs typeface="Calibri" pitchFamily="34" charset="-120"/>
              </a:rPr>
              <a:t>SHAP for all three models</a:t>
            </a:r>
            <a:endParaRPr lang="en-US" sz="1500" dirty="0"/>
          </a:p>
        </p:txBody>
      </p:sp>
      <p:sp>
        <p:nvSpPr>
          <p:cNvPr id="24" name="Shape 22"/>
          <p:cNvSpPr/>
          <p:nvPr/>
        </p:nvSpPr>
        <p:spPr>
          <a:xfrm>
            <a:off x="548640" y="5248656"/>
            <a:ext cx="11094415" cy="914400"/>
          </a:xfrm>
          <a:prstGeom prst="roundRect">
            <a:avLst>
              <a:gd name="adj" fmla="val 8000"/>
            </a:avLst>
          </a:prstGeom>
          <a:solidFill>
            <a:srgbClr val="F2F3F5"/>
          </a:solidFill>
          <a:ln w="12700">
            <a:solidFill>
              <a:srgbClr val="F2F3F5"/>
            </a:solidFill>
            <a:prstDash val="solid"/>
          </a:ln>
        </p:spPr>
      </p:sp>
      <p:sp>
        <p:nvSpPr>
          <p:cNvPr id="25" name="Shape 23"/>
          <p:cNvSpPr/>
          <p:nvPr/>
        </p:nvSpPr>
        <p:spPr>
          <a:xfrm>
            <a:off x="731520" y="5431536"/>
            <a:ext cx="548640" cy="548640"/>
          </a:xfrm>
          <a:prstGeom prst="ellipse">
            <a:avLst/>
          </a:prstGeom>
          <a:solidFill>
            <a:srgbClr val="C8102E"/>
          </a:solidFill>
          <a:ln w="12700">
            <a:solidFill>
              <a:srgbClr val="C8102E"/>
            </a:solidFill>
            <a:prstDash val="solid"/>
          </a:ln>
        </p:spPr>
      </p:sp>
      <p:sp>
        <p:nvSpPr>
          <p:cNvPr id="26" name="Text 24"/>
          <p:cNvSpPr txBox="1"/>
          <p:nvPr/>
        </p:nvSpPr>
        <p:spPr>
          <a:xfrm>
            <a:off x="731520" y="5431536"/>
            <a:ext cx="548640" cy="548640"/>
          </a:xfrm>
          <a:prstGeom prst="rect">
            <a:avLst/>
          </a:prstGeom>
          <a:noFill/>
          <a:ln/>
        </p:spPr>
        <p:txBody>
          <a:bodyPr wrap="square" lIns="0" tIns="0" rIns="0" bIns="0" rtlCol="0" anchor="ctr"/>
          <a:lstStyle/>
          <a:p>
            <a:pPr algn="ctr" indent="0" marL="0">
              <a:buNone/>
            </a:pPr>
            <a:r>
              <a:rPr lang="en-US" sz="1800" b="1" dirty="0">
                <a:solidFill>
                  <a:srgbClr val="FFFFFF"/>
                </a:solidFill>
                <a:latin typeface="Cambria" pitchFamily="34" charset="0"/>
                <a:ea typeface="Cambria" pitchFamily="34" charset="-122"/>
                <a:cs typeface="Cambria" pitchFamily="34" charset="-120"/>
              </a:rPr>
              <a:t>4</a:t>
            </a:r>
            <a:endParaRPr lang="en-US" sz="1800" dirty="0"/>
          </a:p>
        </p:txBody>
      </p:sp>
      <p:sp>
        <p:nvSpPr>
          <p:cNvPr id="27" name="Text 25"/>
          <p:cNvSpPr txBox="1"/>
          <p:nvPr/>
        </p:nvSpPr>
        <p:spPr>
          <a:xfrm>
            <a:off x="1463040" y="5248656"/>
            <a:ext cx="1645920" cy="914400"/>
          </a:xfrm>
          <a:prstGeom prst="rect">
            <a:avLst/>
          </a:prstGeom>
          <a:noFill/>
          <a:ln/>
        </p:spPr>
        <p:txBody>
          <a:bodyPr wrap="square" lIns="0" tIns="0" rIns="0" bIns="0" rtlCol="0" anchor="ctr"/>
          <a:lstStyle/>
          <a:p>
            <a:pPr indent="0" marL="0">
              <a:buNone/>
            </a:pPr>
            <a:r>
              <a:rPr lang="en-US" sz="1600" b="1" dirty="0">
                <a:solidFill>
                  <a:srgbClr val="1B1F2A"/>
                </a:solidFill>
                <a:latin typeface="Calibri" pitchFamily="34" charset="0"/>
                <a:ea typeface="Calibri" pitchFamily="34" charset="-122"/>
                <a:cs typeface="Calibri" pitchFamily="34" charset="-120"/>
              </a:rPr>
              <a:t>Practicality</a:t>
            </a:r>
            <a:endParaRPr lang="en-US" sz="1600" dirty="0"/>
          </a:p>
        </p:txBody>
      </p:sp>
      <p:sp>
        <p:nvSpPr>
          <p:cNvPr id="28" name="Text 26"/>
          <p:cNvSpPr txBox="1"/>
          <p:nvPr/>
        </p:nvSpPr>
        <p:spPr>
          <a:xfrm>
            <a:off x="3200400" y="5248656"/>
            <a:ext cx="4023360" cy="914400"/>
          </a:xfrm>
          <a:prstGeom prst="rect">
            <a:avLst/>
          </a:prstGeom>
          <a:noFill/>
          <a:ln/>
        </p:spPr>
        <p:txBody>
          <a:bodyPr wrap="square" lIns="0" tIns="0" rIns="0" bIns="0" rtlCol="0" anchor="ctr"/>
          <a:lstStyle/>
          <a:p>
            <a:pPr indent="0" marL="0">
              <a:buNone/>
            </a:pPr>
            <a:r>
              <a:rPr lang="en-US" sz="1500" dirty="0">
                <a:solidFill>
                  <a:srgbClr val="1B1F2A"/>
                </a:solidFill>
                <a:latin typeface="Calibri" pitchFamily="34" charset="0"/>
                <a:ea typeface="Calibri" pitchFamily="34" charset="-122"/>
                <a:cs typeface="Calibri" pitchFamily="34" charset="-120"/>
              </a:rPr>
              <a:t>What do the models cost to run?</a:t>
            </a:r>
            <a:endParaRPr lang="en-US" sz="1500" dirty="0"/>
          </a:p>
        </p:txBody>
      </p:sp>
      <p:sp>
        <p:nvSpPr>
          <p:cNvPr id="29" name="Text 27"/>
          <p:cNvSpPr txBox="1"/>
          <p:nvPr/>
        </p:nvSpPr>
        <p:spPr>
          <a:xfrm>
            <a:off x="7498080" y="5248656"/>
            <a:ext cx="4023360" cy="914400"/>
          </a:xfrm>
          <a:prstGeom prst="rect">
            <a:avLst/>
          </a:prstGeom>
          <a:noFill/>
          <a:ln/>
        </p:spPr>
        <p:txBody>
          <a:bodyPr wrap="square" lIns="0" tIns="0" rIns="0" bIns="0" rtlCol="0" anchor="ctr"/>
          <a:lstStyle/>
          <a:p>
            <a:pPr indent="0" marL="0">
              <a:buNone/>
            </a:pPr>
            <a:r>
              <a:rPr lang="en-US" sz="1500" dirty="0">
                <a:solidFill>
                  <a:srgbClr val="5B6170"/>
                </a:solidFill>
                <a:latin typeface="Calibri" pitchFamily="34" charset="0"/>
                <a:ea typeface="Calibri" pitchFamily="34" charset="-122"/>
                <a:cs typeface="Calibri" pitchFamily="34" charset="-120"/>
              </a:rPr>
              <a:t>Runtime and implementation issues</a:t>
            </a:r>
            <a:endParaRPr lang="en-US" sz="1500" dirty="0"/>
          </a:p>
        </p:txBody>
      </p:sp>
      <p:sp>
        <p:nvSpPr>
          <p:cNvPr id="25" name="Slide Number Placeholder 0"/>
          <p:cNvSpPr>
            <a:spLocks noGrp="1"/>
          </p:cNvSpPr>
          <p:nvPr>
            <p:ph type="sldNum" sz="quarter" idx="4294967295"/>
          </p:nvPr>
        </p:nvSpPr>
        <p:spPr>
          <a:xfrm>
            <a:off x="11368735" y="6446520"/>
            <a:ext cx="457200" cy="274320"/>
          </a:xfrm>
          <a:prstGeom prst="rect">
            <a:avLst/>
          </a:prstGeom>
          <a:extLst>
            <a:ext uri="{C572A759-6A51-4108-AA02-DFA0A04FC94B}">
              <ma14:wrappingTextBoxFlag xmlns:ma14="http://schemas.microsoft.com/office/mac/drawingml/2011/main" val="0"/>
            </a:ext>
          </a:extLst>
        </p:spPr>
        <p:txBody>
          <a:bodyPr/>
          <a:lstStyle>
            <a:lvl1pPr>
              <a:defRPr sz="1000">
                <a:solidFill>
                  <a:srgbClr val="5B6170"/>
                </a:solidFill>
                <a:latin typeface="Calibri"/>
                <a:ea typeface="Calibri"/>
                <a:cs typeface="Calibri"/>
              </a:defRPr>
            </a:lvl1pPr>
          </a:lstStyle>
          <a:p>
            <a:pPr algn="r"/>
            <a:fld id="{F7021451-1387-4CA6-816F-3879F97B5CBC}" type="slidenum">
              <a:rPr b="0" lang="en-US"/>
              <a:t>5</a:t>
            </a:fld>
            <a:endParaRPr lang="en-US"/>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6">
    <p:bg>
      <p:bgPr>
        <a:solidFill>
          <a:srgbClr val="FFFFFF"/>
        </a:solidFill>
      </p:bgPr>
    </p:bg>
    <p:spTree>
      <p:nvGrpSpPr>
        <p:cNvPr id="1" name=""/>
        <p:cNvGrpSpPr/>
        <p:nvPr/>
      </p:nvGrpSpPr>
      <p:grpSpPr>
        <a:xfrm>
          <a:off x="0" y="0"/>
          <a:ext cx="0" cy="0"/>
          <a:chOff x="0" y="0"/>
          <a:chExt cx="0" cy="0"/>
        </a:xfrm>
      </p:grpSpPr>
      <p:sp>
        <p:nvSpPr>
          <p:cNvPr id="2" name="Text 0"/>
          <p:cNvSpPr txBox="1"/>
          <p:nvPr/>
        </p:nvSpPr>
        <p:spPr>
          <a:xfrm>
            <a:off x="548640" y="365760"/>
            <a:ext cx="11094415" cy="685800"/>
          </a:xfrm>
          <a:prstGeom prst="rect">
            <a:avLst/>
          </a:prstGeom>
          <a:noFill/>
          <a:ln/>
        </p:spPr>
        <p:txBody>
          <a:bodyPr wrap="square" lIns="0" tIns="0" rIns="0" bIns="0" rtlCol="0" anchor="ctr"/>
          <a:lstStyle/>
          <a:p>
            <a:pPr indent="0" marL="0">
              <a:buNone/>
            </a:pPr>
            <a:r>
              <a:rPr lang="en-US" sz="3200" b="1" dirty="0">
                <a:solidFill>
                  <a:srgbClr val="1B1F2A"/>
                </a:solidFill>
                <a:latin typeface="Cambria" pitchFamily="34" charset="0"/>
                <a:ea typeface="Cambria" pitchFamily="34" charset="-122"/>
                <a:cs typeface="Cambria" pitchFamily="34" charset="-120"/>
              </a:rPr>
              <a:t>What the literature says</a:t>
            </a:r>
            <a:endParaRPr lang="en-US" sz="3200" dirty="0"/>
          </a:p>
        </p:txBody>
      </p:sp>
      <p:sp>
        <p:nvSpPr>
          <p:cNvPr id="3" name="Text 1"/>
          <p:cNvSpPr txBox="1"/>
          <p:nvPr/>
        </p:nvSpPr>
        <p:spPr>
          <a:xfrm>
            <a:off x="548640" y="1024128"/>
            <a:ext cx="11094415" cy="365760"/>
          </a:xfrm>
          <a:prstGeom prst="rect">
            <a:avLst/>
          </a:prstGeom>
          <a:noFill/>
          <a:ln/>
        </p:spPr>
        <p:txBody>
          <a:bodyPr wrap="square" lIns="0" tIns="0" rIns="0" bIns="0" rtlCol="0" anchor="ctr"/>
          <a:lstStyle/>
          <a:p>
            <a:pPr indent="0" marL="0">
              <a:buNone/>
            </a:pPr>
            <a:r>
              <a:rPr lang="en-US" sz="1500" i="1" dirty="0">
                <a:solidFill>
                  <a:srgbClr val="5B6170"/>
                </a:solidFill>
                <a:latin typeface="Calibri" pitchFamily="34" charset="0"/>
                <a:ea typeface="Calibri" pitchFamily="34" charset="-122"/>
                <a:cs typeface="Calibri" pitchFamily="34" charset="-120"/>
              </a:rPr>
              <a:t>32 sources reviewed</a:t>
            </a:r>
            <a:endParaRPr lang="en-US" sz="1500" dirty="0"/>
          </a:p>
        </p:txBody>
      </p:sp>
      <p:sp>
        <p:nvSpPr>
          <p:cNvPr id="4" name="Shape 2"/>
          <p:cNvSpPr/>
          <p:nvPr/>
        </p:nvSpPr>
        <p:spPr>
          <a:xfrm>
            <a:off x="548640" y="1737360"/>
            <a:ext cx="640080" cy="640080"/>
          </a:xfrm>
          <a:prstGeom prst="ellipse">
            <a:avLst/>
          </a:prstGeom>
          <a:solidFill>
            <a:srgbClr val="C8102E"/>
          </a:solidFill>
          <a:ln w="12700">
            <a:solidFill>
              <a:srgbClr val="C8102E"/>
            </a:solidFill>
            <a:prstDash val="solid"/>
          </a:ln>
        </p:spPr>
      </p:sp>
      <p:pic>
        <p:nvPicPr>
          <p:cNvPr id="5" name="Image 0" descr="preencoded.png">    </p:cNvPr>
          <p:cNvPicPr>
            <a:picLocks noChangeAspect="1"/>
          </p:cNvPicPr>
          <p:nvPr/>
        </p:nvPicPr>
        <p:blipFill>
          <a:blip r:embed="rId1"/>
          <a:stretch>
            <a:fillRect/>
          </a:stretch>
        </p:blipFill>
        <p:spPr>
          <a:xfrm>
            <a:off x="715061" y="1903781"/>
            <a:ext cx="307238" cy="307238"/>
          </a:xfrm>
          <a:prstGeom prst="rect">
            <a:avLst/>
          </a:prstGeom>
        </p:spPr>
      </p:pic>
      <p:sp>
        <p:nvSpPr>
          <p:cNvPr id="6" name="Text 3"/>
          <p:cNvSpPr txBox="1"/>
          <p:nvPr/>
        </p:nvSpPr>
        <p:spPr>
          <a:xfrm>
            <a:off x="1417320" y="1691640"/>
            <a:ext cx="4480560" cy="365760"/>
          </a:xfrm>
          <a:prstGeom prst="rect">
            <a:avLst/>
          </a:prstGeom>
          <a:noFill/>
          <a:ln/>
        </p:spPr>
        <p:txBody>
          <a:bodyPr wrap="square" lIns="0" tIns="0" rIns="0" bIns="0" rtlCol="0" anchor="t"/>
          <a:lstStyle/>
          <a:p>
            <a:pPr indent="0" marL="0">
              <a:buNone/>
            </a:pPr>
            <a:r>
              <a:rPr lang="en-US" sz="1800" b="1" dirty="0">
                <a:solidFill>
                  <a:srgbClr val="1B1F2A"/>
                </a:solidFill>
                <a:latin typeface="Calibri" pitchFamily="34" charset="0"/>
                <a:ea typeface="Calibri" pitchFamily="34" charset="-122"/>
                <a:cs typeface="Calibri" pitchFamily="34" charset="-120"/>
              </a:rPr>
              <a:t>Tuned trees</a:t>
            </a:r>
            <a:endParaRPr lang="en-US" sz="1800" dirty="0"/>
          </a:p>
        </p:txBody>
      </p:sp>
      <p:sp>
        <p:nvSpPr>
          <p:cNvPr id="7" name="Text 4"/>
          <p:cNvSpPr txBox="1"/>
          <p:nvPr/>
        </p:nvSpPr>
        <p:spPr>
          <a:xfrm>
            <a:off x="1417320" y="2075688"/>
            <a:ext cx="4480560" cy="1005840"/>
          </a:xfrm>
          <a:prstGeom prst="rect">
            <a:avLst/>
          </a:prstGeom>
          <a:noFill/>
          <a:ln/>
        </p:spPr>
        <p:txBody>
          <a:bodyPr wrap="square" lIns="0" tIns="0" rIns="0" bIns="0" rtlCol="0" anchor="t"/>
          <a:lstStyle/>
          <a:p>
            <a:pPr indent="0" marL="0">
              <a:buNone/>
            </a:pPr>
            <a:r>
              <a:rPr lang="en-US" sz="1500" dirty="0">
                <a:solidFill>
                  <a:srgbClr val="5B6170"/>
                </a:solidFill>
                <a:latin typeface="Calibri" pitchFamily="34" charset="0"/>
                <a:ea typeface="Calibri" pitchFamily="34" charset="-122"/>
                <a:cs typeface="Calibri" pitchFamily="34" charset="-120"/>
              </a:rPr>
              <a:t>Gradient boosting (XGBoost, LightGBM, CatBoost) is still the strong baseline on tabular data.</a:t>
            </a:r>
            <a:endParaRPr lang="en-US" sz="1500" dirty="0"/>
          </a:p>
        </p:txBody>
      </p:sp>
      <p:sp>
        <p:nvSpPr>
          <p:cNvPr id="8" name="Shape 5"/>
          <p:cNvSpPr/>
          <p:nvPr/>
        </p:nvSpPr>
        <p:spPr>
          <a:xfrm>
            <a:off x="6172200" y="1737360"/>
            <a:ext cx="640080" cy="640080"/>
          </a:xfrm>
          <a:prstGeom prst="ellipse">
            <a:avLst/>
          </a:prstGeom>
          <a:solidFill>
            <a:srgbClr val="C8102E"/>
          </a:solidFill>
          <a:ln w="12700">
            <a:solidFill>
              <a:srgbClr val="C8102E"/>
            </a:solidFill>
            <a:prstDash val="solid"/>
          </a:ln>
        </p:spPr>
      </p:sp>
      <p:pic>
        <p:nvPicPr>
          <p:cNvPr id="9" name="Image 1" descr="preencoded.png">    </p:cNvPr>
          <p:cNvPicPr>
            <a:picLocks noChangeAspect="1"/>
          </p:cNvPicPr>
          <p:nvPr/>
        </p:nvPicPr>
        <p:blipFill>
          <a:blip r:embed="rId2"/>
          <a:stretch>
            <a:fillRect/>
          </a:stretch>
        </p:blipFill>
        <p:spPr>
          <a:xfrm>
            <a:off x="6338621" y="1903781"/>
            <a:ext cx="307238" cy="307238"/>
          </a:xfrm>
          <a:prstGeom prst="rect">
            <a:avLst/>
          </a:prstGeom>
        </p:spPr>
      </p:pic>
      <p:sp>
        <p:nvSpPr>
          <p:cNvPr id="10" name="Text 6"/>
          <p:cNvSpPr txBox="1"/>
          <p:nvPr/>
        </p:nvSpPr>
        <p:spPr>
          <a:xfrm>
            <a:off x="7040880" y="1691640"/>
            <a:ext cx="4480560" cy="365760"/>
          </a:xfrm>
          <a:prstGeom prst="rect">
            <a:avLst/>
          </a:prstGeom>
          <a:noFill/>
          <a:ln/>
        </p:spPr>
        <p:txBody>
          <a:bodyPr wrap="square" lIns="0" tIns="0" rIns="0" bIns="0" rtlCol="0" anchor="t"/>
          <a:lstStyle/>
          <a:p>
            <a:pPr indent="0" marL="0">
              <a:buNone/>
            </a:pPr>
            <a:r>
              <a:rPr lang="en-US" sz="1800" b="1" dirty="0">
                <a:solidFill>
                  <a:srgbClr val="1B1F2A"/>
                </a:solidFill>
                <a:latin typeface="Calibri" pitchFamily="34" charset="0"/>
                <a:ea typeface="Calibri" pitchFamily="34" charset="-122"/>
                <a:cs typeface="Calibri" pitchFamily="34" charset="-120"/>
              </a:rPr>
              <a:t>Tabular foundation models</a:t>
            </a:r>
            <a:endParaRPr lang="en-US" sz="1800" dirty="0"/>
          </a:p>
        </p:txBody>
      </p:sp>
      <p:sp>
        <p:nvSpPr>
          <p:cNvPr id="11" name="Text 7"/>
          <p:cNvSpPr txBox="1"/>
          <p:nvPr/>
        </p:nvSpPr>
        <p:spPr>
          <a:xfrm>
            <a:off x="7040880" y="2075688"/>
            <a:ext cx="4480560" cy="1005840"/>
          </a:xfrm>
          <a:prstGeom prst="rect">
            <a:avLst/>
          </a:prstGeom>
          <a:noFill/>
          <a:ln/>
        </p:spPr>
        <p:txBody>
          <a:bodyPr wrap="square" lIns="0" tIns="0" rIns="0" bIns="0" rtlCol="0" anchor="t"/>
          <a:lstStyle/>
          <a:p>
            <a:pPr indent="0" marL="0">
              <a:buNone/>
            </a:pPr>
            <a:r>
              <a:rPr lang="en-US" sz="1500" dirty="0">
                <a:solidFill>
                  <a:srgbClr val="5B6170"/>
                </a:solidFill>
                <a:latin typeface="Calibri" pitchFamily="34" charset="0"/>
                <a:ea typeface="Calibri" pitchFamily="34" charset="-122"/>
                <a:cs typeface="Calibri" pitchFamily="34" charset="-120"/>
              </a:rPr>
              <a:t>TabPFN (2023, 2025) and TabFM (2026) predict in one forward pass — no tuning.</a:t>
            </a:r>
            <a:endParaRPr lang="en-US" sz="1500" dirty="0"/>
          </a:p>
        </p:txBody>
      </p:sp>
      <p:sp>
        <p:nvSpPr>
          <p:cNvPr id="12" name="Shape 8"/>
          <p:cNvSpPr/>
          <p:nvPr/>
        </p:nvSpPr>
        <p:spPr>
          <a:xfrm>
            <a:off x="548640" y="3337560"/>
            <a:ext cx="640080" cy="640080"/>
          </a:xfrm>
          <a:prstGeom prst="ellipse">
            <a:avLst/>
          </a:prstGeom>
          <a:solidFill>
            <a:srgbClr val="C8102E"/>
          </a:solidFill>
          <a:ln w="12700">
            <a:solidFill>
              <a:srgbClr val="C8102E"/>
            </a:solidFill>
            <a:prstDash val="solid"/>
          </a:ln>
        </p:spPr>
      </p:sp>
      <p:pic>
        <p:nvPicPr>
          <p:cNvPr id="13" name="Image 2" descr="preencoded.png">    </p:cNvPr>
          <p:cNvPicPr>
            <a:picLocks noChangeAspect="1"/>
          </p:cNvPicPr>
          <p:nvPr/>
        </p:nvPicPr>
        <p:blipFill>
          <a:blip r:embed="rId3"/>
          <a:stretch>
            <a:fillRect/>
          </a:stretch>
        </p:blipFill>
        <p:spPr>
          <a:xfrm>
            <a:off x="715061" y="3503981"/>
            <a:ext cx="307238" cy="307238"/>
          </a:xfrm>
          <a:prstGeom prst="rect">
            <a:avLst/>
          </a:prstGeom>
        </p:spPr>
      </p:pic>
      <p:sp>
        <p:nvSpPr>
          <p:cNvPr id="14" name="Text 9"/>
          <p:cNvSpPr txBox="1"/>
          <p:nvPr/>
        </p:nvSpPr>
        <p:spPr>
          <a:xfrm>
            <a:off x="1417320" y="3291840"/>
            <a:ext cx="4480560" cy="365760"/>
          </a:xfrm>
          <a:prstGeom prst="rect">
            <a:avLst/>
          </a:prstGeom>
          <a:noFill/>
          <a:ln/>
        </p:spPr>
        <p:txBody>
          <a:bodyPr wrap="square" lIns="0" tIns="0" rIns="0" bIns="0" rtlCol="0" anchor="t"/>
          <a:lstStyle/>
          <a:p>
            <a:pPr indent="0" marL="0">
              <a:buNone/>
            </a:pPr>
            <a:r>
              <a:rPr lang="en-US" sz="1800" b="1" dirty="0">
                <a:solidFill>
                  <a:srgbClr val="1B1F2A"/>
                </a:solidFill>
                <a:latin typeface="Calibri" pitchFamily="34" charset="0"/>
                <a:ea typeface="Calibri" pitchFamily="34" charset="-122"/>
                <a:cs typeface="Calibri" pitchFamily="34" charset="-120"/>
              </a:rPr>
              <a:t>SHAP</a:t>
            </a:r>
            <a:endParaRPr lang="en-US" sz="1800" dirty="0"/>
          </a:p>
        </p:txBody>
      </p:sp>
      <p:sp>
        <p:nvSpPr>
          <p:cNvPr id="15" name="Text 10"/>
          <p:cNvSpPr txBox="1"/>
          <p:nvPr/>
        </p:nvSpPr>
        <p:spPr>
          <a:xfrm>
            <a:off x="1417320" y="3675888"/>
            <a:ext cx="4480560" cy="1005840"/>
          </a:xfrm>
          <a:prstGeom prst="rect">
            <a:avLst/>
          </a:prstGeom>
          <a:noFill/>
          <a:ln/>
        </p:spPr>
        <p:txBody>
          <a:bodyPr wrap="square" lIns="0" tIns="0" rIns="0" bIns="0" rtlCol="0" anchor="t"/>
          <a:lstStyle/>
          <a:p>
            <a:pPr indent="0" marL="0">
              <a:buNone/>
            </a:pPr>
            <a:r>
              <a:rPr lang="en-US" sz="1500" dirty="0">
                <a:solidFill>
                  <a:srgbClr val="5B6170"/>
                </a:solidFill>
                <a:latin typeface="Calibri" pitchFamily="34" charset="0"/>
                <a:ea typeface="Calibri" pitchFamily="34" charset="-122"/>
                <a:cs typeface="Calibri" pitchFamily="34" charset="-120"/>
              </a:rPr>
              <a:t>Shapley values explain any model, so different models can be compared.</a:t>
            </a:r>
            <a:endParaRPr lang="en-US" sz="1500" dirty="0"/>
          </a:p>
        </p:txBody>
      </p:sp>
      <p:sp>
        <p:nvSpPr>
          <p:cNvPr id="16" name="Shape 11"/>
          <p:cNvSpPr/>
          <p:nvPr/>
        </p:nvSpPr>
        <p:spPr>
          <a:xfrm>
            <a:off x="6172200" y="3337560"/>
            <a:ext cx="640080" cy="640080"/>
          </a:xfrm>
          <a:prstGeom prst="ellipse">
            <a:avLst/>
          </a:prstGeom>
          <a:solidFill>
            <a:srgbClr val="C8102E"/>
          </a:solidFill>
          <a:ln w="12700">
            <a:solidFill>
              <a:srgbClr val="C8102E"/>
            </a:solidFill>
            <a:prstDash val="solid"/>
          </a:ln>
        </p:spPr>
      </p:sp>
      <p:pic>
        <p:nvPicPr>
          <p:cNvPr id="17" name="Image 3" descr="preencoded.png">    </p:cNvPr>
          <p:cNvPicPr>
            <a:picLocks noChangeAspect="1"/>
          </p:cNvPicPr>
          <p:nvPr/>
        </p:nvPicPr>
        <p:blipFill>
          <a:blip r:embed="rId4"/>
          <a:stretch>
            <a:fillRect/>
          </a:stretch>
        </p:blipFill>
        <p:spPr>
          <a:xfrm>
            <a:off x="6338621" y="3503981"/>
            <a:ext cx="307238" cy="307238"/>
          </a:xfrm>
          <a:prstGeom prst="rect">
            <a:avLst/>
          </a:prstGeom>
        </p:spPr>
      </p:pic>
      <p:sp>
        <p:nvSpPr>
          <p:cNvPr id="18" name="Text 12"/>
          <p:cNvSpPr txBox="1"/>
          <p:nvPr/>
        </p:nvSpPr>
        <p:spPr>
          <a:xfrm>
            <a:off x="7040880" y="3291840"/>
            <a:ext cx="4480560" cy="365760"/>
          </a:xfrm>
          <a:prstGeom prst="rect">
            <a:avLst/>
          </a:prstGeom>
          <a:noFill/>
          <a:ln/>
        </p:spPr>
        <p:txBody>
          <a:bodyPr wrap="square" lIns="0" tIns="0" rIns="0" bIns="0" rtlCol="0" anchor="t"/>
          <a:lstStyle/>
          <a:p>
            <a:pPr indent="0" marL="0">
              <a:buNone/>
            </a:pPr>
            <a:r>
              <a:rPr lang="en-US" sz="1800" b="1" dirty="0">
                <a:solidFill>
                  <a:srgbClr val="1B1F2A"/>
                </a:solidFill>
                <a:latin typeface="Calibri" pitchFamily="34" charset="0"/>
                <a:ea typeface="Calibri" pitchFamily="34" charset="-122"/>
                <a:cs typeface="Calibri" pitchFamily="34" charset="-120"/>
              </a:rPr>
              <a:t>Hair loss studies</a:t>
            </a:r>
            <a:endParaRPr lang="en-US" sz="1800" dirty="0"/>
          </a:p>
        </p:txBody>
      </p:sp>
      <p:sp>
        <p:nvSpPr>
          <p:cNvPr id="19" name="Text 13"/>
          <p:cNvSpPr txBox="1"/>
          <p:nvPr/>
        </p:nvSpPr>
        <p:spPr>
          <a:xfrm>
            <a:off x="7040880" y="3675888"/>
            <a:ext cx="4480560" cy="1005840"/>
          </a:xfrm>
          <a:prstGeom prst="rect">
            <a:avLst/>
          </a:prstGeom>
          <a:noFill/>
          <a:ln/>
        </p:spPr>
        <p:txBody>
          <a:bodyPr wrap="square" lIns="0" tIns="0" rIns="0" bIns="0" rtlCol="0" anchor="t"/>
          <a:lstStyle/>
          <a:p>
            <a:pPr indent="0" marL="0">
              <a:buNone/>
            </a:pPr>
            <a:r>
              <a:rPr lang="en-US" sz="1500" dirty="0">
                <a:solidFill>
                  <a:srgbClr val="5B6170"/>
                </a:solidFill>
                <a:latin typeface="Calibri" pitchFamily="34" charset="0"/>
                <a:ea typeface="Calibri" pitchFamily="34" charset="-122"/>
                <a:cs typeface="Calibri" pitchFamily="34" charset="-120"/>
              </a:rPr>
              <a:t>Classical models, conflicting results, few explanations.</a:t>
            </a:r>
            <a:endParaRPr lang="en-US" sz="1500" dirty="0"/>
          </a:p>
        </p:txBody>
      </p:sp>
      <p:sp>
        <p:nvSpPr>
          <p:cNvPr id="20" name="Shape 14"/>
          <p:cNvSpPr/>
          <p:nvPr/>
        </p:nvSpPr>
        <p:spPr>
          <a:xfrm>
            <a:off x="548640" y="5074920"/>
            <a:ext cx="11094415" cy="960120"/>
          </a:xfrm>
          <a:prstGeom prst="roundRect">
            <a:avLst>
              <a:gd name="adj" fmla="val 7619"/>
            </a:avLst>
          </a:prstGeom>
          <a:solidFill>
            <a:srgbClr val="1B1F2A"/>
          </a:solidFill>
          <a:ln w="12700">
            <a:solidFill>
              <a:srgbClr val="1B1F2A"/>
            </a:solidFill>
            <a:prstDash val="solid"/>
          </a:ln>
        </p:spPr>
      </p:sp>
      <p:sp>
        <p:nvSpPr>
          <p:cNvPr id="21" name="Text 15"/>
          <p:cNvSpPr txBox="1"/>
          <p:nvPr/>
        </p:nvSpPr>
        <p:spPr>
          <a:xfrm>
            <a:off x="868680" y="5074920"/>
            <a:ext cx="10454335" cy="960120"/>
          </a:xfrm>
          <a:prstGeom prst="rect">
            <a:avLst/>
          </a:prstGeom>
          <a:noFill/>
          <a:ln/>
        </p:spPr>
        <p:txBody>
          <a:bodyPr wrap="square" lIns="0" tIns="0" rIns="0" bIns="0" rtlCol="0" anchor="ctr"/>
          <a:lstStyle/>
          <a:p>
            <a:pPr indent="0" marL="0">
              <a:buNone/>
            </a:pPr>
            <a:r>
              <a:rPr lang="en-US" sz="1700" b="1" dirty="0">
                <a:solidFill>
                  <a:srgbClr val="F2A0AB"/>
                </a:solidFill>
                <a:latin typeface="Calibri" pitchFamily="34" charset="0"/>
                <a:ea typeface="Calibri" pitchFamily="34" charset="-122"/>
                <a:cs typeface="Calibri" pitchFamily="34" charset="-120"/>
              </a:rPr>
              <a:t>Gap:  </a:t>
            </a:r>
            <a:pPr indent="0" marL="0">
              <a:buNone/>
            </a:pPr>
            <a:r>
              <a:rPr lang="en-US" sz="1700" dirty="0">
                <a:solidFill>
                  <a:srgbClr val="FFFFFF"/>
                </a:solidFill>
                <a:latin typeface="Calibri" pitchFamily="34" charset="0"/>
                <a:ea typeface="Calibri" pitchFamily="34" charset="-122"/>
                <a:cs typeface="Calibri" pitchFamily="34" charset="-120"/>
              </a:rPr>
              <a:t>no study compares two tabular foundation models with a tuned CatBoost on hair fall data, with SHAP for all.</a:t>
            </a:r>
            <a:endParaRPr lang="en-US" sz="1700" dirty="0"/>
          </a:p>
        </p:txBody>
      </p:sp>
      <p:sp>
        <p:nvSpPr>
          <p:cNvPr id="25" name="Slide Number Placeholder 0"/>
          <p:cNvSpPr>
            <a:spLocks noGrp="1"/>
          </p:cNvSpPr>
          <p:nvPr>
            <p:ph type="sldNum" sz="quarter" idx="4294967295"/>
          </p:nvPr>
        </p:nvSpPr>
        <p:spPr>
          <a:xfrm>
            <a:off x="11368735" y="6446520"/>
            <a:ext cx="457200" cy="274320"/>
          </a:xfrm>
          <a:prstGeom prst="rect">
            <a:avLst/>
          </a:prstGeom>
          <a:extLst>
            <a:ext uri="{C572A759-6A51-4108-AA02-DFA0A04FC94B}">
              <ma14:wrappingTextBoxFlag xmlns:ma14="http://schemas.microsoft.com/office/mac/drawingml/2011/main" val="0"/>
            </a:ext>
          </a:extLst>
        </p:spPr>
        <p:txBody>
          <a:bodyPr/>
          <a:lstStyle>
            <a:lvl1pPr>
              <a:defRPr sz="1000">
                <a:solidFill>
                  <a:srgbClr val="5B6170"/>
                </a:solidFill>
                <a:latin typeface="Calibri"/>
                <a:ea typeface="Calibri"/>
                <a:cs typeface="Calibri"/>
              </a:defRPr>
            </a:lvl1pPr>
          </a:lstStyle>
          <a:p>
            <a:pPr algn="r"/>
            <a:fld id="{F7021451-1387-4CA6-816F-3879F97B5CBC}" type="slidenum">
              <a:rPr b="0" lang="en-US"/>
              <a:t>6</a:t>
            </a:fld>
            <a:endParaRPr lang="en-US"/>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name="Slide 7">
    <p:bg>
      <p:bgPr>
        <a:solidFill>
          <a:srgbClr val="FFFFFF"/>
        </a:solidFill>
      </p:bgPr>
    </p:bg>
    <p:spTree>
      <p:nvGrpSpPr>
        <p:cNvPr id="1" name=""/>
        <p:cNvGrpSpPr/>
        <p:nvPr/>
      </p:nvGrpSpPr>
      <p:grpSpPr>
        <a:xfrm>
          <a:off x="0" y="0"/>
          <a:ext cx="0" cy="0"/>
          <a:chOff x="0" y="0"/>
          <a:chExt cx="0" cy="0"/>
        </a:xfrm>
      </p:grpSpPr>
      <p:sp>
        <p:nvSpPr>
          <p:cNvPr id="2" name="Text 0"/>
          <p:cNvSpPr txBox="1"/>
          <p:nvPr/>
        </p:nvSpPr>
        <p:spPr>
          <a:xfrm>
            <a:off x="548640" y="365760"/>
            <a:ext cx="11094415" cy="685800"/>
          </a:xfrm>
          <a:prstGeom prst="rect">
            <a:avLst/>
          </a:prstGeom>
          <a:noFill/>
          <a:ln/>
        </p:spPr>
        <p:txBody>
          <a:bodyPr wrap="square" lIns="0" tIns="0" rIns="0" bIns="0" rtlCol="0" anchor="ctr"/>
          <a:lstStyle/>
          <a:p>
            <a:pPr indent="0" marL="0">
              <a:buNone/>
            </a:pPr>
            <a:r>
              <a:rPr lang="en-US" sz="3200" b="1" dirty="0">
                <a:solidFill>
                  <a:srgbClr val="1B1F2A"/>
                </a:solidFill>
                <a:latin typeface="Cambria" pitchFamily="34" charset="0"/>
                <a:ea typeface="Cambria" pitchFamily="34" charset="-122"/>
                <a:cs typeface="Cambria" pitchFamily="34" charset="-120"/>
              </a:rPr>
              <a:t>Methodology</a:t>
            </a:r>
            <a:endParaRPr lang="en-US" sz="3200" dirty="0"/>
          </a:p>
        </p:txBody>
      </p:sp>
      <p:sp>
        <p:nvSpPr>
          <p:cNvPr id="3" name="Text 1"/>
          <p:cNvSpPr txBox="1"/>
          <p:nvPr/>
        </p:nvSpPr>
        <p:spPr>
          <a:xfrm>
            <a:off x="548640" y="1024128"/>
            <a:ext cx="11094415" cy="365760"/>
          </a:xfrm>
          <a:prstGeom prst="rect">
            <a:avLst/>
          </a:prstGeom>
          <a:noFill/>
          <a:ln/>
        </p:spPr>
        <p:txBody>
          <a:bodyPr wrap="square" lIns="0" tIns="0" rIns="0" bIns="0" rtlCol="0" anchor="ctr"/>
          <a:lstStyle/>
          <a:p>
            <a:pPr indent="0" marL="0">
              <a:buNone/>
            </a:pPr>
            <a:r>
              <a:rPr lang="en-US" sz="1500" i="1" dirty="0">
                <a:solidFill>
                  <a:srgbClr val="5B6170"/>
                </a:solidFill>
                <a:latin typeface="Calibri" pitchFamily="34" charset="0"/>
                <a:ea typeface="Calibri" pitchFamily="34" charset="-122"/>
                <a:cs typeface="Calibri" pitchFamily="34" charset="-120"/>
              </a:rPr>
              <a:t>Quantitative, experimental benchmark — same data, split and metrics for every model</a:t>
            </a:r>
            <a:endParaRPr lang="en-US" sz="1500" dirty="0"/>
          </a:p>
        </p:txBody>
      </p:sp>
      <p:sp>
        <p:nvSpPr>
          <p:cNvPr id="4" name="Shape 2"/>
          <p:cNvSpPr/>
          <p:nvPr/>
        </p:nvSpPr>
        <p:spPr>
          <a:xfrm>
            <a:off x="548640" y="1874520"/>
            <a:ext cx="1691640" cy="3200400"/>
          </a:xfrm>
          <a:prstGeom prst="roundRect">
            <a:avLst>
              <a:gd name="adj" fmla="val 4324"/>
            </a:avLst>
          </a:prstGeom>
          <a:solidFill>
            <a:srgbClr val="F2F3F5"/>
          </a:solidFill>
          <a:ln w="12700">
            <a:solidFill>
              <a:srgbClr val="F2F3F5"/>
            </a:solidFill>
            <a:prstDash val="solid"/>
          </a:ln>
        </p:spPr>
      </p:sp>
      <p:sp>
        <p:nvSpPr>
          <p:cNvPr id="5" name="Shape 3"/>
          <p:cNvSpPr/>
          <p:nvPr/>
        </p:nvSpPr>
        <p:spPr>
          <a:xfrm>
            <a:off x="1028700" y="2194560"/>
            <a:ext cx="731520" cy="731520"/>
          </a:xfrm>
          <a:prstGeom prst="ellipse">
            <a:avLst/>
          </a:prstGeom>
          <a:solidFill>
            <a:srgbClr val="C8102E"/>
          </a:solidFill>
          <a:ln w="12700">
            <a:solidFill>
              <a:srgbClr val="C8102E"/>
            </a:solidFill>
            <a:prstDash val="solid"/>
          </a:ln>
        </p:spPr>
      </p:sp>
      <p:pic>
        <p:nvPicPr>
          <p:cNvPr id="6" name="Image 0" descr="preencoded.png">    </p:cNvPr>
          <p:cNvPicPr>
            <a:picLocks noChangeAspect="1"/>
          </p:cNvPicPr>
          <p:nvPr/>
        </p:nvPicPr>
        <p:blipFill>
          <a:blip r:embed="rId1"/>
          <a:stretch>
            <a:fillRect/>
          </a:stretch>
        </p:blipFill>
        <p:spPr>
          <a:xfrm>
            <a:off x="1218895" y="2384755"/>
            <a:ext cx="351130" cy="351130"/>
          </a:xfrm>
          <a:prstGeom prst="rect">
            <a:avLst/>
          </a:prstGeom>
        </p:spPr>
      </p:pic>
      <p:sp>
        <p:nvSpPr>
          <p:cNvPr id="7" name="Text 4"/>
          <p:cNvSpPr txBox="1"/>
          <p:nvPr/>
        </p:nvSpPr>
        <p:spPr>
          <a:xfrm>
            <a:off x="640080" y="3200400"/>
            <a:ext cx="1508760" cy="411480"/>
          </a:xfrm>
          <a:prstGeom prst="rect">
            <a:avLst/>
          </a:prstGeom>
          <a:noFill/>
          <a:ln/>
        </p:spPr>
        <p:txBody>
          <a:bodyPr wrap="square" lIns="0" tIns="0" rIns="0" bIns="0" rtlCol="0" anchor="t"/>
          <a:lstStyle/>
          <a:p>
            <a:pPr algn="ctr" indent="0" marL="0">
              <a:buNone/>
            </a:pPr>
            <a:r>
              <a:rPr lang="en-US" sz="1900" b="1" dirty="0">
                <a:solidFill>
                  <a:srgbClr val="1B1F2A"/>
                </a:solidFill>
                <a:latin typeface="Calibri" pitchFamily="34" charset="0"/>
                <a:ea typeface="Calibri" pitchFamily="34" charset="-122"/>
                <a:cs typeface="Calibri" pitchFamily="34" charset="-120"/>
              </a:rPr>
              <a:t>Data</a:t>
            </a:r>
            <a:endParaRPr lang="en-US" sz="1900" dirty="0"/>
          </a:p>
        </p:txBody>
      </p:sp>
      <p:sp>
        <p:nvSpPr>
          <p:cNvPr id="8" name="Text 5"/>
          <p:cNvSpPr txBox="1"/>
          <p:nvPr/>
        </p:nvSpPr>
        <p:spPr>
          <a:xfrm>
            <a:off x="640080" y="3749040"/>
            <a:ext cx="1508760" cy="1097280"/>
          </a:xfrm>
          <a:prstGeom prst="rect">
            <a:avLst/>
          </a:prstGeom>
          <a:noFill/>
          <a:ln/>
        </p:spPr>
        <p:txBody>
          <a:bodyPr wrap="square" lIns="0" tIns="0" rIns="0" bIns="0" rtlCol="0" anchor="t"/>
          <a:lstStyle/>
          <a:p>
            <a:pPr algn="ctr" indent="0" marL="0">
              <a:buNone/>
            </a:pPr>
            <a:r>
              <a:rPr lang="en-US" sz="1500" dirty="0">
                <a:solidFill>
                  <a:srgbClr val="5B6170"/>
                </a:solidFill>
                <a:latin typeface="Calibri" pitchFamily="34" charset="0"/>
                <a:ea typeface="Calibri" pitchFamily="34" charset="-122"/>
                <a:cs typeface="Calibri" pitchFamily="34" charset="-120"/>
              </a:rPr>
              <a:t>21,606 records</a:t>
            </a:r>
            <a:endParaRPr lang="en-US" sz="1500" dirty="0"/>
          </a:p>
          <a:p>
            <a:pPr algn="ctr" indent="0" marL="0">
              <a:buNone/>
            </a:pPr>
            <a:r>
              <a:rPr lang="en-US" sz="1500" dirty="0">
                <a:solidFill>
                  <a:srgbClr val="5B6170"/>
                </a:solidFill>
                <a:latin typeface="Calibri" pitchFamily="34" charset="0"/>
                <a:ea typeface="Calibri" pitchFamily="34" charset="-122"/>
                <a:cs typeface="Calibri" pitchFamily="34" charset="-120"/>
              </a:rPr>
              <a:t>20 features</a:t>
            </a:r>
            <a:endParaRPr lang="en-US" sz="1500" dirty="0"/>
          </a:p>
        </p:txBody>
      </p:sp>
      <p:sp>
        <p:nvSpPr>
          <p:cNvPr id="9" name="Text 6"/>
          <p:cNvSpPr txBox="1"/>
          <p:nvPr/>
        </p:nvSpPr>
        <p:spPr>
          <a:xfrm>
            <a:off x="2240280" y="2971800"/>
            <a:ext cx="188915" cy="548640"/>
          </a:xfrm>
          <a:prstGeom prst="rect">
            <a:avLst/>
          </a:prstGeom>
          <a:noFill/>
          <a:ln/>
        </p:spPr>
        <p:txBody>
          <a:bodyPr wrap="square" lIns="0" tIns="0" rIns="0" bIns="0" rtlCol="0" anchor="ctr"/>
          <a:lstStyle/>
          <a:p>
            <a:pPr algn="ctr" indent="0" marL="0">
              <a:buNone/>
            </a:pPr>
            <a:r>
              <a:rPr lang="en-US" sz="3000" b="1" dirty="0">
                <a:solidFill>
                  <a:srgbClr val="C8102E"/>
                </a:solidFill>
                <a:latin typeface="Calibri" pitchFamily="34" charset="0"/>
                <a:ea typeface="Calibri" pitchFamily="34" charset="-122"/>
                <a:cs typeface="Calibri" pitchFamily="34" charset="-120"/>
              </a:rPr>
              <a:t>›</a:t>
            </a:r>
            <a:endParaRPr lang="en-US" sz="3000" dirty="0"/>
          </a:p>
        </p:txBody>
      </p:sp>
      <p:sp>
        <p:nvSpPr>
          <p:cNvPr id="10" name="Shape 7"/>
          <p:cNvSpPr/>
          <p:nvPr/>
        </p:nvSpPr>
        <p:spPr>
          <a:xfrm>
            <a:off x="2429195" y="1874520"/>
            <a:ext cx="1691640" cy="3200400"/>
          </a:xfrm>
          <a:prstGeom prst="roundRect">
            <a:avLst>
              <a:gd name="adj" fmla="val 4324"/>
            </a:avLst>
          </a:prstGeom>
          <a:solidFill>
            <a:srgbClr val="F2F3F5"/>
          </a:solidFill>
          <a:ln w="12700">
            <a:solidFill>
              <a:srgbClr val="F2F3F5"/>
            </a:solidFill>
            <a:prstDash val="solid"/>
          </a:ln>
        </p:spPr>
      </p:sp>
      <p:sp>
        <p:nvSpPr>
          <p:cNvPr id="11" name="Shape 8"/>
          <p:cNvSpPr/>
          <p:nvPr/>
        </p:nvSpPr>
        <p:spPr>
          <a:xfrm>
            <a:off x="2909255" y="2194560"/>
            <a:ext cx="731520" cy="731520"/>
          </a:xfrm>
          <a:prstGeom prst="ellipse">
            <a:avLst/>
          </a:prstGeom>
          <a:solidFill>
            <a:srgbClr val="C8102E"/>
          </a:solidFill>
          <a:ln w="12700">
            <a:solidFill>
              <a:srgbClr val="C8102E"/>
            </a:solidFill>
            <a:prstDash val="solid"/>
          </a:ln>
        </p:spPr>
      </p:sp>
      <p:pic>
        <p:nvPicPr>
          <p:cNvPr id="12" name="Image 1" descr="preencoded.png">    </p:cNvPr>
          <p:cNvPicPr>
            <a:picLocks noChangeAspect="1"/>
          </p:cNvPicPr>
          <p:nvPr/>
        </p:nvPicPr>
        <p:blipFill>
          <a:blip r:embed="rId2"/>
          <a:stretch>
            <a:fillRect/>
          </a:stretch>
        </p:blipFill>
        <p:spPr>
          <a:xfrm>
            <a:off x="3099450" y="2384755"/>
            <a:ext cx="351130" cy="351130"/>
          </a:xfrm>
          <a:prstGeom prst="rect">
            <a:avLst/>
          </a:prstGeom>
        </p:spPr>
      </p:pic>
      <p:sp>
        <p:nvSpPr>
          <p:cNvPr id="13" name="Text 9"/>
          <p:cNvSpPr txBox="1"/>
          <p:nvPr/>
        </p:nvSpPr>
        <p:spPr>
          <a:xfrm>
            <a:off x="2520635" y="3200400"/>
            <a:ext cx="1508760" cy="411480"/>
          </a:xfrm>
          <a:prstGeom prst="rect">
            <a:avLst/>
          </a:prstGeom>
          <a:noFill/>
          <a:ln/>
        </p:spPr>
        <p:txBody>
          <a:bodyPr wrap="square" lIns="0" tIns="0" rIns="0" bIns="0" rtlCol="0" anchor="t"/>
          <a:lstStyle/>
          <a:p>
            <a:pPr algn="ctr" indent="0" marL="0">
              <a:buNone/>
            </a:pPr>
            <a:r>
              <a:rPr lang="en-US" sz="1900" b="1" dirty="0">
                <a:solidFill>
                  <a:srgbClr val="1B1F2A"/>
                </a:solidFill>
                <a:latin typeface="Calibri" pitchFamily="34" charset="0"/>
                <a:ea typeface="Calibri" pitchFamily="34" charset="-122"/>
                <a:cs typeface="Calibri" pitchFamily="34" charset="-120"/>
              </a:rPr>
              <a:t>Preprocess</a:t>
            </a:r>
            <a:endParaRPr lang="en-US" sz="1900" dirty="0"/>
          </a:p>
        </p:txBody>
      </p:sp>
      <p:sp>
        <p:nvSpPr>
          <p:cNvPr id="14" name="Text 10"/>
          <p:cNvSpPr txBox="1"/>
          <p:nvPr/>
        </p:nvSpPr>
        <p:spPr>
          <a:xfrm>
            <a:off x="2520635" y="3749040"/>
            <a:ext cx="1508760" cy="1097280"/>
          </a:xfrm>
          <a:prstGeom prst="rect">
            <a:avLst/>
          </a:prstGeom>
          <a:noFill/>
          <a:ln/>
        </p:spPr>
        <p:txBody>
          <a:bodyPr wrap="square" lIns="0" tIns="0" rIns="0" bIns="0" rtlCol="0" anchor="t"/>
          <a:lstStyle/>
          <a:p>
            <a:pPr algn="ctr" indent="0" marL="0">
              <a:buNone/>
            </a:pPr>
            <a:r>
              <a:rPr lang="en-US" sz="1500" dirty="0">
                <a:solidFill>
                  <a:srgbClr val="5B6170"/>
                </a:solidFill>
                <a:latin typeface="Calibri" pitchFamily="34" charset="0"/>
                <a:ea typeface="Calibri" pitchFamily="34" charset="-122"/>
                <a:cs typeface="Calibri" pitchFamily="34" charset="-120"/>
              </a:rPr>
              <a:t>drop IDs</a:t>
            </a:r>
            <a:endParaRPr lang="en-US" sz="1500" dirty="0"/>
          </a:p>
          <a:p>
            <a:pPr algn="ctr" indent="0" marL="0">
              <a:buNone/>
            </a:pPr>
            <a:r>
              <a:rPr lang="en-US" sz="1500" dirty="0">
                <a:solidFill>
                  <a:srgbClr val="5B6170"/>
                </a:solidFill>
                <a:latin typeface="Calibri" pitchFamily="34" charset="0"/>
                <a:ea typeface="Calibri" pitchFamily="34" charset="-122"/>
                <a:cs typeface="Calibri" pitchFamily="34" charset="-120"/>
              </a:rPr>
              <a:t>encode gender</a:t>
            </a:r>
            <a:endParaRPr lang="en-US" sz="1500" dirty="0"/>
          </a:p>
        </p:txBody>
      </p:sp>
      <p:sp>
        <p:nvSpPr>
          <p:cNvPr id="15" name="Text 11"/>
          <p:cNvSpPr txBox="1"/>
          <p:nvPr/>
        </p:nvSpPr>
        <p:spPr>
          <a:xfrm>
            <a:off x="4120835" y="2971800"/>
            <a:ext cx="188915" cy="548640"/>
          </a:xfrm>
          <a:prstGeom prst="rect">
            <a:avLst/>
          </a:prstGeom>
          <a:noFill/>
          <a:ln/>
        </p:spPr>
        <p:txBody>
          <a:bodyPr wrap="square" lIns="0" tIns="0" rIns="0" bIns="0" rtlCol="0" anchor="ctr"/>
          <a:lstStyle/>
          <a:p>
            <a:pPr algn="ctr" indent="0" marL="0">
              <a:buNone/>
            </a:pPr>
            <a:r>
              <a:rPr lang="en-US" sz="3000" b="1" dirty="0">
                <a:solidFill>
                  <a:srgbClr val="C8102E"/>
                </a:solidFill>
                <a:latin typeface="Calibri" pitchFamily="34" charset="0"/>
                <a:ea typeface="Calibri" pitchFamily="34" charset="-122"/>
                <a:cs typeface="Calibri" pitchFamily="34" charset="-120"/>
              </a:rPr>
              <a:t>›</a:t>
            </a:r>
            <a:endParaRPr lang="en-US" sz="3000" dirty="0"/>
          </a:p>
        </p:txBody>
      </p:sp>
      <p:sp>
        <p:nvSpPr>
          <p:cNvPr id="16" name="Shape 12"/>
          <p:cNvSpPr/>
          <p:nvPr/>
        </p:nvSpPr>
        <p:spPr>
          <a:xfrm>
            <a:off x="4309750" y="1874520"/>
            <a:ext cx="1691640" cy="3200400"/>
          </a:xfrm>
          <a:prstGeom prst="roundRect">
            <a:avLst>
              <a:gd name="adj" fmla="val 4324"/>
            </a:avLst>
          </a:prstGeom>
          <a:solidFill>
            <a:srgbClr val="F2F3F5"/>
          </a:solidFill>
          <a:ln w="12700">
            <a:solidFill>
              <a:srgbClr val="F2F3F5"/>
            </a:solidFill>
            <a:prstDash val="solid"/>
          </a:ln>
        </p:spPr>
      </p:sp>
      <p:sp>
        <p:nvSpPr>
          <p:cNvPr id="17" name="Shape 13"/>
          <p:cNvSpPr/>
          <p:nvPr/>
        </p:nvSpPr>
        <p:spPr>
          <a:xfrm>
            <a:off x="4789810" y="2194560"/>
            <a:ext cx="731520" cy="731520"/>
          </a:xfrm>
          <a:prstGeom prst="ellipse">
            <a:avLst/>
          </a:prstGeom>
          <a:solidFill>
            <a:srgbClr val="C8102E"/>
          </a:solidFill>
          <a:ln w="12700">
            <a:solidFill>
              <a:srgbClr val="C8102E"/>
            </a:solidFill>
            <a:prstDash val="solid"/>
          </a:ln>
        </p:spPr>
      </p:sp>
      <p:pic>
        <p:nvPicPr>
          <p:cNvPr id="18" name="Image 2" descr="preencoded.png">    </p:cNvPr>
          <p:cNvPicPr>
            <a:picLocks noChangeAspect="1"/>
          </p:cNvPicPr>
          <p:nvPr/>
        </p:nvPicPr>
        <p:blipFill>
          <a:blip r:embed="rId3"/>
          <a:stretch>
            <a:fillRect/>
          </a:stretch>
        </p:blipFill>
        <p:spPr>
          <a:xfrm>
            <a:off x="4980005" y="2384755"/>
            <a:ext cx="351130" cy="351130"/>
          </a:xfrm>
          <a:prstGeom prst="rect">
            <a:avLst/>
          </a:prstGeom>
        </p:spPr>
      </p:pic>
      <p:sp>
        <p:nvSpPr>
          <p:cNvPr id="19" name="Text 14"/>
          <p:cNvSpPr txBox="1"/>
          <p:nvPr/>
        </p:nvSpPr>
        <p:spPr>
          <a:xfrm>
            <a:off x="4401190" y="3200400"/>
            <a:ext cx="1508760" cy="411480"/>
          </a:xfrm>
          <a:prstGeom prst="rect">
            <a:avLst/>
          </a:prstGeom>
          <a:noFill/>
          <a:ln/>
        </p:spPr>
        <p:txBody>
          <a:bodyPr wrap="square" lIns="0" tIns="0" rIns="0" bIns="0" rtlCol="0" anchor="t"/>
          <a:lstStyle/>
          <a:p>
            <a:pPr algn="ctr" indent="0" marL="0">
              <a:buNone/>
            </a:pPr>
            <a:r>
              <a:rPr lang="en-US" sz="1900" b="1" dirty="0">
                <a:solidFill>
                  <a:srgbClr val="1B1F2A"/>
                </a:solidFill>
                <a:latin typeface="Calibri" pitchFamily="34" charset="0"/>
                <a:ea typeface="Calibri" pitchFamily="34" charset="-122"/>
                <a:cs typeface="Calibri" pitchFamily="34" charset="-120"/>
              </a:rPr>
              <a:t>Split</a:t>
            </a:r>
            <a:endParaRPr lang="en-US" sz="1900" dirty="0"/>
          </a:p>
        </p:txBody>
      </p:sp>
      <p:sp>
        <p:nvSpPr>
          <p:cNvPr id="20" name="Text 15"/>
          <p:cNvSpPr txBox="1"/>
          <p:nvPr/>
        </p:nvSpPr>
        <p:spPr>
          <a:xfrm>
            <a:off x="4401190" y="3749040"/>
            <a:ext cx="1508760" cy="1097280"/>
          </a:xfrm>
          <a:prstGeom prst="rect">
            <a:avLst/>
          </a:prstGeom>
          <a:noFill/>
          <a:ln/>
        </p:spPr>
        <p:txBody>
          <a:bodyPr wrap="square" lIns="0" tIns="0" rIns="0" bIns="0" rtlCol="0" anchor="t"/>
          <a:lstStyle/>
          <a:p>
            <a:pPr algn="ctr" indent="0" marL="0">
              <a:buNone/>
            </a:pPr>
            <a:r>
              <a:rPr lang="en-US" sz="1500" dirty="0">
                <a:solidFill>
                  <a:srgbClr val="5B6170"/>
                </a:solidFill>
                <a:latin typeface="Calibri" pitchFamily="34" charset="0"/>
                <a:ea typeface="Calibri" pitchFamily="34" charset="-122"/>
                <a:cs typeface="Calibri" pitchFamily="34" charset="-120"/>
              </a:rPr>
              <a:t>80 / 20 stratified</a:t>
            </a:r>
            <a:endParaRPr lang="en-US" sz="1500" dirty="0"/>
          </a:p>
          <a:p>
            <a:pPr algn="ctr" indent="0" marL="0">
              <a:buNone/>
            </a:pPr>
            <a:r>
              <a:rPr lang="en-US" sz="1500" dirty="0">
                <a:solidFill>
                  <a:srgbClr val="5B6170"/>
                </a:solidFill>
                <a:latin typeface="Calibri" pitchFamily="34" charset="0"/>
                <a:ea typeface="Calibri" pitchFamily="34" charset="-122"/>
                <a:cs typeface="Calibri" pitchFamily="34" charset="-120"/>
              </a:rPr>
              <a:t>seed 42</a:t>
            </a:r>
            <a:endParaRPr lang="en-US" sz="1500" dirty="0"/>
          </a:p>
        </p:txBody>
      </p:sp>
      <p:sp>
        <p:nvSpPr>
          <p:cNvPr id="21" name="Text 16"/>
          <p:cNvSpPr txBox="1"/>
          <p:nvPr/>
        </p:nvSpPr>
        <p:spPr>
          <a:xfrm>
            <a:off x="6001390" y="2971800"/>
            <a:ext cx="188915" cy="548640"/>
          </a:xfrm>
          <a:prstGeom prst="rect">
            <a:avLst/>
          </a:prstGeom>
          <a:noFill/>
          <a:ln/>
        </p:spPr>
        <p:txBody>
          <a:bodyPr wrap="square" lIns="0" tIns="0" rIns="0" bIns="0" rtlCol="0" anchor="ctr"/>
          <a:lstStyle/>
          <a:p>
            <a:pPr algn="ctr" indent="0" marL="0">
              <a:buNone/>
            </a:pPr>
            <a:r>
              <a:rPr lang="en-US" sz="3000" b="1" dirty="0">
                <a:solidFill>
                  <a:srgbClr val="C8102E"/>
                </a:solidFill>
                <a:latin typeface="Calibri" pitchFamily="34" charset="0"/>
                <a:ea typeface="Calibri" pitchFamily="34" charset="-122"/>
                <a:cs typeface="Calibri" pitchFamily="34" charset="-120"/>
              </a:rPr>
              <a:t>›</a:t>
            </a:r>
            <a:endParaRPr lang="en-US" sz="3000" dirty="0"/>
          </a:p>
        </p:txBody>
      </p:sp>
      <p:sp>
        <p:nvSpPr>
          <p:cNvPr id="22" name="Shape 17"/>
          <p:cNvSpPr/>
          <p:nvPr/>
        </p:nvSpPr>
        <p:spPr>
          <a:xfrm>
            <a:off x="6190305" y="1874520"/>
            <a:ext cx="1691640" cy="3200400"/>
          </a:xfrm>
          <a:prstGeom prst="roundRect">
            <a:avLst>
              <a:gd name="adj" fmla="val 4324"/>
            </a:avLst>
          </a:prstGeom>
          <a:solidFill>
            <a:srgbClr val="1B1F2A"/>
          </a:solidFill>
          <a:ln w="12700">
            <a:solidFill>
              <a:srgbClr val="1B1F2A"/>
            </a:solidFill>
            <a:prstDash val="solid"/>
          </a:ln>
        </p:spPr>
      </p:sp>
      <p:sp>
        <p:nvSpPr>
          <p:cNvPr id="23" name="Shape 18"/>
          <p:cNvSpPr/>
          <p:nvPr/>
        </p:nvSpPr>
        <p:spPr>
          <a:xfrm>
            <a:off x="6670365" y="2194560"/>
            <a:ext cx="731520" cy="731520"/>
          </a:xfrm>
          <a:prstGeom prst="ellipse">
            <a:avLst/>
          </a:prstGeom>
          <a:solidFill>
            <a:srgbClr val="C8102E"/>
          </a:solidFill>
          <a:ln w="12700">
            <a:solidFill>
              <a:srgbClr val="C8102E"/>
            </a:solidFill>
            <a:prstDash val="solid"/>
          </a:ln>
        </p:spPr>
      </p:sp>
      <p:pic>
        <p:nvPicPr>
          <p:cNvPr id="24" name="Image 3" descr="preencoded.png">    </p:cNvPr>
          <p:cNvPicPr>
            <a:picLocks noChangeAspect="1"/>
          </p:cNvPicPr>
          <p:nvPr/>
        </p:nvPicPr>
        <p:blipFill>
          <a:blip r:embed="rId4"/>
          <a:stretch>
            <a:fillRect/>
          </a:stretch>
        </p:blipFill>
        <p:spPr>
          <a:xfrm>
            <a:off x="6860560" y="2384755"/>
            <a:ext cx="351130" cy="351130"/>
          </a:xfrm>
          <a:prstGeom prst="rect">
            <a:avLst/>
          </a:prstGeom>
        </p:spPr>
      </p:pic>
      <p:sp>
        <p:nvSpPr>
          <p:cNvPr id="25" name="Text 19"/>
          <p:cNvSpPr txBox="1"/>
          <p:nvPr/>
        </p:nvSpPr>
        <p:spPr>
          <a:xfrm>
            <a:off x="6281745" y="3200400"/>
            <a:ext cx="1508760" cy="411480"/>
          </a:xfrm>
          <a:prstGeom prst="rect">
            <a:avLst/>
          </a:prstGeom>
          <a:noFill/>
          <a:ln/>
        </p:spPr>
        <p:txBody>
          <a:bodyPr wrap="square" lIns="0" tIns="0" rIns="0" bIns="0" rtlCol="0" anchor="t"/>
          <a:lstStyle/>
          <a:p>
            <a:pPr algn="ctr" indent="0" marL="0">
              <a:buNone/>
            </a:pPr>
            <a:r>
              <a:rPr lang="en-US" sz="1900" b="1" dirty="0">
                <a:solidFill>
                  <a:srgbClr val="FFFFFF"/>
                </a:solidFill>
                <a:latin typeface="Calibri" pitchFamily="34" charset="0"/>
                <a:ea typeface="Calibri" pitchFamily="34" charset="-122"/>
                <a:cs typeface="Calibri" pitchFamily="34" charset="-120"/>
              </a:rPr>
              <a:t>Models</a:t>
            </a:r>
            <a:endParaRPr lang="en-US" sz="1900" dirty="0"/>
          </a:p>
        </p:txBody>
      </p:sp>
      <p:sp>
        <p:nvSpPr>
          <p:cNvPr id="26" name="Text 20"/>
          <p:cNvSpPr txBox="1"/>
          <p:nvPr/>
        </p:nvSpPr>
        <p:spPr>
          <a:xfrm>
            <a:off x="6281745" y="3749040"/>
            <a:ext cx="1508760" cy="1097280"/>
          </a:xfrm>
          <a:prstGeom prst="rect">
            <a:avLst/>
          </a:prstGeom>
          <a:noFill/>
          <a:ln/>
        </p:spPr>
        <p:txBody>
          <a:bodyPr wrap="square" lIns="0" tIns="0" rIns="0" bIns="0" rtlCol="0" anchor="t"/>
          <a:lstStyle/>
          <a:p>
            <a:pPr algn="ctr" indent="0" marL="0">
              <a:buNone/>
            </a:pPr>
            <a:r>
              <a:rPr lang="en-US" sz="1500" dirty="0">
                <a:solidFill>
                  <a:srgbClr val="D5D8DF"/>
                </a:solidFill>
                <a:latin typeface="Calibri" pitchFamily="34" charset="0"/>
                <a:ea typeface="Calibri" pitchFamily="34" charset="-122"/>
                <a:cs typeface="Calibri" pitchFamily="34" charset="-120"/>
              </a:rPr>
              <a:t>CatBoost · TabPFN</a:t>
            </a:r>
            <a:endParaRPr lang="en-US" sz="1500" dirty="0"/>
          </a:p>
          <a:p>
            <a:pPr algn="ctr" indent="0" marL="0">
              <a:buNone/>
            </a:pPr>
            <a:r>
              <a:rPr lang="en-US" sz="1500" dirty="0">
                <a:solidFill>
                  <a:srgbClr val="D5D8DF"/>
                </a:solidFill>
                <a:latin typeface="Calibri" pitchFamily="34" charset="0"/>
                <a:ea typeface="Calibri" pitchFamily="34" charset="-122"/>
                <a:cs typeface="Calibri" pitchFamily="34" charset="-120"/>
              </a:rPr>
              <a:t>· TabFM</a:t>
            </a:r>
            <a:endParaRPr lang="en-US" sz="1500" dirty="0"/>
          </a:p>
        </p:txBody>
      </p:sp>
      <p:sp>
        <p:nvSpPr>
          <p:cNvPr id="27" name="Text 21"/>
          <p:cNvSpPr txBox="1"/>
          <p:nvPr/>
        </p:nvSpPr>
        <p:spPr>
          <a:xfrm>
            <a:off x="7881945" y="2971800"/>
            <a:ext cx="188915" cy="548640"/>
          </a:xfrm>
          <a:prstGeom prst="rect">
            <a:avLst/>
          </a:prstGeom>
          <a:noFill/>
          <a:ln/>
        </p:spPr>
        <p:txBody>
          <a:bodyPr wrap="square" lIns="0" tIns="0" rIns="0" bIns="0" rtlCol="0" anchor="ctr"/>
          <a:lstStyle/>
          <a:p>
            <a:pPr algn="ctr" indent="0" marL="0">
              <a:buNone/>
            </a:pPr>
            <a:r>
              <a:rPr lang="en-US" sz="3000" b="1" dirty="0">
                <a:solidFill>
                  <a:srgbClr val="C8102E"/>
                </a:solidFill>
                <a:latin typeface="Calibri" pitchFamily="34" charset="0"/>
                <a:ea typeface="Calibri" pitchFamily="34" charset="-122"/>
                <a:cs typeface="Calibri" pitchFamily="34" charset="-120"/>
              </a:rPr>
              <a:t>›</a:t>
            </a:r>
            <a:endParaRPr lang="en-US" sz="3000" dirty="0"/>
          </a:p>
        </p:txBody>
      </p:sp>
      <p:sp>
        <p:nvSpPr>
          <p:cNvPr id="28" name="Shape 22"/>
          <p:cNvSpPr/>
          <p:nvPr/>
        </p:nvSpPr>
        <p:spPr>
          <a:xfrm>
            <a:off x="8070860" y="1874520"/>
            <a:ext cx="1691640" cy="3200400"/>
          </a:xfrm>
          <a:prstGeom prst="roundRect">
            <a:avLst>
              <a:gd name="adj" fmla="val 4324"/>
            </a:avLst>
          </a:prstGeom>
          <a:solidFill>
            <a:srgbClr val="F2F3F5"/>
          </a:solidFill>
          <a:ln w="12700">
            <a:solidFill>
              <a:srgbClr val="F2F3F5"/>
            </a:solidFill>
            <a:prstDash val="solid"/>
          </a:ln>
        </p:spPr>
      </p:sp>
      <p:sp>
        <p:nvSpPr>
          <p:cNvPr id="29" name="Shape 23"/>
          <p:cNvSpPr/>
          <p:nvPr/>
        </p:nvSpPr>
        <p:spPr>
          <a:xfrm>
            <a:off x="8550920" y="2194560"/>
            <a:ext cx="731520" cy="731520"/>
          </a:xfrm>
          <a:prstGeom prst="ellipse">
            <a:avLst/>
          </a:prstGeom>
          <a:solidFill>
            <a:srgbClr val="C8102E"/>
          </a:solidFill>
          <a:ln w="12700">
            <a:solidFill>
              <a:srgbClr val="C8102E"/>
            </a:solidFill>
            <a:prstDash val="solid"/>
          </a:ln>
        </p:spPr>
      </p:sp>
      <p:pic>
        <p:nvPicPr>
          <p:cNvPr id="30" name="Image 4" descr="preencoded.png">    </p:cNvPr>
          <p:cNvPicPr>
            <a:picLocks noChangeAspect="1"/>
          </p:cNvPicPr>
          <p:nvPr/>
        </p:nvPicPr>
        <p:blipFill>
          <a:blip r:embed="rId5"/>
          <a:stretch>
            <a:fillRect/>
          </a:stretch>
        </p:blipFill>
        <p:spPr>
          <a:xfrm>
            <a:off x="8741115" y="2384755"/>
            <a:ext cx="351130" cy="351130"/>
          </a:xfrm>
          <a:prstGeom prst="rect">
            <a:avLst/>
          </a:prstGeom>
        </p:spPr>
      </p:pic>
      <p:sp>
        <p:nvSpPr>
          <p:cNvPr id="31" name="Text 24"/>
          <p:cNvSpPr txBox="1"/>
          <p:nvPr/>
        </p:nvSpPr>
        <p:spPr>
          <a:xfrm>
            <a:off x="8162300" y="3200400"/>
            <a:ext cx="1508760" cy="411480"/>
          </a:xfrm>
          <a:prstGeom prst="rect">
            <a:avLst/>
          </a:prstGeom>
          <a:noFill/>
          <a:ln/>
        </p:spPr>
        <p:txBody>
          <a:bodyPr wrap="square" lIns="0" tIns="0" rIns="0" bIns="0" rtlCol="0" anchor="t"/>
          <a:lstStyle/>
          <a:p>
            <a:pPr algn="ctr" indent="0" marL="0">
              <a:buNone/>
            </a:pPr>
            <a:r>
              <a:rPr lang="en-US" sz="1900" b="1" dirty="0">
                <a:solidFill>
                  <a:srgbClr val="1B1F2A"/>
                </a:solidFill>
                <a:latin typeface="Calibri" pitchFamily="34" charset="0"/>
                <a:ea typeface="Calibri" pitchFamily="34" charset="-122"/>
                <a:cs typeface="Calibri" pitchFamily="34" charset="-120"/>
              </a:rPr>
              <a:t>Evaluate</a:t>
            </a:r>
            <a:endParaRPr lang="en-US" sz="1900" dirty="0"/>
          </a:p>
        </p:txBody>
      </p:sp>
      <p:sp>
        <p:nvSpPr>
          <p:cNvPr id="32" name="Text 25"/>
          <p:cNvSpPr txBox="1"/>
          <p:nvPr/>
        </p:nvSpPr>
        <p:spPr>
          <a:xfrm>
            <a:off x="8162300" y="3749040"/>
            <a:ext cx="1508760" cy="1097280"/>
          </a:xfrm>
          <a:prstGeom prst="rect">
            <a:avLst/>
          </a:prstGeom>
          <a:noFill/>
          <a:ln/>
        </p:spPr>
        <p:txBody>
          <a:bodyPr wrap="square" lIns="0" tIns="0" rIns="0" bIns="0" rtlCol="0" anchor="t"/>
          <a:lstStyle/>
          <a:p>
            <a:pPr algn="ctr" indent="0" marL="0">
              <a:buNone/>
            </a:pPr>
            <a:r>
              <a:rPr lang="en-US" sz="1500" dirty="0">
                <a:solidFill>
                  <a:srgbClr val="5B6170"/>
                </a:solidFill>
                <a:latin typeface="Calibri" pitchFamily="34" charset="0"/>
                <a:ea typeface="Calibri" pitchFamily="34" charset="-122"/>
                <a:cs typeface="Calibri" pitchFamily="34" charset="-120"/>
              </a:rPr>
              <a:t>metrics · McNemar</a:t>
            </a:r>
            <a:endParaRPr lang="en-US" sz="1500" dirty="0"/>
          </a:p>
          <a:p>
            <a:pPr algn="ctr" indent="0" marL="0">
              <a:buNone/>
            </a:pPr>
            <a:r>
              <a:rPr lang="en-US" sz="1500" dirty="0">
                <a:solidFill>
                  <a:srgbClr val="5B6170"/>
                </a:solidFill>
                <a:latin typeface="Calibri" pitchFamily="34" charset="0"/>
                <a:ea typeface="Calibri" pitchFamily="34" charset="-122"/>
                <a:cs typeface="Calibri" pitchFamily="34" charset="-120"/>
              </a:rPr>
              <a:t>context sizes</a:t>
            </a:r>
            <a:endParaRPr lang="en-US" sz="1500" dirty="0"/>
          </a:p>
        </p:txBody>
      </p:sp>
      <p:sp>
        <p:nvSpPr>
          <p:cNvPr id="33" name="Text 26"/>
          <p:cNvSpPr txBox="1"/>
          <p:nvPr/>
        </p:nvSpPr>
        <p:spPr>
          <a:xfrm>
            <a:off x="9762500" y="2971800"/>
            <a:ext cx="188915" cy="548640"/>
          </a:xfrm>
          <a:prstGeom prst="rect">
            <a:avLst/>
          </a:prstGeom>
          <a:noFill/>
          <a:ln/>
        </p:spPr>
        <p:txBody>
          <a:bodyPr wrap="square" lIns="0" tIns="0" rIns="0" bIns="0" rtlCol="0" anchor="ctr"/>
          <a:lstStyle/>
          <a:p>
            <a:pPr algn="ctr" indent="0" marL="0">
              <a:buNone/>
            </a:pPr>
            <a:r>
              <a:rPr lang="en-US" sz="3000" b="1" dirty="0">
                <a:solidFill>
                  <a:srgbClr val="C8102E"/>
                </a:solidFill>
                <a:latin typeface="Calibri" pitchFamily="34" charset="0"/>
                <a:ea typeface="Calibri" pitchFamily="34" charset="-122"/>
                <a:cs typeface="Calibri" pitchFamily="34" charset="-120"/>
              </a:rPr>
              <a:t>›</a:t>
            </a:r>
            <a:endParaRPr lang="en-US" sz="3000" dirty="0"/>
          </a:p>
        </p:txBody>
      </p:sp>
      <p:sp>
        <p:nvSpPr>
          <p:cNvPr id="34" name="Shape 27"/>
          <p:cNvSpPr/>
          <p:nvPr/>
        </p:nvSpPr>
        <p:spPr>
          <a:xfrm>
            <a:off x="9951415" y="1874520"/>
            <a:ext cx="1691640" cy="3200400"/>
          </a:xfrm>
          <a:prstGeom prst="roundRect">
            <a:avLst>
              <a:gd name="adj" fmla="val 4324"/>
            </a:avLst>
          </a:prstGeom>
          <a:solidFill>
            <a:srgbClr val="F2F3F5"/>
          </a:solidFill>
          <a:ln w="12700">
            <a:solidFill>
              <a:srgbClr val="F2F3F5"/>
            </a:solidFill>
            <a:prstDash val="solid"/>
          </a:ln>
        </p:spPr>
      </p:sp>
      <p:sp>
        <p:nvSpPr>
          <p:cNvPr id="35" name="Shape 28"/>
          <p:cNvSpPr/>
          <p:nvPr/>
        </p:nvSpPr>
        <p:spPr>
          <a:xfrm>
            <a:off x="10431475" y="2194560"/>
            <a:ext cx="731520" cy="731520"/>
          </a:xfrm>
          <a:prstGeom prst="ellipse">
            <a:avLst/>
          </a:prstGeom>
          <a:solidFill>
            <a:srgbClr val="C8102E"/>
          </a:solidFill>
          <a:ln w="12700">
            <a:solidFill>
              <a:srgbClr val="C8102E"/>
            </a:solidFill>
            <a:prstDash val="solid"/>
          </a:ln>
        </p:spPr>
      </p:sp>
      <p:pic>
        <p:nvPicPr>
          <p:cNvPr id="36" name="Image 5" descr="preencoded.png">    </p:cNvPr>
          <p:cNvPicPr>
            <a:picLocks noChangeAspect="1"/>
          </p:cNvPicPr>
          <p:nvPr/>
        </p:nvPicPr>
        <p:blipFill>
          <a:blip r:embed="rId6"/>
          <a:stretch>
            <a:fillRect/>
          </a:stretch>
        </p:blipFill>
        <p:spPr>
          <a:xfrm>
            <a:off x="10621670" y="2384755"/>
            <a:ext cx="351130" cy="351130"/>
          </a:xfrm>
          <a:prstGeom prst="rect">
            <a:avLst/>
          </a:prstGeom>
        </p:spPr>
      </p:pic>
      <p:sp>
        <p:nvSpPr>
          <p:cNvPr id="37" name="Text 29"/>
          <p:cNvSpPr txBox="1"/>
          <p:nvPr/>
        </p:nvSpPr>
        <p:spPr>
          <a:xfrm>
            <a:off x="10042855" y="3200400"/>
            <a:ext cx="1508760" cy="411480"/>
          </a:xfrm>
          <a:prstGeom prst="rect">
            <a:avLst/>
          </a:prstGeom>
          <a:noFill/>
          <a:ln/>
        </p:spPr>
        <p:txBody>
          <a:bodyPr wrap="square" lIns="0" tIns="0" rIns="0" bIns="0" rtlCol="0" anchor="t"/>
          <a:lstStyle/>
          <a:p>
            <a:pPr algn="ctr" indent="0" marL="0">
              <a:buNone/>
            </a:pPr>
            <a:r>
              <a:rPr lang="en-US" sz="1900" b="1" dirty="0">
                <a:solidFill>
                  <a:srgbClr val="1B1F2A"/>
                </a:solidFill>
                <a:latin typeface="Calibri" pitchFamily="34" charset="0"/>
                <a:ea typeface="Calibri" pitchFamily="34" charset="-122"/>
                <a:cs typeface="Calibri" pitchFamily="34" charset="-120"/>
              </a:rPr>
              <a:t>Explain</a:t>
            </a:r>
            <a:endParaRPr lang="en-US" sz="1900" dirty="0"/>
          </a:p>
        </p:txBody>
      </p:sp>
      <p:sp>
        <p:nvSpPr>
          <p:cNvPr id="38" name="Text 30"/>
          <p:cNvSpPr txBox="1"/>
          <p:nvPr/>
        </p:nvSpPr>
        <p:spPr>
          <a:xfrm>
            <a:off x="10042855" y="3749040"/>
            <a:ext cx="1508760" cy="1097280"/>
          </a:xfrm>
          <a:prstGeom prst="rect">
            <a:avLst/>
          </a:prstGeom>
          <a:noFill/>
          <a:ln/>
        </p:spPr>
        <p:txBody>
          <a:bodyPr wrap="square" lIns="0" tIns="0" rIns="0" bIns="0" rtlCol="0" anchor="t"/>
          <a:lstStyle/>
          <a:p>
            <a:pPr algn="ctr" indent="0" marL="0">
              <a:buNone/>
            </a:pPr>
            <a:r>
              <a:rPr lang="en-US" sz="1500" dirty="0">
                <a:solidFill>
                  <a:srgbClr val="5B6170"/>
                </a:solidFill>
                <a:latin typeface="Calibri" pitchFamily="34" charset="0"/>
                <a:ea typeface="Calibri" pitchFamily="34" charset="-122"/>
                <a:cs typeface="Calibri" pitchFamily="34" charset="-120"/>
              </a:rPr>
              <a:t>SHAP</a:t>
            </a:r>
            <a:endParaRPr lang="en-US" sz="1500" dirty="0"/>
          </a:p>
          <a:p>
            <a:pPr algn="ctr" indent="0" marL="0">
              <a:buNone/>
            </a:pPr>
            <a:r>
              <a:rPr lang="en-US" sz="1500" dirty="0">
                <a:solidFill>
                  <a:srgbClr val="5B6170"/>
                </a:solidFill>
                <a:latin typeface="Calibri" pitchFamily="34" charset="0"/>
                <a:ea typeface="Calibri" pitchFamily="34" charset="-122"/>
                <a:cs typeface="Calibri" pitchFamily="34" charset="-120"/>
              </a:rPr>
              <a:t>for all models</a:t>
            </a:r>
            <a:endParaRPr lang="en-US" sz="1500" dirty="0"/>
          </a:p>
        </p:txBody>
      </p:sp>
      <p:sp>
        <p:nvSpPr>
          <p:cNvPr id="39" name="Text 31"/>
          <p:cNvSpPr txBox="1"/>
          <p:nvPr/>
        </p:nvSpPr>
        <p:spPr>
          <a:xfrm>
            <a:off x="548640" y="5486400"/>
            <a:ext cx="11094415" cy="365760"/>
          </a:xfrm>
          <a:prstGeom prst="rect">
            <a:avLst/>
          </a:prstGeom>
          <a:noFill/>
          <a:ln/>
        </p:spPr>
        <p:txBody>
          <a:bodyPr wrap="square" lIns="0" tIns="0" rIns="0" bIns="0" rtlCol="0" anchor="t"/>
          <a:lstStyle/>
          <a:p>
            <a:pPr algn="ctr" indent="0" marL="0">
              <a:buNone/>
            </a:pPr>
            <a:r>
              <a:rPr lang="en-US" sz="1400" dirty="0">
                <a:solidFill>
                  <a:srgbClr val="5B6170"/>
                </a:solidFill>
                <a:latin typeface="Calibri" pitchFamily="34" charset="0"/>
                <a:ea typeface="Calibri" pitchFamily="34" charset="-122"/>
                <a:cs typeface="Calibri" pitchFamily="34" charset="-120"/>
              </a:rPr>
              <a:t>Tools: Python · scikit-learn · catboost · tabpfn · tabfm · shap · statsmodels  |  Kaggle &amp; Google Colab, NVIDIA T4 GPU</a:t>
            </a:r>
            <a:endParaRPr lang="en-US" sz="1400" dirty="0"/>
          </a:p>
        </p:txBody>
      </p:sp>
      <p:sp>
        <p:nvSpPr>
          <p:cNvPr id="25" name="Slide Number Placeholder 0"/>
          <p:cNvSpPr>
            <a:spLocks noGrp="1"/>
          </p:cNvSpPr>
          <p:nvPr>
            <p:ph type="sldNum" sz="quarter" idx="4294967295"/>
          </p:nvPr>
        </p:nvSpPr>
        <p:spPr>
          <a:xfrm>
            <a:off x="11368735" y="6446520"/>
            <a:ext cx="457200" cy="274320"/>
          </a:xfrm>
          <a:prstGeom prst="rect">
            <a:avLst/>
          </a:prstGeom>
          <a:extLst>
            <a:ext uri="{C572A759-6A51-4108-AA02-DFA0A04FC94B}">
              <ma14:wrappingTextBoxFlag xmlns:ma14="http://schemas.microsoft.com/office/mac/drawingml/2011/main" val="0"/>
            </a:ext>
          </a:extLst>
        </p:spPr>
        <p:txBody>
          <a:bodyPr/>
          <a:lstStyle>
            <a:lvl1pPr>
              <a:defRPr sz="1000">
                <a:solidFill>
                  <a:srgbClr val="5B6170"/>
                </a:solidFill>
                <a:latin typeface="Calibri"/>
                <a:ea typeface="Calibri"/>
                <a:cs typeface="Calibri"/>
              </a:defRPr>
            </a:lvl1pPr>
          </a:lstStyle>
          <a:p>
            <a:pPr algn="r"/>
            <a:fld id="{F7021451-1387-4CA6-816F-3879F97B5CBC}" type="slidenum">
              <a:rPr b="0" lang="en-US"/>
              <a:t>7</a:t>
            </a:fld>
            <a:endParaRPr lang="en-US"/>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name="Slide 8">
    <p:bg>
      <p:bgPr>
        <a:solidFill>
          <a:srgbClr val="FFFFFF"/>
        </a:solidFill>
      </p:bgPr>
    </p:bg>
    <p:spTree>
      <p:nvGrpSpPr>
        <p:cNvPr id="1" name=""/>
        <p:cNvGrpSpPr/>
        <p:nvPr/>
      </p:nvGrpSpPr>
      <p:grpSpPr>
        <a:xfrm>
          <a:off x="0" y="0"/>
          <a:ext cx="0" cy="0"/>
          <a:chOff x="0" y="0"/>
          <a:chExt cx="0" cy="0"/>
        </a:xfrm>
      </p:grpSpPr>
      <p:sp>
        <p:nvSpPr>
          <p:cNvPr id="2" name="Text 0"/>
          <p:cNvSpPr txBox="1"/>
          <p:nvPr/>
        </p:nvSpPr>
        <p:spPr>
          <a:xfrm>
            <a:off x="548640" y="365760"/>
            <a:ext cx="11094415" cy="685800"/>
          </a:xfrm>
          <a:prstGeom prst="rect">
            <a:avLst/>
          </a:prstGeom>
          <a:noFill/>
          <a:ln/>
        </p:spPr>
        <p:txBody>
          <a:bodyPr wrap="square" lIns="0" tIns="0" rIns="0" bIns="0" rtlCol="0" anchor="ctr"/>
          <a:lstStyle/>
          <a:p>
            <a:pPr indent="0" marL="0">
              <a:buNone/>
            </a:pPr>
            <a:r>
              <a:rPr lang="en-US" sz="3200" b="1" dirty="0">
                <a:solidFill>
                  <a:srgbClr val="1B1F2A"/>
                </a:solidFill>
                <a:latin typeface="Cambria" pitchFamily="34" charset="0"/>
                <a:ea typeface="Cambria" pitchFamily="34" charset="-122"/>
                <a:cs typeface="Cambria" pitchFamily="34" charset="-120"/>
              </a:rPr>
              <a:t>Dataset</a:t>
            </a:r>
            <a:endParaRPr lang="en-US" sz="3200" dirty="0"/>
          </a:p>
        </p:txBody>
      </p:sp>
      <p:sp>
        <p:nvSpPr>
          <p:cNvPr id="3" name="Text 1"/>
          <p:cNvSpPr txBox="1"/>
          <p:nvPr/>
        </p:nvSpPr>
        <p:spPr>
          <a:xfrm>
            <a:off x="548640" y="1024128"/>
            <a:ext cx="11094415" cy="365760"/>
          </a:xfrm>
          <a:prstGeom prst="rect">
            <a:avLst/>
          </a:prstGeom>
          <a:noFill/>
          <a:ln/>
        </p:spPr>
        <p:txBody>
          <a:bodyPr wrap="square" lIns="0" tIns="0" rIns="0" bIns="0" rtlCol="0" anchor="ctr"/>
          <a:lstStyle/>
          <a:p>
            <a:pPr indent="0" marL="0">
              <a:buNone/>
            </a:pPr>
            <a:r>
              <a:rPr lang="en-US" sz="1500" i="1" dirty="0">
                <a:solidFill>
                  <a:srgbClr val="5B6170"/>
                </a:solidFill>
                <a:latin typeface="Calibri" pitchFamily="34" charset="0"/>
                <a:ea typeface="Calibri" pitchFamily="34" charset="-122"/>
                <a:cs typeface="Calibri" pitchFamily="34" charset="-120"/>
              </a:rPr>
              <a:t>Assembled from two public datasets (Kaggle, Mendeley) and adjusted with domain knowledge</a:t>
            </a:r>
            <a:endParaRPr lang="en-US" sz="1500" dirty="0"/>
          </a:p>
        </p:txBody>
      </p:sp>
      <p:sp>
        <p:nvSpPr>
          <p:cNvPr id="4" name="Text 2"/>
          <p:cNvSpPr txBox="1"/>
          <p:nvPr/>
        </p:nvSpPr>
        <p:spPr>
          <a:xfrm>
            <a:off x="548640" y="1691640"/>
            <a:ext cx="2926080" cy="777240"/>
          </a:xfrm>
          <a:prstGeom prst="rect">
            <a:avLst/>
          </a:prstGeom>
          <a:noFill/>
          <a:ln/>
        </p:spPr>
        <p:txBody>
          <a:bodyPr wrap="square" lIns="0" tIns="0" rIns="0" bIns="0" rtlCol="0" anchor="t"/>
          <a:lstStyle/>
          <a:p>
            <a:pPr indent="0" marL="0">
              <a:buNone/>
            </a:pPr>
            <a:r>
              <a:rPr lang="en-US" sz="4800" b="1" dirty="0">
                <a:solidFill>
                  <a:srgbClr val="C8102E"/>
                </a:solidFill>
                <a:latin typeface="Cambria" pitchFamily="34" charset="0"/>
                <a:ea typeface="Cambria" pitchFamily="34" charset="-122"/>
                <a:cs typeface="Cambria" pitchFamily="34" charset="-120"/>
              </a:rPr>
              <a:t>21,606</a:t>
            </a:r>
            <a:endParaRPr lang="en-US" sz="4800" dirty="0"/>
          </a:p>
        </p:txBody>
      </p:sp>
      <p:sp>
        <p:nvSpPr>
          <p:cNvPr id="5" name="Text 3"/>
          <p:cNvSpPr txBox="1"/>
          <p:nvPr/>
        </p:nvSpPr>
        <p:spPr>
          <a:xfrm>
            <a:off x="548640" y="2441448"/>
            <a:ext cx="2926080" cy="365760"/>
          </a:xfrm>
          <a:prstGeom prst="rect">
            <a:avLst/>
          </a:prstGeom>
          <a:noFill/>
          <a:ln/>
        </p:spPr>
        <p:txBody>
          <a:bodyPr wrap="square" lIns="0" tIns="0" rIns="0" bIns="0" rtlCol="0" anchor="t"/>
          <a:lstStyle/>
          <a:p>
            <a:pPr indent="0" marL="0">
              <a:buNone/>
            </a:pPr>
            <a:r>
              <a:rPr lang="en-US" sz="1600" dirty="0">
                <a:solidFill>
                  <a:srgbClr val="5B6170"/>
                </a:solidFill>
                <a:latin typeface="Calibri" pitchFamily="34" charset="0"/>
                <a:ea typeface="Calibri" pitchFamily="34" charset="-122"/>
                <a:cs typeface="Calibri" pitchFamily="34" charset="-120"/>
              </a:rPr>
              <a:t>records</a:t>
            </a:r>
            <a:endParaRPr lang="en-US" sz="1600" dirty="0"/>
          </a:p>
        </p:txBody>
      </p:sp>
      <p:sp>
        <p:nvSpPr>
          <p:cNvPr id="6" name="Text 4"/>
          <p:cNvSpPr txBox="1"/>
          <p:nvPr/>
        </p:nvSpPr>
        <p:spPr>
          <a:xfrm>
            <a:off x="548640" y="3017520"/>
            <a:ext cx="2926080" cy="777240"/>
          </a:xfrm>
          <a:prstGeom prst="rect">
            <a:avLst/>
          </a:prstGeom>
          <a:noFill/>
          <a:ln/>
        </p:spPr>
        <p:txBody>
          <a:bodyPr wrap="square" lIns="0" tIns="0" rIns="0" bIns="0" rtlCol="0" anchor="t"/>
          <a:lstStyle/>
          <a:p>
            <a:pPr indent="0" marL="0">
              <a:buNone/>
            </a:pPr>
            <a:r>
              <a:rPr lang="en-US" sz="4800" b="1" dirty="0">
                <a:solidFill>
                  <a:srgbClr val="C8102E"/>
                </a:solidFill>
                <a:latin typeface="Cambria" pitchFamily="34" charset="0"/>
                <a:ea typeface="Cambria" pitchFamily="34" charset="-122"/>
                <a:cs typeface="Cambria" pitchFamily="34" charset="-120"/>
              </a:rPr>
              <a:t>20</a:t>
            </a:r>
            <a:endParaRPr lang="en-US" sz="4800" dirty="0"/>
          </a:p>
        </p:txBody>
      </p:sp>
      <p:sp>
        <p:nvSpPr>
          <p:cNvPr id="7" name="Text 5"/>
          <p:cNvSpPr txBox="1"/>
          <p:nvPr/>
        </p:nvSpPr>
        <p:spPr>
          <a:xfrm>
            <a:off x="548640" y="3767328"/>
            <a:ext cx="2926080" cy="365760"/>
          </a:xfrm>
          <a:prstGeom prst="rect">
            <a:avLst/>
          </a:prstGeom>
          <a:noFill/>
          <a:ln/>
        </p:spPr>
        <p:txBody>
          <a:bodyPr wrap="square" lIns="0" tIns="0" rIns="0" bIns="0" rtlCol="0" anchor="t"/>
          <a:lstStyle/>
          <a:p>
            <a:pPr indent="0" marL="0">
              <a:buNone/>
            </a:pPr>
            <a:r>
              <a:rPr lang="en-US" sz="1600" dirty="0">
                <a:solidFill>
                  <a:srgbClr val="5B6170"/>
                </a:solidFill>
                <a:latin typeface="Calibri" pitchFamily="34" charset="0"/>
                <a:ea typeface="Calibri" pitchFamily="34" charset="-122"/>
                <a:cs typeface="Calibri" pitchFamily="34" charset="-120"/>
              </a:rPr>
              <a:t>predictors</a:t>
            </a:r>
            <a:endParaRPr lang="en-US" sz="1600" dirty="0"/>
          </a:p>
        </p:txBody>
      </p:sp>
      <p:sp>
        <p:nvSpPr>
          <p:cNvPr id="8" name="Text 6"/>
          <p:cNvSpPr txBox="1"/>
          <p:nvPr/>
        </p:nvSpPr>
        <p:spPr>
          <a:xfrm>
            <a:off x="548640" y="4343400"/>
            <a:ext cx="2926080" cy="777240"/>
          </a:xfrm>
          <a:prstGeom prst="rect">
            <a:avLst/>
          </a:prstGeom>
          <a:noFill/>
          <a:ln/>
        </p:spPr>
        <p:txBody>
          <a:bodyPr wrap="square" lIns="0" tIns="0" rIns="0" bIns="0" rtlCol="0" anchor="t"/>
          <a:lstStyle/>
          <a:p>
            <a:pPr indent="0" marL="0">
              <a:buNone/>
            </a:pPr>
            <a:r>
              <a:rPr lang="en-US" sz="4800" b="1" dirty="0">
                <a:solidFill>
                  <a:srgbClr val="C8102E"/>
                </a:solidFill>
                <a:latin typeface="Cambria" pitchFamily="34" charset="0"/>
                <a:ea typeface="Cambria" pitchFamily="34" charset="-122"/>
                <a:cs typeface="Cambria" pitchFamily="34" charset="-120"/>
              </a:rPr>
              <a:t>3</a:t>
            </a:r>
            <a:endParaRPr lang="en-US" sz="4800" dirty="0"/>
          </a:p>
        </p:txBody>
      </p:sp>
      <p:sp>
        <p:nvSpPr>
          <p:cNvPr id="9" name="Text 7"/>
          <p:cNvSpPr txBox="1"/>
          <p:nvPr/>
        </p:nvSpPr>
        <p:spPr>
          <a:xfrm>
            <a:off x="548640" y="5093208"/>
            <a:ext cx="2926080" cy="365760"/>
          </a:xfrm>
          <a:prstGeom prst="rect">
            <a:avLst/>
          </a:prstGeom>
          <a:noFill/>
          <a:ln/>
        </p:spPr>
        <p:txBody>
          <a:bodyPr wrap="square" lIns="0" tIns="0" rIns="0" bIns="0" rtlCol="0" anchor="t"/>
          <a:lstStyle/>
          <a:p>
            <a:pPr indent="0" marL="0">
              <a:buNone/>
            </a:pPr>
            <a:r>
              <a:rPr lang="en-US" sz="1600" dirty="0">
                <a:solidFill>
                  <a:srgbClr val="5B6170"/>
                </a:solidFill>
                <a:latin typeface="Calibri" pitchFamily="34" charset="0"/>
                <a:ea typeface="Calibri" pitchFamily="34" charset="-122"/>
                <a:cs typeface="Calibri" pitchFamily="34" charset="-120"/>
              </a:rPr>
              <a:t>risk tiers</a:t>
            </a:r>
            <a:endParaRPr lang="en-US" sz="1600" dirty="0"/>
          </a:p>
        </p:txBody>
      </p:sp>
      <p:graphicFrame>
        <p:nvGraphicFramePr>
          <p:cNvPr id="10" name="Chart 0" descr=""/>
          <p:cNvGraphicFramePr/>
          <p:nvPr/>
        </p:nvGraphicFramePr>
        <p:xfrm>
          <a:off x="3749040" y="1600200"/>
          <a:ext cx="4206240" cy="4206240"/>
        </p:xfrm>
        <a:graphic xmlns:a="http://schemas.openxmlformats.org/drawingml/2006/main">
          <a:graphicData uri="http://schemas.openxmlformats.org/drawingml/2006/chart">
            <c:chart xmlns:c="http://schemas.openxmlformats.org/drawingml/2006/chart" r:id="rId1"/>
          </a:graphicData>
        </a:graphic>
      </p:graphicFrame>
      <p:sp>
        <p:nvSpPr>
          <p:cNvPr id="11" name="Shape 8"/>
          <p:cNvSpPr/>
          <p:nvPr/>
        </p:nvSpPr>
        <p:spPr>
          <a:xfrm>
            <a:off x="8275320" y="1691640"/>
            <a:ext cx="3383280" cy="1188720"/>
          </a:xfrm>
          <a:prstGeom prst="roundRect">
            <a:avLst>
              <a:gd name="adj" fmla="val 6154"/>
            </a:avLst>
          </a:prstGeom>
          <a:solidFill>
            <a:srgbClr val="F2F3F5"/>
          </a:solidFill>
          <a:ln w="12700">
            <a:solidFill>
              <a:srgbClr val="F2F3F5"/>
            </a:solidFill>
            <a:prstDash val="solid"/>
          </a:ln>
        </p:spPr>
      </p:sp>
      <p:sp>
        <p:nvSpPr>
          <p:cNvPr id="12" name="Text 9"/>
          <p:cNvSpPr txBox="1"/>
          <p:nvPr/>
        </p:nvSpPr>
        <p:spPr>
          <a:xfrm>
            <a:off x="8458200" y="1828800"/>
            <a:ext cx="3017520" cy="320040"/>
          </a:xfrm>
          <a:prstGeom prst="rect">
            <a:avLst/>
          </a:prstGeom>
          <a:noFill/>
          <a:ln/>
        </p:spPr>
        <p:txBody>
          <a:bodyPr wrap="square" lIns="0" tIns="0" rIns="0" bIns="0" rtlCol="0" anchor="t"/>
          <a:lstStyle/>
          <a:p>
            <a:pPr indent="0" marL="0">
              <a:buNone/>
            </a:pPr>
            <a:r>
              <a:rPr lang="en-US" sz="1500" b="1" dirty="0">
                <a:solidFill>
                  <a:srgbClr val="1B1F2A"/>
                </a:solidFill>
                <a:latin typeface="Calibri" pitchFamily="34" charset="0"/>
                <a:ea typeface="Calibri" pitchFamily="34" charset="-122"/>
                <a:cs typeface="Calibri" pitchFamily="34" charset="-120"/>
              </a:rPr>
              <a:t>Biomarkers</a:t>
            </a:r>
            <a:endParaRPr lang="en-US" sz="1500" dirty="0"/>
          </a:p>
        </p:txBody>
      </p:sp>
      <p:sp>
        <p:nvSpPr>
          <p:cNvPr id="13" name="Text 10"/>
          <p:cNvSpPr txBox="1"/>
          <p:nvPr/>
        </p:nvSpPr>
        <p:spPr>
          <a:xfrm>
            <a:off x="8458200" y="2167128"/>
            <a:ext cx="3017520" cy="685800"/>
          </a:xfrm>
          <a:prstGeom prst="rect">
            <a:avLst/>
          </a:prstGeom>
          <a:noFill/>
          <a:ln/>
        </p:spPr>
        <p:txBody>
          <a:bodyPr wrap="square" lIns="0" tIns="0" rIns="0" bIns="0" rtlCol="0" anchor="t"/>
          <a:lstStyle/>
          <a:p>
            <a:pPr indent="0" marL="0">
              <a:buNone/>
            </a:pPr>
            <a:r>
              <a:rPr lang="en-US" sz="1250" dirty="0">
                <a:solidFill>
                  <a:srgbClr val="5B6170"/>
                </a:solidFill>
                <a:latin typeface="Calibri" pitchFamily="34" charset="0"/>
                <a:ea typeface="Calibri" pitchFamily="34" charset="-122"/>
                <a:cs typeface="Calibri" pitchFamily="34" charset="-120"/>
              </a:rPr>
              <a:t>iron, protein, vitamin D, calcium, manganese, ALT, body water, stress score</a:t>
            </a:r>
            <a:endParaRPr lang="en-US" sz="1250" dirty="0"/>
          </a:p>
        </p:txBody>
      </p:sp>
      <p:sp>
        <p:nvSpPr>
          <p:cNvPr id="14" name="Shape 11"/>
          <p:cNvSpPr/>
          <p:nvPr/>
        </p:nvSpPr>
        <p:spPr>
          <a:xfrm>
            <a:off x="8275320" y="3063240"/>
            <a:ext cx="3383280" cy="1188720"/>
          </a:xfrm>
          <a:prstGeom prst="roundRect">
            <a:avLst>
              <a:gd name="adj" fmla="val 6154"/>
            </a:avLst>
          </a:prstGeom>
          <a:solidFill>
            <a:srgbClr val="F2F3F5"/>
          </a:solidFill>
          <a:ln w="12700">
            <a:solidFill>
              <a:srgbClr val="F2F3F5"/>
            </a:solidFill>
            <a:prstDash val="solid"/>
          </a:ln>
        </p:spPr>
      </p:sp>
      <p:sp>
        <p:nvSpPr>
          <p:cNvPr id="15" name="Text 12"/>
          <p:cNvSpPr txBox="1"/>
          <p:nvPr/>
        </p:nvSpPr>
        <p:spPr>
          <a:xfrm>
            <a:off x="8458200" y="3200400"/>
            <a:ext cx="3017520" cy="320040"/>
          </a:xfrm>
          <a:prstGeom prst="rect">
            <a:avLst/>
          </a:prstGeom>
          <a:noFill/>
          <a:ln/>
        </p:spPr>
        <p:txBody>
          <a:bodyPr wrap="square" lIns="0" tIns="0" rIns="0" bIns="0" rtlCol="0" anchor="t"/>
          <a:lstStyle/>
          <a:p>
            <a:pPr indent="0" marL="0">
              <a:buNone/>
            </a:pPr>
            <a:r>
              <a:rPr lang="en-US" sz="1500" b="1" dirty="0">
                <a:solidFill>
                  <a:srgbClr val="1B1F2A"/>
                </a:solidFill>
                <a:latin typeface="Calibri" pitchFamily="34" charset="0"/>
                <a:ea typeface="Calibri" pitchFamily="34" charset="-122"/>
                <a:cs typeface="Calibri" pitchFamily="34" charset="-120"/>
              </a:rPr>
              <a:t>Clinical &amp; lifestyle flags</a:t>
            </a:r>
            <a:endParaRPr lang="en-US" sz="1500" dirty="0"/>
          </a:p>
        </p:txBody>
      </p:sp>
      <p:sp>
        <p:nvSpPr>
          <p:cNvPr id="16" name="Text 13"/>
          <p:cNvSpPr txBox="1"/>
          <p:nvPr/>
        </p:nvSpPr>
        <p:spPr>
          <a:xfrm>
            <a:off x="8458200" y="3538728"/>
            <a:ext cx="3017520" cy="685800"/>
          </a:xfrm>
          <a:prstGeom prst="rect">
            <a:avLst/>
          </a:prstGeom>
          <a:noFill/>
          <a:ln/>
        </p:spPr>
        <p:txBody>
          <a:bodyPr wrap="square" lIns="0" tIns="0" rIns="0" bIns="0" rtlCol="0" anchor="t"/>
          <a:lstStyle/>
          <a:p>
            <a:pPr indent="0" marL="0">
              <a:buNone/>
            </a:pPr>
            <a:r>
              <a:rPr lang="en-US" sz="1250" dirty="0">
                <a:solidFill>
                  <a:srgbClr val="5B6170"/>
                </a:solidFill>
                <a:latin typeface="Calibri" pitchFamily="34" charset="0"/>
                <a:ea typeface="Calibri" pitchFamily="34" charset="-122"/>
                <a:cs typeface="Calibri" pitchFamily="34" charset="-120"/>
              </a:rPr>
              <a:t>anaemia, chronic illness, stress, sleep, chemicals, hard water</a:t>
            </a:r>
            <a:endParaRPr lang="en-US" sz="1250" dirty="0"/>
          </a:p>
        </p:txBody>
      </p:sp>
      <p:sp>
        <p:nvSpPr>
          <p:cNvPr id="17" name="Shape 14"/>
          <p:cNvSpPr/>
          <p:nvPr/>
        </p:nvSpPr>
        <p:spPr>
          <a:xfrm>
            <a:off x="8275320" y="4434840"/>
            <a:ext cx="3383280" cy="1188720"/>
          </a:xfrm>
          <a:prstGeom prst="roundRect">
            <a:avLst>
              <a:gd name="adj" fmla="val 6154"/>
            </a:avLst>
          </a:prstGeom>
          <a:solidFill>
            <a:srgbClr val="F2F3F5"/>
          </a:solidFill>
          <a:ln w="12700">
            <a:solidFill>
              <a:srgbClr val="F2F3F5"/>
            </a:solidFill>
            <a:prstDash val="solid"/>
          </a:ln>
        </p:spPr>
      </p:sp>
      <p:sp>
        <p:nvSpPr>
          <p:cNvPr id="18" name="Text 15"/>
          <p:cNvSpPr txBox="1"/>
          <p:nvPr/>
        </p:nvSpPr>
        <p:spPr>
          <a:xfrm>
            <a:off x="8458200" y="4572000"/>
            <a:ext cx="3017520" cy="320040"/>
          </a:xfrm>
          <a:prstGeom prst="rect">
            <a:avLst/>
          </a:prstGeom>
          <a:noFill/>
          <a:ln/>
        </p:spPr>
        <p:txBody>
          <a:bodyPr wrap="square" lIns="0" tIns="0" rIns="0" bIns="0" rtlCol="0" anchor="t"/>
          <a:lstStyle/>
          <a:p>
            <a:pPr indent="0" marL="0">
              <a:buNone/>
            </a:pPr>
            <a:r>
              <a:rPr lang="en-US" sz="1500" b="1" dirty="0">
                <a:solidFill>
                  <a:srgbClr val="1B1F2A"/>
                </a:solidFill>
                <a:latin typeface="Calibri" pitchFamily="34" charset="0"/>
                <a:ea typeface="Calibri" pitchFamily="34" charset="-122"/>
                <a:cs typeface="Calibri" pitchFamily="34" charset="-120"/>
              </a:rPr>
              <a:t>Demographics</a:t>
            </a:r>
            <a:endParaRPr lang="en-US" sz="1500" dirty="0"/>
          </a:p>
        </p:txBody>
      </p:sp>
      <p:sp>
        <p:nvSpPr>
          <p:cNvPr id="19" name="Text 16"/>
          <p:cNvSpPr txBox="1"/>
          <p:nvPr/>
        </p:nvSpPr>
        <p:spPr>
          <a:xfrm>
            <a:off x="8458200" y="4910328"/>
            <a:ext cx="3017520" cy="685800"/>
          </a:xfrm>
          <a:prstGeom prst="rect">
            <a:avLst/>
          </a:prstGeom>
          <a:noFill/>
          <a:ln/>
        </p:spPr>
        <p:txBody>
          <a:bodyPr wrap="square" lIns="0" tIns="0" rIns="0" bIns="0" rtlCol="0" anchor="t"/>
          <a:lstStyle/>
          <a:p>
            <a:pPr indent="0" marL="0">
              <a:buNone/>
            </a:pPr>
            <a:r>
              <a:rPr lang="en-US" sz="1250" dirty="0">
                <a:solidFill>
                  <a:srgbClr val="5B6170"/>
                </a:solidFill>
                <a:latin typeface="Calibri" pitchFamily="34" charset="0"/>
                <a:ea typeface="Calibri" pitchFamily="34" charset="-122"/>
                <a:cs typeface="Calibri" pitchFamily="34" charset="-120"/>
              </a:rPr>
              <a:t>age, gender, family history</a:t>
            </a:r>
            <a:endParaRPr lang="en-US" sz="1250" dirty="0"/>
          </a:p>
        </p:txBody>
      </p:sp>
      <p:sp>
        <p:nvSpPr>
          <p:cNvPr id="25" name="Slide Number Placeholder 0"/>
          <p:cNvSpPr>
            <a:spLocks noGrp="1"/>
          </p:cNvSpPr>
          <p:nvPr>
            <p:ph type="sldNum" sz="quarter" idx="4294967295"/>
          </p:nvPr>
        </p:nvSpPr>
        <p:spPr>
          <a:xfrm>
            <a:off x="11368735" y="6446520"/>
            <a:ext cx="457200" cy="274320"/>
          </a:xfrm>
          <a:prstGeom prst="rect">
            <a:avLst/>
          </a:prstGeom>
          <a:extLst>
            <a:ext uri="{C572A759-6A51-4108-AA02-DFA0A04FC94B}">
              <ma14:wrappingTextBoxFlag xmlns:ma14="http://schemas.microsoft.com/office/mac/drawingml/2011/main" val="0"/>
            </a:ext>
          </a:extLst>
        </p:spPr>
        <p:txBody>
          <a:bodyPr/>
          <a:lstStyle>
            <a:lvl1pPr>
              <a:defRPr sz="1000">
                <a:solidFill>
                  <a:srgbClr val="5B6170"/>
                </a:solidFill>
                <a:latin typeface="Calibri"/>
                <a:ea typeface="Calibri"/>
                <a:cs typeface="Calibri"/>
              </a:defRPr>
            </a:lvl1pPr>
          </a:lstStyle>
          <a:p>
            <a:pPr algn="r"/>
            <a:fld id="{F7021451-1387-4CA6-816F-3879F97B5CBC}" type="slidenum">
              <a:rPr b="0" lang="en-US"/>
              <a:t>8</a:t>
            </a:fld>
            <a:endParaRPr lang="en-US"/>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name="Slide 9">
    <p:bg>
      <p:bgPr>
        <a:solidFill>
          <a:srgbClr val="FFFFFF"/>
        </a:solidFill>
      </p:bgPr>
    </p:bg>
    <p:spTree>
      <p:nvGrpSpPr>
        <p:cNvPr id="1" name=""/>
        <p:cNvGrpSpPr/>
        <p:nvPr/>
      </p:nvGrpSpPr>
      <p:grpSpPr>
        <a:xfrm>
          <a:off x="0" y="0"/>
          <a:ext cx="0" cy="0"/>
          <a:chOff x="0" y="0"/>
          <a:chExt cx="0" cy="0"/>
        </a:xfrm>
      </p:grpSpPr>
      <p:sp>
        <p:nvSpPr>
          <p:cNvPr id="2" name="Text 0"/>
          <p:cNvSpPr txBox="1"/>
          <p:nvPr/>
        </p:nvSpPr>
        <p:spPr>
          <a:xfrm>
            <a:off x="548640" y="365760"/>
            <a:ext cx="11094415" cy="685800"/>
          </a:xfrm>
          <a:prstGeom prst="rect">
            <a:avLst/>
          </a:prstGeom>
          <a:noFill/>
          <a:ln/>
        </p:spPr>
        <p:txBody>
          <a:bodyPr wrap="square" lIns="0" tIns="0" rIns="0" bIns="0" rtlCol="0" anchor="ctr"/>
          <a:lstStyle/>
          <a:p>
            <a:pPr indent="0" marL="0">
              <a:buNone/>
            </a:pPr>
            <a:r>
              <a:rPr lang="en-US" sz="3200" b="1" dirty="0">
                <a:solidFill>
                  <a:srgbClr val="1B1F2A"/>
                </a:solidFill>
                <a:latin typeface="Cambria" pitchFamily="34" charset="0"/>
                <a:ea typeface="Cambria" pitchFamily="34" charset="-122"/>
                <a:cs typeface="Cambria" pitchFamily="34" charset="-120"/>
              </a:rPr>
              <a:t>Three models, two philosophies</a:t>
            </a:r>
            <a:endParaRPr lang="en-US" sz="3200" dirty="0"/>
          </a:p>
        </p:txBody>
      </p:sp>
      <p:sp>
        <p:nvSpPr>
          <p:cNvPr id="3" name="Text 1"/>
          <p:cNvSpPr txBox="1"/>
          <p:nvPr/>
        </p:nvSpPr>
        <p:spPr>
          <a:xfrm>
            <a:off x="548640" y="1024128"/>
            <a:ext cx="11094415" cy="365760"/>
          </a:xfrm>
          <a:prstGeom prst="rect">
            <a:avLst/>
          </a:prstGeom>
          <a:noFill/>
          <a:ln/>
        </p:spPr>
        <p:txBody>
          <a:bodyPr wrap="square" lIns="0" tIns="0" rIns="0" bIns="0" rtlCol="0" anchor="ctr"/>
          <a:lstStyle/>
          <a:p>
            <a:pPr indent="0" marL="0">
              <a:buNone/>
            </a:pPr>
            <a:r>
              <a:rPr lang="en-US" sz="1500" i="1" dirty="0">
                <a:solidFill>
                  <a:srgbClr val="5B6170"/>
                </a:solidFill>
                <a:latin typeface="Calibri" pitchFamily="34" charset="0"/>
                <a:ea typeface="Calibri" pitchFamily="34" charset="-122"/>
                <a:cs typeface="Calibri" pitchFamily="34" charset="-120"/>
              </a:rPr>
              <a:t>Tuned training vs. zero-shot prediction</a:t>
            </a:r>
            <a:endParaRPr lang="en-US" sz="1500" dirty="0"/>
          </a:p>
        </p:txBody>
      </p:sp>
      <p:sp>
        <p:nvSpPr>
          <p:cNvPr id="4" name="Shape 2"/>
          <p:cNvSpPr/>
          <p:nvPr/>
        </p:nvSpPr>
        <p:spPr>
          <a:xfrm>
            <a:off x="548640" y="1691640"/>
            <a:ext cx="3474720" cy="1005840"/>
          </a:xfrm>
          <a:prstGeom prst="roundRect">
            <a:avLst>
              <a:gd name="adj" fmla="val 7273"/>
            </a:avLst>
          </a:prstGeom>
          <a:solidFill>
            <a:srgbClr val="1F4E9C"/>
          </a:solidFill>
          <a:ln w="12700">
            <a:solidFill>
              <a:srgbClr val="1F4E9C"/>
            </a:solidFill>
            <a:prstDash val="solid"/>
          </a:ln>
        </p:spPr>
      </p:sp>
      <p:sp>
        <p:nvSpPr>
          <p:cNvPr id="5" name="Text 3"/>
          <p:cNvSpPr txBox="1"/>
          <p:nvPr/>
        </p:nvSpPr>
        <p:spPr>
          <a:xfrm>
            <a:off x="822960" y="1737360"/>
            <a:ext cx="2926080" cy="502920"/>
          </a:xfrm>
          <a:prstGeom prst="rect">
            <a:avLst/>
          </a:prstGeom>
          <a:noFill/>
          <a:ln/>
        </p:spPr>
        <p:txBody>
          <a:bodyPr wrap="square" lIns="0" tIns="0" rIns="0" bIns="0" rtlCol="0" anchor="t"/>
          <a:lstStyle/>
          <a:p>
            <a:pPr indent="0" marL="0">
              <a:buNone/>
            </a:pPr>
            <a:r>
              <a:rPr lang="en-US" sz="2400" b="1" dirty="0">
                <a:solidFill>
                  <a:srgbClr val="FFFFFF"/>
                </a:solidFill>
                <a:latin typeface="Cambria" pitchFamily="34" charset="0"/>
                <a:ea typeface="Cambria" pitchFamily="34" charset="-122"/>
                <a:cs typeface="Cambria" pitchFamily="34" charset="-120"/>
              </a:rPr>
              <a:t>CatBoost</a:t>
            </a:r>
            <a:endParaRPr lang="en-US" sz="2400" dirty="0"/>
          </a:p>
        </p:txBody>
      </p:sp>
      <p:sp>
        <p:nvSpPr>
          <p:cNvPr id="6" name="Text 4"/>
          <p:cNvSpPr txBox="1"/>
          <p:nvPr/>
        </p:nvSpPr>
        <p:spPr>
          <a:xfrm>
            <a:off x="822960" y="2240280"/>
            <a:ext cx="2926080" cy="365760"/>
          </a:xfrm>
          <a:prstGeom prst="rect">
            <a:avLst/>
          </a:prstGeom>
          <a:noFill/>
          <a:ln/>
        </p:spPr>
        <p:txBody>
          <a:bodyPr wrap="square" lIns="0" tIns="0" rIns="0" bIns="0" rtlCol="0" anchor="t"/>
          <a:lstStyle/>
          <a:p>
            <a:pPr indent="0" marL="0">
              <a:buNone/>
            </a:pPr>
            <a:r>
              <a:rPr lang="en-US" sz="1300" dirty="0">
                <a:solidFill>
                  <a:srgbClr val="FFFFFF"/>
                </a:solidFill>
                <a:latin typeface="Calibri" pitchFamily="34" charset="0"/>
                <a:ea typeface="Calibri" pitchFamily="34" charset="-122"/>
                <a:cs typeface="Calibri" pitchFamily="34" charset="-120"/>
              </a:rPr>
              <a:t>Gradient-boosted trees</a:t>
            </a:r>
            <a:endParaRPr lang="en-US" sz="1300" dirty="0"/>
          </a:p>
        </p:txBody>
      </p:sp>
      <p:sp>
        <p:nvSpPr>
          <p:cNvPr id="7" name="Shape 5"/>
          <p:cNvSpPr/>
          <p:nvPr/>
        </p:nvSpPr>
        <p:spPr>
          <a:xfrm>
            <a:off x="548640" y="2834640"/>
            <a:ext cx="3474720" cy="3017520"/>
          </a:xfrm>
          <a:prstGeom prst="roundRect">
            <a:avLst>
              <a:gd name="adj" fmla="val 2424"/>
            </a:avLst>
          </a:prstGeom>
          <a:solidFill>
            <a:srgbClr val="F2F3F5"/>
          </a:solidFill>
          <a:ln w="12700">
            <a:solidFill>
              <a:srgbClr val="F2F3F5"/>
            </a:solidFill>
            <a:prstDash val="solid"/>
          </a:ln>
        </p:spPr>
      </p:sp>
      <p:sp>
        <p:nvSpPr>
          <p:cNvPr id="8" name="Text 6"/>
          <p:cNvSpPr txBox="1"/>
          <p:nvPr/>
        </p:nvSpPr>
        <p:spPr>
          <a:xfrm>
            <a:off x="822960" y="3108960"/>
            <a:ext cx="2926080" cy="2651760"/>
          </a:xfrm>
          <a:prstGeom prst="rect">
            <a:avLst/>
          </a:prstGeom>
          <a:noFill/>
          <a:ln/>
        </p:spPr>
        <p:txBody>
          <a:bodyPr wrap="square" lIns="0" tIns="0" rIns="0" bIns="0" rtlCol="0" anchor="t"/>
          <a:lstStyle/>
          <a:p>
            <a:pPr marL="203200" indent="-203200">
              <a:spcAft>
                <a:spcPts val="800"/>
              </a:spcAft>
              <a:buSzPct val="100000"/>
              <a:buChar char="•"/>
            </a:pPr>
            <a:r>
              <a:rPr lang="en-US" sz="1800" dirty="0">
                <a:solidFill>
                  <a:srgbClr val="1B1F2A"/>
                </a:solidFill>
                <a:latin typeface="Calibri" pitchFamily="34" charset="0"/>
                <a:ea typeface="Calibri" pitchFamily="34" charset="-122"/>
                <a:cs typeface="Calibri" pitchFamily="34" charset="-120"/>
              </a:rPr>
              <a:t>Grid search: depth × learning rate</a:t>
            </a:r>
            <a:endParaRPr lang="en-US" sz="1800" dirty="0"/>
          </a:p>
          <a:p>
            <a:pPr marL="203200" indent="-203200">
              <a:spcAft>
                <a:spcPts val="800"/>
              </a:spcAft>
              <a:buSzPct val="100000"/>
              <a:buChar char="•"/>
            </a:pPr>
            <a:r>
              <a:rPr lang="en-US" sz="1800" dirty="0">
                <a:solidFill>
                  <a:srgbClr val="1B1F2A"/>
                </a:solidFill>
                <a:latin typeface="Calibri" pitchFamily="34" charset="0"/>
                <a:ea typeface="Calibri" pitchFamily="34" charset="-122"/>
                <a:cs typeface="Calibri" pitchFamily="34" charset="-120"/>
              </a:rPr>
              <a:t>5-fold stratified CV</a:t>
            </a:r>
            <a:endParaRPr lang="en-US" sz="1800" dirty="0"/>
          </a:p>
          <a:p>
            <a:pPr marL="203200" indent="-203200">
              <a:spcAft>
                <a:spcPts val="800"/>
              </a:spcAft>
              <a:buSzPct val="100000"/>
              <a:buChar char="•"/>
            </a:pPr>
            <a:r>
              <a:rPr lang="en-US" sz="1800" dirty="0">
                <a:solidFill>
                  <a:srgbClr val="1B1F2A"/>
                </a:solidFill>
                <a:latin typeface="Calibri" pitchFamily="34" charset="0"/>
                <a:ea typeface="Calibri" pitchFamily="34" charset="-122"/>
                <a:cs typeface="Calibri" pitchFamily="34" charset="-120"/>
              </a:rPr>
              <a:t>Best: depth 4, lr 0.1</a:t>
            </a:r>
            <a:endParaRPr lang="en-US" sz="1800" dirty="0"/>
          </a:p>
          <a:p>
            <a:pPr marL="203200" indent="-203200">
              <a:spcAft>
                <a:spcPts val="800"/>
              </a:spcAft>
              <a:buSzPct val="100000"/>
              <a:buChar char="•"/>
            </a:pPr>
            <a:r>
              <a:rPr lang="en-US" sz="1800" dirty="0">
                <a:solidFill>
                  <a:srgbClr val="1B1F2A"/>
                </a:solidFill>
                <a:latin typeface="Calibri" pitchFamily="34" charset="0"/>
                <a:ea typeface="Calibri" pitchFamily="34" charset="-122"/>
                <a:cs typeface="Calibri" pitchFamily="34" charset="-120"/>
              </a:rPr>
              <a:t>17,284 training rows</a:t>
            </a:r>
            <a:endParaRPr lang="en-US" sz="1800" dirty="0"/>
          </a:p>
        </p:txBody>
      </p:sp>
      <p:sp>
        <p:nvSpPr>
          <p:cNvPr id="9" name="Shape 7"/>
          <p:cNvSpPr/>
          <p:nvPr/>
        </p:nvSpPr>
        <p:spPr>
          <a:xfrm>
            <a:off x="4297680" y="1691640"/>
            <a:ext cx="3474720" cy="1005840"/>
          </a:xfrm>
          <a:prstGeom prst="roundRect">
            <a:avLst>
              <a:gd name="adj" fmla="val 7273"/>
            </a:avLst>
          </a:prstGeom>
          <a:solidFill>
            <a:srgbClr val="C05A00"/>
          </a:solidFill>
          <a:ln w="12700">
            <a:solidFill>
              <a:srgbClr val="C05A00"/>
            </a:solidFill>
            <a:prstDash val="solid"/>
          </a:ln>
        </p:spPr>
      </p:sp>
      <p:sp>
        <p:nvSpPr>
          <p:cNvPr id="10" name="Text 8"/>
          <p:cNvSpPr txBox="1"/>
          <p:nvPr/>
        </p:nvSpPr>
        <p:spPr>
          <a:xfrm>
            <a:off x="4572000" y="1737360"/>
            <a:ext cx="2926080" cy="502920"/>
          </a:xfrm>
          <a:prstGeom prst="rect">
            <a:avLst/>
          </a:prstGeom>
          <a:noFill/>
          <a:ln/>
        </p:spPr>
        <p:txBody>
          <a:bodyPr wrap="square" lIns="0" tIns="0" rIns="0" bIns="0" rtlCol="0" anchor="t"/>
          <a:lstStyle/>
          <a:p>
            <a:pPr indent="0" marL="0">
              <a:buNone/>
            </a:pPr>
            <a:r>
              <a:rPr lang="en-US" sz="2400" b="1" dirty="0">
                <a:solidFill>
                  <a:srgbClr val="FFFFFF"/>
                </a:solidFill>
                <a:latin typeface="Cambria" pitchFamily="34" charset="0"/>
                <a:ea typeface="Cambria" pitchFamily="34" charset="-122"/>
                <a:cs typeface="Cambria" pitchFamily="34" charset="-120"/>
              </a:rPr>
              <a:t>TabPFN</a:t>
            </a:r>
            <a:endParaRPr lang="en-US" sz="2400" dirty="0"/>
          </a:p>
        </p:txBody>
      </p:sp>
      <p:sp>
        <p:nvSpPr>
          <p:cNvPr id="11" name="Text 9"/>
          <p:cNvSpPr txBox="1"/>
          <p:nvPr/>
        </p:nvSpPr>
        <p:spPr>
          <a:xfrm>
            <a:off x="4572000" y="2240280"/>
            <a:ext cx="2926080" cy="365760"/>
          </a:xfrm>
          <a:prstGeom prst="rect">
            <a:avLst/>
          </a:prstGeom>
          <a:noFill/>
          <a:ln/>
        </p:spPr>
        <p:txBody>
          <a:bodyPr wrap="square" lIns="0" tIns="0" rIns="0" bIns="0" rtlCol="0" anchor="t"/>
          <a:lstStyle/>
          <a:p>
            <a:pPr indent="0" marL="0">
              <a:buNone/>
            </a:pPr>
            <a:r>
              <a:rPr lang="en-US" sz="1300" dirty="0">
                <a:solidFill>
                  <a:srgbClr val="FFFFFF"/>
                </a:solidFill>
                <a:latin typeface="Calibri" pitchFamily="34" charset="0"/>
                <a:ea typeface="Calibri" pitchFamily="34" charset="-122"/>
                <a:cs typeface="Calibri" pitchFamily="34" charset="-120"/>
              </a:rPr>
              <a:t>Pretrained transformer</a:t>
            </a:r>
            <a:endParaRPr lang="en-US" sz="1300" dirty="0"/>
          </a:p>
        </p:txBody>
      </p:sp>
      <p:sp>
        <p:nvSpPr>
          <p:cNvPr id="12" name="Shape 10"/>
          <p:cNvSpPr/>
          <p:nvPr/>
        </p:nvSpPr>
        <p:spPr>
          <a:xfrm>
            <a:off x="4297680" y="2834640"/>
            <a:ext cx="3474720" cy="3017520"/>
          </a:xfrm>
          <a:prstGeom prst="roundRect">
            <a:avLst>
              <a:gd name="adj" fmla="val 2424"/>
            </a:avLst>
          </a:prstGeom>
          <a:solidFill>
            <a:srgbClr val="F2F3F5"/>
          </a:solidFill>
          <a:ln w="12700">
            <a:solidFill>
              <a:srgbClr val="F2F3F5"/>
            </a:solidFill>
            <a:prstDash val="solid"/>
          </a:ln>
        </p:spPr>
      </p:sp>
      <p:sp>
        <p:nvSpPr>
          <p:cNvPr id="13" name="Text 11"/>
          <p:cNvSpPr txBox="1"/>
          <p:nvPr/>
        </p:nvSpPr>
        <p:spPr>
          <a:xfrm>
            <a:off x="4572000" y="3108960"/>
            <a:ext cx="2926080" cy="2651760"/>
          </a:xfrm>
          <a:prstGeom prst="rect">
            <a:avLst/>
          </a:prstGeom>
          <a:noFill/>
          <a:ln/>
        </p:spPr>
        <p:txBody>
          <a:bodyPr wrap="square" lIns="0" tIns="0" rIns="0" bIns="0" rtlCol="0" anchor="t"/>
          <a:lstStyle/>
          <a:p>
            <a:pPr marL="203200" indent="-203200">
              <a:spcAft>
                <a:spcPts val="800"/>
              </a:spcAft>
              <a:buSzPct val="100000"/>
              <a:buChar char="•"/>
            </a:pPr>
            <a:r>
              <a:rPr lang="en-US" sz="1800" dirty="0">
                <a:solidFill>
                  <a:srgbClr val="1B1F2A"/>
                </a:solidFill>
                <a:latin typeface="Calibri" pitchFamily="34" charset="0"/>
                <a:ea typeface="Calibri" pitchFamily="34" charset="-122"/>
                <a:cs typeface="Calibri" pitchFamily="34" charset="-120"/>
              </a:rPr>
              <a:t>No training, no tuning</a:t>
            </a:r>
            <a:endParaRPr lang="en-US" sz="1800" dirty="0"/>
          </a:p>
          <a:p>
            <a:pPr marL="203200" indent="-203200">
              <a:spcAft>
                <a:spcPts val="800"/>
              </a:spcAft>
              <a:buSzPct val="100000"/>
              <a:buChar char="•"/>
            </a:pPr>
            <a:r>
              <a:rPr lang="en-US" sz="1800" dirty="0">
                <a:solidFill>
                  <a:srgbClr val="1B1F2A"/>
                </a:solidFill>
                <a:latin typeface="Calibri" pitchFamily="34" charset="0"/>
                <a:ea typeface="Calibri" pitchFamily="34" charset="-122"/>
                <a:cs typeface="Calibri" pitchFamily="34" charset="-120"/>
              </a:rPr>
              <a:t>Training rows given as context</a:t>
            </a:r>
            <a:endParaRPr lang="en-US" sz="1800" dirty="0"/>
          </a:p>
          <a:p>
            <a:pPr marL="203200" indent="-203200">
              <a:spcAft>
                <a:spcPts val="800"/>
              </a:spcAft>
              <a:buSzPct val="100000"/>
              <a:buChar char="•"/>
            </a:pPr>
            <a:r>
              <a:rPr lang="en-US" sz="1800" dirty="0">
                <a:solidFill>
                  <a:srgbClr val="1B1F2A"/>
                </a:solidFill>
                <a:latin typeface="Calibri" pitchFamily="34" charset="0"/>
                <a:ea typeface="Calibri" pitchFamily="34" charset="-122"/>
                <a:cs typeface="Calibri" pitchFamily="34" charset="-120"/>
              </a:rPr>
              <a:t>One forward pass</a:t>
            </a:r>
            <a:endParaRPr lang="en-US" sz="1800" dirty="0"/>
          </a:p>
          <a:p>
            <a:pPr marL="203200" indent="-203200">
              <a:spcAft>
                <a:spcPts val="800"/>
              </a:spcAft>
              <a:buSzPct val="100000"/>
              <a:buChar char="•"/>
            </a:pPr>
            <a:r>
              <a:rPr lang="en-US" sz="1800" dirty="0">
                <a:solidFill>
                  <a:srgbClr val="1B1F2A"/>
                </a:solidFill>
                <a:latin typeface="Calibri" pitchFamily="34" charset="0"/>
                <a:ea typeface="Calibri" pitchFamily="34" charset="-122"/>
                <a:cs typeface="Calibri" pitchFamily="34" charset="-120"/>
              </a:rPr>
              <a:t>17,284 context rows</a:t>
            </a:r>
            <a:endParaRPr lang="en-US" sz="1800" dirty="0"/>
          </a:p>
        </p:txBody>
      </p:sp>
      <p:sp>
        <p:nvSpPr>
          <p:cNvPr id="14" name="Shape 12"/>
          <p:cNvSpPr/>
          <p:nvPr/>
        </p:nvSpPr>
        <p:spPr>
          <a:xfrm>
            <a:off x="8046720" y="1691640"/>
            <a:ext cx="3474720" cy="1005840"/>
          </a:xfrm>
          <a:prstGeom prst="roundRect">
            <a:avLst>
              <a:gd name="adj" fmla="val 7273"/>
            </a:avLst>
          </a:prstGeom>
          <a:solidFill>
            <a:srgbClr val="2A7F3F"/>
          </a:solidFill>
          <a:ln w="12700">
            <a:solidFill>
              <a:srgbClr val="2A7F3F"/>
            </a:solidFill>
            <a:prstDash val="solid"/>
          </a:ln>
        </p:spPr>
      </p:sp>
      <p:sp>
        <p:nvSpPr>
          <p:cNvPr id="15" name="Text 13"/>
          <p:cNvSpPr txBox="1"/>
          <p:nvPr/>
        </p:nvSpPr>
        <p:spPr>
          <a:xfrm>
            <a:off x="8321040" y="1737360"/>
            <a:ext cx="2926080" cy="502920"/>
          </a:xfrm>
          <a:prstGeom prst="rect">
            <a:avLst/>
          </a:prstGeom>
          <a:noFill/>
          <a:ln/>
        </p:spPr>
        <p:txBody>
          <a:bodyPr wrap="square" lIns="0" tIns="0" rIns="0" bIns="0" rtlCol="0" anchor="t"/>
          <a:lstStyle/>
          <a:p>
            <a:pPr indent="0" marL="0">
              <a:buNone/>
            </a:pPr>
            <a:r>
              <a:rPr lang="en-US" sz="2400" b="1" dirty="0">
                <a:solidFill>
                  <a:srgbClr val="FFFFFF"/>
                </a:solidFill>
                <a:latin typeface="Cambria" pitchFamily="34" charset="0"/>
                <a:ea typeface="Cambria" pitchFamily="34" charset="-122"/>
                <a:cs typeface="Cambria" pitchFamily="34" charset="-120"/>
              </a:rPr>
              <a:t>TabFM</a:t>
            </a:r>
            <a:endParaRPr lang="en-US" sz="2400" dirty="0"/>
          </a:p>
        </p:txBody>
      </p:sp>
      <p:sp>
        <p:nvSpPr>
          <p:cNvPr id="16" name="Text 14"/>
          <p:cNvSpPr txBox="1"/>
          <p:nvPr/>
        </p:nvSpPr>
        <p:spPr>
          <a:xfrm>
            <a:off x="8321040" y="2240280"/>
            <a:ext cx="2926080" cy="365760"/>
          </a:xfrm>
          <a:prstGeom prst="rect">
            <a:avLst/>
          </a:prstGeom>
          <a:noFill/>
          <a:ln/>
        </p:spPr>
        <p:txBody>
          <a:bodyPr wrap="square" lIns="0" tIns="0" rIns="0" bIns="0" rtlCol="0" anchor="t"/>
          <a:lstStyle/>
          <a:p>
            <a:pPr indent="0" marL="0">
              <a:buNone/>
            </a:pPr>
            <a:r>
              <a:rPr lang="en-US" sz="1300" dirty="0">
                <a:solidFill>
                  <a:srgbClr val="FFFFFF"/>
                </a:solidFill>
                <a:latin typeface="Calibri" pitchFamily="34" charset="0"/>
                <a:ea typeface="Calibri" pitchFamily="34" charset="-122"/>
                <a:cs typeface="Calibri" pitchFamily="34" charset="-120"/>
              </a:rPr>
              <a:t>Google, 2026 · row + column attention</a:t>
            </a:r>
            <a:endParaRPr lang="en-US" sz="1300" dirty="0"/>
          </a:p>
        </p:txBody>
      </p:sp>
      <p:sp>
        <p:nvSpPr>
          <p:cNvPr id="17" name="Shape 15"/>
          <p:cNvSpPr/>
          <p:nvPr/>
        </p:nvSpPr>
        <p:spPr>
          <a:xfrm>
            <a:off x="8046720" y="2834640"/>
            <a:ext cx="3474720" cy="3017520"/>
          </a:xfrm>
          <a:prstGeom prst="roundRect">
            <a:avLst>
              <a:gd name="adj" fmla="val 2424"/>
            </a:avLst>
          </a:prstGeom>
          <a:solidFill>
            <a:srgbClr val="F2F3F5"/>
          </a:solidFill>
          <a:ln w="12700">
            <a:solidFill>
              <a:srgbClr val="F2F3F5"/>
            </a:solidFill>
            <a:prstDash val="solid"/>
          </a:ln>
        </p:spPr>
      </p:sp>
      <p:sp>
        <p:nvSpPr>
          <p:cNvPr id="18" name="Text 16"/>
          <p:cNvSpPr txBox="1"/>
          <p:nvPr/>
        </p:nvSpPr>
        <p:spPr>
          <a:xfrm>
            <a:off x="8321040" y="3108960"/>
            <a:ext cx="2926080" cy="2651760"/>
          </a:xfrm>
          <a:prstGeom prst="rect">
            <a:avLst/>
          </a:prstGeom>
          <a:noFill/>
          <a:ln/>
        </p:spPr>
        <p:txBody>
          <a:bodyPr wrap="square" lIns="0" tIns="0" rIns="0" bIns="0" rtlCol="0" anchor="t"/>
          <a:lstStyle/>
          <a:p>
            <a:pPr marL="203200" indent="-203200">
              <a:spcAft>
                <a:spcPts val="800"/>
              </a:spcAft>
              <a:buSzPct val="100000"/>
              <a:buChar char="•"/>
            </a:pPr>
            <a:r>
              <a:rPr lang="en-US" sz="1800" dirty="0">
                <a:solidFill>
                  <a:srgbClr val="1B1F2A"/>
                </a:solidFill>
                <a:latin typeface="Calibri" pitchFamily="34" charset="0"/>
                <a:ea typeface="Calibri" pitchFamily="34" charset="-122"/>
                <a:cs typeface="Calibri" pitchFamily="34" charset="-120"/>
              </a:rPr>
              <a:t>No training, no tuning</a:t>
            </a:r>
            <a:endParaRPr lang="en-US" sz="1800" dirty="0"/>
          </a:p>
          <a:p>
            <a:pPr marL="203200" indent="-203200">
              <a:spcAft>
                <a:spcPts val="800"/>
              </a:spcAft>
              <a:buSzPct val="100000"/>
              <a:buChar char="•"/>
            </a:pPr>
            <a:r>
              <a:rPr lang="en-US" sz="1800" dirty="0">
                <a:solidFill>
                  <a:srgbClr val="1B1F2A"/>
                </a:solidFill>
                <a:latin typeface="Calibri" pitchFamily="34" charset="0"/>
                <a:ea typeface="Calibri" pitchFamily="34" charset="-122"/>
                <a:cs typeface="Calibri" pitchFamily="34" charset="-120"/>
              </a:rPr>
              <a:t>Single ensemble member</a:t>
            </a:r>
            <a:endParaRPr lang="en-US" sz="1800" dirty="0"/>
          </a:p>
          <a:p>
            <a:pPr marL="203200" indent="-203200">
              <a:spcAft>
                <a:spcPts val="800"/>
              </a:spcAft>
              <a:buSzPct val="100000"/>
              <a:buChar char="•"/>
            </a:pPr>
            <a:r>
              <a:rPr lang="en-US" sz="1800" dirty="0">
                <a:solidFill>
                  <a:srgbClr val="1B1F2A"/>
                </a:solidFill>
                <a:latin typeface="Calibri" pitchFamily="34" charset="0"/>
                <a:ea typeface="Calibri" pitchFamily="34" charset="-122"/>
                <a:cs typeface="Calibri" pitchFamily="34" charset="-120"/>
              </a:rPr>
              <a:t>Slow at large context</a:t>
            </a:r>
            <a:endParaRPr lang="en-US" sz="1800" dirty="0"/>
          </a:p>
          <a:p>
            <a:pPr marL="203200" indent="-203200">
              <a:spcAft>
                <a:spcPts val="800"/>
              </a:spcAft>
              <a:buSzPct val="100000"/>
              <a:buChar char="•"/>
            </a:pPr>
            <a:r>
              <a:rPr lang="en-US" sz="1800" dirty="0">
                <a:solidFill>
                  <a:srgbClr val="1B1F2A"/>
                </a:solidFill>
                <a:latin typeface="Calibri" pitchFamily="34" charset="0"/>
                <a:ea typeface="Calibri" pitchFamily="34" charset="-122"/>
                <a:cs typeface="Calibri" pitchFamily="34" charset="-120"/>
              </a:rPr>
              <a:t>500 context rows</a:t>
            </a:r>
            <a:endParaRPr lang="en-US" sz="1800" dirty="0"/>
          </a:p>
        </p:txBody>
      </p:sp>
      <p:sp>
        <p:nvSpPr>
          <p:cNvPr id="25" name="Slide Number Placeholder 0"/>
          <p:cNvSpPr>
            <a:spLocks noGrp="1"/>
          </p:cNvSpPr>
          <p:nvPr>
            <p:ph type="sldNum" sz="quarter" idx="4294967295"/>
          </p:nvPr>
        </p:nvSpPr>
        <p:spPr>
          <a:xfrm>
            <a:off x="11368735" y="6446520"/>
            <a:ext cx="457200" cy="274320"/>
          </a:xfrm>
          <a:prstGeom prst="rect">
            <a:avLst/>
          </a:prstGeom>
          <a:extLst>
            <a:ext uri="{C572A759-6A51-4108-AA02-DFA0A04FC94B}">
              <ma14:wrappingTextBoxFlag xmlns:ma14="http://schemas.microsoft.com/office/mac/drawingml/2011/main" val="0"/>
            </a:ext>
          </a:extLst>
        </p:spPr>
        <p:txBody>
          <a:bodyPr/>
          <a:lstStyle>
            <a:lvl1pPr>
              <a:defRPr sz="1000">
                <a:solidFill>
                  <a:srgbClr val="5B6170"/>
                </a:solidFill>
                <a:latin typeface="Calibri"/>
                <a:ea typeface="Calibri"/>
                <a:cs typeface="Calibri"/>
              </a:defRPr>
            </a:lvl1pPr>
          </a:lstStyle>
          <a:p>
            <a:pPr algn="r"/>
            <a:fld id="{F7021451-1387-4CA6-816F-3879F97B5CBC}" type="slidenum">
              <a:rPr b="0" lang="en-US"/>
              <a:t>9</a:t>
            </a:fld>
            <a:endParaRPr lang="en-US"/>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name="Slide 10">
    <p:bg>
      <p:bgPr>
        <a:solidFill>
          <a:srgbClr val="FFFFFF"/>
        </a:solidFill>
      </p:bgPr>
    </p:bg>
    <p:spTree>
      <p:nvGrpSpPr>
        <p:cNvPr id="1" name=""/>
        <p:cNvGrpSpPr/>
        <p:nvPr/>
      </p:nvGrpSpPr>
      <p:grpSpPr>
        <a:xfrm>
          <a:off x="0" y="0"/>
          <a:ext cx="0" cy="0"/>
          <a:chOff x="0" y="0"/>
          <a:chExt cx="0" cy="0"/>
        </a:xfrm>
      </p:grpSpPr>
      <p:sp>
        <p:nvSpPr>
          <p:cNvPr id="2" name="Text 0"/>
          <p:cNvSpPr txBox="1"/>
          <p:nvPr/>
        </p:nvSpPr>
        <p:spPr>
          <a:xfrm>
            <a:off x="548640" y="365760"/>
            <a:ext cx="11094415" cy="685800"/>
          </a:xfrm>
          <a:prstGeom prst="rect">
            <a:avLst/>
          </a:prstGeom>
          <a:noFill/>
          <a:ln/>
        </p:spPr>
        <p:txBody>
          <a:bodyPr wrap="square" lIns="0" tIns="0" rIns="0" bIns="0" rtlCol="0" anchor="ctr"/>
          <a:lstStyle/>
          <a:p>
            <a:pPr indent="0" marL="0">
              <a:buNone/>
            </a:pPr>
            <a:r>
              <a:rPr lang="en-US" sz="3200" b="1" dirty="0">
                <a:solidFill>
                  <a:srgbClr val="1B1F2A"/>
                </a:solidFill>
                <a:latin typeface="Cambria" pitchFamily="34" charset="0"/>
                <a:ea typeface="Cambria" pitchFamily="34" charset="-122"/>
                <a:cs typeface="Cambria" pitchFamily="34" charset="-120"/>
              </a:rPr>
              <a:t>Result 1 — performance is almost identical</a:t>
            </a:r>
            <a:endParaRPr lang="en-US" sz="3200" dirty="0"/>
          </a:p>
        </p:txBody>
      </p:sp>
      <p:sp>
        <p:nvSpPr>
          <p:cNvPr id="3" name="Text 1"/>
          <p:cNvSpPr txBox="1"/>
          <p:nvPr/>
        </p:nvSpPr>
        <p:spPr>
          <a:xfrm>
            <a:off x="548640" y="1024128"/>
            <a:ext cx="11094415" cy="365760"/>
          </a:xfrm>
          <a:prstGeom prst="rect">
            <a:avLst/>
          </a:prstGeom>
          <a:noFill/>
          <a:ln/>
        </p:spPr>
        <p:txBody>
          <a:bodyPr wrap="square" lIns="0" tIns="0" rIns="0" bIns="0" rtlCol="0" anchor="ctr"/>
          <a:lstStyle/>
          <a:p>
            <a:pPr indent="0" marL="0">
              <a:buNone/>
            </a:pPr>
            <a:r>
              <a:rPr lang="en-US" sz="1500" i="1" dirty="0">
                <a:solidFill>
                  <a:srgbClr val="5B6170"/>
                </a:solidFill>
                <a:latin typeface="Calibri" pitchFamily="34" charset="0"/>
                <a:ea typeface="Calibri" pitchFamily="34" charset="-122"/>
                <a:cs typeface="Calibri" pitchFamily="34" charset="-120"/>
              </a:rPr>
              <a:t>Held-out test set: 4,322 records</a:t>
            </a:r>
            <a:endParaRPr lang="en-US" sz="1500" dirty="0"/>
          </a:p>
        </p:txBody>
      </p:sp>
      <p:sp>
        <p:nvSpPr>
          <p:cNvPr id="4" name="Shape 2"/>
          <p:cNvSpPr/>
          <p:nvPr/>
        </p:nvSpPr>
        <p:spPr>
          <a:xfrm>
            <a:off x="548640" y="1691640"/>
            <a:ext cx="3474720" cy="2468880"/>
          </a:xfrm>
          <a:prstGeom prst="roundRect">
            <a:avLst>
              <a:gd name="adj" fmla="val 2963"/>
            </a:avLst>
          </a:prstGeom>
          <a:solidFill>
            <a:srgbClr val="F2F3F5"/>
          </a:solidFill>
          <a:ln w="12700">
            <a:solidFill>
              <a:srgbClr val="F2F3F5"/>
            </a:solidFill>
            <a:prstDash val="solid"/>
          </a:ln>
        </p:spPr>
      </p:sp>
      <p:sp>
        <p:nvSpPr>
          <p:cNvPr id="5" name="Shape 3"/>
          <p:cNvSpPr/>
          <p:nvPr/>
        </p:nvSpPr>
        <p:spPr>
          <a:xfrm>
            <a:off x="868680" y="1965960"/>
            <a:ext cx="274320" cy="274320"/>
          </a:xfrm>
          <a:prstGeom prst="ellipse">
            <a:avLst/>
          </a:prstGeom>
          <a:solidFill>
            <a:srgbClr val="1F4E9C"/>
          </a:solidFill>
          <a:ln w="12700">
            <a:solidFill>
              <a:srgbClr val="1F4E9C"/>
            </a:solidFill>
            <a:prstDash val="solid"/>
          </a:ln>
        </p:spPr>
      </p:sp>
      <p:sp>
        <p:nvSpPr>
          <p:cNvPr id="6" name="Text 4"/>
          <p:cNvSpPr txBox="1"/>
          <p:nvPr/>
        </p:nvSpPr>
        <p:spPr>
          <a:xfrm>
            <a:off x="1280160" y="1920240"/>
            <a:ext cx="2468880" cy="365760"/>
          </a:xfrm>
          <a:prstGeom prst="rect">
            <a:avLst/>
          </a:prstGeom>
          <a:noFill/>
          <a:ln/>
        </p:spPr>
        <p:txBody>
          <a:bodyPr wrap="square" lIns="0" tIns="0" rIns="0" bIns="0" rtlCol="0" anchor="t"/>
          <a:lstStyle/>
          <a:p>
            <a:pPr indent="0" marL="0">
              <a:buNone/>
            </a:pPr>
            <a:r>
              <a:rPr lang="en-US" sz="1800" b="1" dirty="0">
                <a:solidFill>
                  <a:srgbClr val="1B1F2A"/>
                </a:solidFill>
                <a:latin typeface="Calibri" pitchFamily="34" charset="0"/>
                <a:ea typeface="Calibri" pitchFamily="34" charset="-122"/>
                <a:cs typeface="Calibri" pitchFamily="34" charset="-120"/>
              </a:rPr>
              <a:t>CatBoost</a:t>
            </a:r>
            <a:endParaRPr lang="en-US" sz="1800" dirty="0"/>
          </a:p>
        </p:txBody>
      </p:sp>
      <p:sp>
        <p:nvSpPr>
          <p:cNvPr id="7" name="Text 5"/>
          <p:cNvSpPr txBox="1"/>
          <p:nvPr/>
        </p:nvSpPr>
        <p:spPr>
          <a:xfrm>
            <a:off x="868680" y="2377440"/>
            <a:ext cx="2834640" cy="914400"/>
          </a:xfrm>
          <a:prstGeom prst="rect">
            <a:avLst/>
          </a:prstGeom>
          <a:noFill/>
          <a:ln/>
        </p:spPr>
        <p:txBody>
          <a:bodyPr wrap="square" lIns="0" tIns="0" rIns="0" bIns="0" rtlCol="0" anchor="t"/>
          <a:lstStyle/>
          <a:p>
            <a:pPr indent="0" marL="0">
              <a:buNone/>
            </a:pPr>
            <a:r>
              <a:rPr lang="en-US" sz="5400" b="1" dirty="0">
                <a:solidFill>
                  <a:srgbClr val="1F4E9C"/>
                </a:solidFill>
                <a:latin typeface="Cambria" pitchFamily="34" charset="0"/>
                <a:ea typeface="Cambria" pitchFamily="34" charset="-122"/>
                <a:cs typeface="Cambria" pitchFamily="34" charset="-120"/>
              </a:rPr>
              <a:t>78.51%</a:t>
            </a:r>
            <a:endParaRPr lang="en-US" sz="5400" dirty="0"/>
          </a:p>
        </p:txBody>
      </p:sp>
      <p:sp>
        <p:nvSpPr>
          <p:cNvPr id="8" name="Text 6"/>
          <p:cNvSpPr txBox="1"/>
          <p:nvPr/>
        </p:nvSpPr>
        <p:spPr>
          <a:xfrm>
            <a:off x="868680" y="3429000"/>
            <a:ext cx="2834640" cy="365760"/>
          </a:xfrm>
          <a:prstGeom prst="rect">
            <a:avLst/>
          </a:prstGeom>
          <a:noFill/>
          <a:ln/>
        </p:spPr>
        <p:txBody>
          <a:bodyPr wrap="square" lIns="0" tIns="0" rIns="0" bIns="0" rtlCol="0" anchor="t"/>
          <a:lstStyle/>
          <a:p>
            <a:pPr indent="0" marL="0">
              <a:buNone/>
            </a:pPr>
            <a:r>
              <a:rPr lang="en-US" sz="1400" dirty="0">
                <a:solidFill>
                  <a:srgbClr val="5B6170"/>
                </a:solidFill>
                <a:latin typeface="Calibri" pitchFamily="34" charset="0"/>
                <a:ea typeface="Calibri" pitchFamily="34" charset="-122"/>
                <a:cs typeface="Calibri" pitchFamily="34" charset="-120"/>
              </a:rPr>
              <a:t>Macro-F1 0.776 · AUC 0.919</a:t>
            </a:r>
            <a:endParaRPr lang="en-US" sz="1400" dirty="0"/>
          </a:p>
        </p:txBody>
      </p:sp>
      <p:sp>
        <p:nvSpPr>
          <p:cNvPr id="9" name="Shape 7"/>
          <p:cNvSpPr/>
          <p:nvPr/>
        </p:nvSpPr>
        <p:spPr>
          <a:xfrm>
            <a:off x="4297680" y="1691640"/>
            <a:ext cx="3474720" cy="2468880"/>
          </a:xfrm>
          <a:prstGeom prst="roundRect">
            <a:avLst>
              <a:gd name="adj" fmla="val 2963"/>
            </a:avLst>
          </a:prstGeom>
          <a:solidFill>
            <a:srgbClr val="F2F3F5"/>
          </a:solidFill>
          <a:ln w="12700">
            <a:solidFill>
              <a:srgbClr val="F2F3F5"/>
            </a:solidFill>
            <a:prstDash val="solid"/>
          </a:ln>
        </p:spPr>
      </p:sp>
      <p:sp>
        <p:nvSpPr>
          <p:cNvPr id="10" name="Shape 8"/>
          <p:cNvSpPr/>
          <p:nvPr/>
        </p:nvSpPr>
        <p:spPr>
          <a:xfrm>
            <a:off x="4617720" y="1965960"/>
            <a:ext cx="274320" cy="274320"/>
          </a:xfrm>
          <a:prstGeom prst="ellipse">
            <a:avLst/>
          </a:prstGeom>
          <a:solidFill>
            <a:srgbClr val="C05A00"/>
          </a:solidFill>
          <a:ln w="12700">
            <a:solidFill>
              <a:srgbClr val="C05A00"/>
            </a:solidFill>
            <a:prstDash val="solid"/>
          </a:ln>
        </p:spPr>
      </p:sp>
      <p:sp>
        <p:nvSpPr>
          <p:cNvPr id="11" name="Text 9"/>
          <p:cNvSpPr txBox="1"/>
          <p:nvPr/>
        </p:nvSpPr>
        <p:spPr>
          <a:xfrm>
            <a:off x="5029200" y="1920240"/>
            <a:ext cx="2468880" cy="365760"/>
          </a:xfrm>
          <a:prstGeom prst="rect">
            <a:avLst/>
          </a:prstGeom>
          <a:noFill/>
          <a:ln/>
        </p:spPr>
        <p:txBody>
          <a:bodyPr wrap="square" lIns="0" tIns="0" rIns="0" bIns="0" rtlCol="0" anchor="t"/>
          <a:lstStyle/>
          <a:p>
            <a:pPr indent="0" marL="0">
              <a:buNone/>
            </a:pPr>
            <a:r>
              <a:rPr lang="en-US" sz="1800" b="1" dirty="0">
                <a:solidFill>
                  <a:srgbClr val="1B1F2A"/>
                </a:solidFill>
                <a:latin typeface="Calibri" pitchFamily="34" charset="0"/>
                <a:ea typeface="Calibri" pitchFamily="34" charset="-122"/>
                <a:cs typeface="Calibri" pitchFamily="34" charset="-120"/>
              </a:rPr>
              <a:t>TabPFN</a:t>
            </a:r>
            <a:endParaRPr lang="en-US" sz="1800" dirty="0"/>
          </a:p>
        </p:txBody>
      </p:sp>
      <p:sp>
        <p:nvSpPr>
          <p:cNvPr id="12" name="Text 10"/>
          <p:cNvSpPr txBox="1"/>
          <p:nvPr/>
        </p:nvSpPr>
        <p:spPr>
          <a:xfrm>
            <a:off x="4617720" y="2377440"/>
            <a:ext cx="2834640" cy="914400"/>
          </a:xfrm>
          <a:prstGeom prst="rect">
            <a:avLst/>
          </a:prstGeom>
          <a:noFill/>
          <a:ln/>
        </p:spPr>
        <p:txBody>
          <a:bodyPr wrap="square" lIns="0" tIns="0" rIns="0" bIns="0" rtlCol="0" anchor="t"/>
          <a:lstStyle/>
          <a:p>
            <a:pPr indent="0" marL="0">
              <a:buNone/>
            </a:pPr>
            <a:r>
              <a:rPr lang="en-US" sz="5400" b="1" dirty="0">
                <a:solidFill>
                  <a:srgbClr val="C05A00"/>
                </a:solidFill>
                <a:latin typeface="Cambria" pitchFamily="34" charset="0"/>
                <a:ea typeface="Cambria" pitchFamily="34" charset="-122"/>
                <a:cs typeface="Cambria" pitchFamily="34" charset="-120"/>
              </a:rPr>
              <a:t>78.57%</a:t>
            </a:r>
            <a:endParaRPr lang="en-US" sz="5400" dirty="0"/>
          </a:p>
        </p:txBody>
      </p:sp>
      <p:sp>
        <p:nvSpPr>
          <p:cNvPr id="13" name="Text 11"/>
          <p:cNvSpPr txBox="1"/>
          <p:nvPr/>
        </p:nvSpPr>
        <p:spPr>
          <a:xfrm>
            <a:off x="4617720" y="3429000"/>
            <a:ext cx="2834640" cy="365760"/>
          </a:xfrm>
          <a:prstGeom prst="rect">
            <a:avLst/>
          </a:prstGeom>
          <a:noFill/>
          <a:ln/>
        </p:spPr>
        <p:txBody>
          <a:bodyPr wrap="square" lIns="0" tIns="0" rIns="0" bIns="0" rtlCol="0" anchor="t"/>
          <a:lstStyle/>
          <a:p>
            <a:pPr indent="0" marL="0">
              <a:buNone/>
            </a:pPr>
            <a:r>
              <a:rPr lang="en-US" sz="1400" dirty="0">
                <a:solidFill>
                  <a:srgbClr val="5B6170"/>
                </a:solidFill>
                <a:latin typeface="Calibri" pitchFamily="34" charset="0"/>
                <a:ea typeface="Calibri" pitchFamily="34" charset="-122"/>
                <a:cs typeface="Calibri" pitchFamily="34" charset="-120"/>
              </a:rPr>
              <a:t>Macro-F1 0.779 · AUC 0.923</a:t>
            </a:r>
            <a:endParaRPr lang="en-US" sz="1400" dirty="0"/>
          </a:p>
        </p:txBody>
      </p:sp>
      <p:sp>
        <p:nvSpPr>
          <p:cNvPr id="14" name="Shape 12"/>
          <p:cNvSpPr/>
          <p:nvPr/>
        </p:nvSpPr>
        <p:spPr>
          <a:xfrm>
            <a:off x="8046720" y="1691640"/>
            <a:ext cx="3474720" cy="2468880"/>
          </a:xfrm>
          <a:prstGeom prst="roundRect">
            <a:avLst>
              <a:gd name="adj" fmla="val 2963"/>
            </a:avLst>
          </a:prstGeom>
          <a:solidFill>
            <a:srgbClr val="F2F3F5"/>
          </a:solidFill>
          <a:ln w="12700">
            <a:solidFill>
              <a:srgbClr val="F2F3F5"/>
            </a:solidFill>
            <a:prstDash val="solid"/>
          </a:ln>
        </p:spPr>
      </p:sp>
      <p:sp>
        <p:nvSpPr>
          <p:cNvPr id="15" name="Shape 13"/>
          <p:cNvSpPr/>
          <p:nvPr/>
        </p:nvSpPr>
        <p:spPr>
          <a:xfrm>
            <a:off x="8366760" y="1965960"/>
            <a:ext cx="274320" cy="274320"/>
          </a:xfrm>
          <a:prstGeom prst="ellipse">
            <a:avLst/>
          </a:prstGeom>
          <a:solidFill>
            <a:srgbClr val="2A7F3F"/>
          </a:solidFill>
          <a:ln w="12700">
            <a:solidFill>
              <a:srgbClr val="2A7F3F"/>
            </a:solidFill>
            <a:prstDash val="solid"/>
          </a:ln>
        </p:spPr>
      </p:sp>
      <p:sp>
        <p:nvSpPr>
          <p:cNvPr id="16" name="Text 14"/>
          <p:cNvSpPr txBox="1"/>
          <p:nvPr/>
        </p:nvSpPr>
        <p:spPr>
          <a:xfrm>
            <a:off x="8778240" y="1920240"/>
            <a:ext cx="2468880" cy="365760"/>
          </a:xfrm>
          <a:prstGeom prst="rect">
            <a:avLst/>
          </a:prstGeom>
          <a:noFill/>
          <a:ln/>
        </p:spPr>
        <p:txBody>
          <a:bodyPr wrap="square" lIns="0" tIns="0" rIns="0" bIns="0" rtlCol="0" anchor="t"/>
          <a:lstStyle/>
          <a:p>
            <a:pPr indent="0" marL="0">
              <a:buNone/>
            </a:pPr>
            <a:r>
              <a:rPr lang="en-US" sz="1800" b="1" dirty="0">
                <a:solidFill>
                  <a:srgbClr val="1B1F2A"/>
                </a:solidFill>
                <a:latin typeface="Calibri" pitchFamily="34" charset="0"/>
                <a:ea typeface="Calibri" pitchFamily="34" charset="-122"/>
                <a:cs typeface="Calibri" pitchFamily="34" charset="-120"/>
              </a:rPr>
              <a:t>TabFM</a:t>
            </a:r>
            <a:endParaRPr lang="en-US" sz="1800" dirty="0"/>
          </a:p>
        </p:txBody>
      </p:sp>
      <p:sp>
        <p:nvSpPr>
          <p:cNvPr id="17" name="Text 15"/>
          <p:cNvSpPr txBox="1"/>
          <p:nvPr/>
        </p:nvSpPr>
        <p:spPr>
          <a:xfrm>
            <a:off x="8366760" y="2377440"/>
            <a:ext cx="2834640" cy="914400"/>
          </a:xfrm>
          <a:prstGeom prst="rect">
            <a:avLst/>
          </a:prstGeom>
          <a:noFill/>
          <a:ln/>
        </p:spPr>
        <p:txBody>
          <a:bodyPr wrap="square" lIns="0" tIns="0" rIns="0" bIns="0" rtlCol="0" anchor="t"/>
          <a:lstStyle/>
          <a:p>
            <a:pPr indent="0" marL="0">
              <a:buNone/>
            </a:pPr>
            <a:r>
              <a:rPr lang="en-US" sz="5400" b="1" dirty="0">
                <a:solidFill>
                  <a:srgbClr val="2A7F3F"/>
                </a:solidFill>
                <a:latin typeface="Cambria" pitchFamily="34" charset="0"/>
                <a:ea typeface="Cambria" pitchFamily="34" charset="-122"/>
                <a:cs typeface="Cambria" pitchFamily="34" charset="-120"/>
              </a:rPr>
              <a:t>77.88%</a:t>
            </a:r>
            <a:endParaRPr lang="en-US" sz="5400" dirty="0"/>
          </a:p>
        </p:txBody>
      </p:sp>
      <p:sp>
        <p:nvSpPr>
          <p:cNvPr id="18" name="Text 16"/>
          <p:cNvSpPr txBox="1"/>
          <p:nvPr/>
        </p:nvSpPr>
        <p:spPr>
          <a:xfrm>
            <a:off x="8366760" y="3429000"/>
            <a:ext cx="2834640" cy="365760"/>
          </a:xfrm>
          <a:prstGeom prst="rect">
            <a:avLst/>
          </a:prstGeom>
          <a:noFill/>
          <a:ln/>
        </p:spPr>
        <p:txBody>
          <a:bodyPr wrap="square" lIns="0" tIns="0" rIns="0" bIns="0" rtlCol="0" anchor="t"/>
          <a:lstStyle/>
          <a:p>
            <a:pPr indent="0" marL="0">
              <a:buNone/>
            </a:pPr>
            <a:r>
              <a:rPr lang="en-US" sz="1400" dirty="0">
                <a:solidFill>
                  <a:srgbClr val="5B6170"/>
                </a:solidFill>
                <a:latin typeface="Calibri" pitchFamily="34" charset="0"/>
                <a:ea typeface="Calibri" pitchFamily="34" charset="-122"/>
                <a:cs typeface="Calibri" pitchFamily="34" charset="-120"/>
              </a:rPr>
              <a:t>Macro-F1 0.772 · AUC 0.918</a:t>
            </a:r>
            <a:endParaRPr lang="en-US" sz="1400" dirty="0"/>
          </a:p>
        </p:txBody>
      </p:sp>
      <p:sp>
        <p:nvSpPr>
          <p:cNvPr id="19" name="Shape 17"/>
          <p:cNvSpPr/>
          <p:nvPr/>
        </p:nvSpPr>
        <p:spPr>
          <a:xfrm>
            <a:off x="548640" y="4434840"/>
            <a:ext cx="11094415" cy="1417320"/>
          </a:xfrm>
          <a:prstGeom prst="roundRect">
            <a:avLst>
              <a:gd name="adj" fmla="val 5161"/>
            </a:avLst>
          </a:prstGeom>
          <a:solidFill>
            <a:srgbClr val="1B1F2A"/>
          </a:solidFill>
          <a:ln w="12700">
            <a:solidFill>
              <a:srgbClr val="1B1F2A"/>
            </a:solidFill>
            <a:prstDash val="solid"/>
          </a:ln>
        </p:spPr>
      </p:sp>
      <p:sp>
        <p:nvSpPr>
          <p:cNvPr id="20" name="Shape 18"/>
          <p:cNvSpPr/>
          <p:nvPr/>
        </p:nvSpPr>
        <p:spPr>
          <a:xfrm>
            <a:off x="868680" y="4846320"/>
            <a:ext cx="640080" cy="640080"/>
          </a:xfrm>
          <a:prstGeom prst="ellipse">
            <a:avLst/>
          </a:prstGeom>
          <a:solidFill>
            <a:srgbClr val="C8102E"/>
          </a:solidFill>
          <a:ln w="12700">
            <a:solidFill>
              <a:srgbClr val="C8102E"/>
            </a:solidFill>
            <a:prstDash val="solid"/>
          </a:ln>
        </p:spPr>
      </p:sp>
      <p:pic>
        <p:nvPicPr>
          <p:cNvPr id="21" name="Image 0" descr="preencoded.png">    </p:cNvPr>
          <p:cNvPicPr>
            <a:picLocks noChangeAspect="1"/>
          </p:cNvPicPr>
          <p:nvPr/>
        </p:nvPicPr>
        <p:blipFill>
          <a:blip r:embed="rId1"/>
          <a:stretch>
            <a:fillRect/>
          </a:stretch>
        </p:blipFill>
        <p:spPr>
          <a:xfrm>
            <a:off x="1035101" y="5012741"/>
            <a:ext cx="307238" cy="307238"/>
          </a:xfrm>
          <a:prstGeom prst="rect">
            <a:avLst/>
          </a:prstGeom>
        </p:spPr>
      </p:pic>
      <p:sp>
        <p:nvSpPr>
          <p:cNvPr id="22" name="Text 19"/>
          <p:cNvSpPr txBox="1"/>
          <p:nvPr/>
        </p:nvSpPr>
        <p:spPr>
          <a:xfrm>
            <a:off x="1737360" y="4434840"/>
            <a:ext cx="9631375" cy="1417320"/>
          </a:xfrm>
          <a:prstGeom prst="rect">
            <a:avLst/>
          </a:prstGeom>
          <a:noFill/>
          <a:ln/>
        </p:spPr>
        <p:txBody>
          <a:bodyPr wrap="square" lIns="0" tIns="0" rIns="0" bIns="0" rtlCol="0" anchor="ctr"/>
          <a:lstStyle/>
          <a:p>
            <a:pPr indent="0" marL="0">
              <a:buNone/>
            </a:pPr>
            <a:r>
              <a:rPr lang="en-US" sz="1800" b="1" dirty="0">
                <a:solidFill>
                  <a:srgbClr val="FFFFFF"/>
                </a:solidFill>
                <a:latin typeface="Calibri" pitchFamily="34" charset="0"/>
                <a:ea typeface="Calibri" pitchFamily="34" charset="-122"/>
                <a:cs typeface="Calibri" pitchFamily="34" charset="-120"/>
              </a:rPr>
              <a:t>McNemar test: no significant difference </a:t>
            </a:r>
            <a:endParaRPr lang="en-US" sz="1800" dirty="0"/>
          </a:p>
          <a:p>
            <a:pPr indent="0" marL="0">
              <a:buNone/>
            </a:pPr>
            <a:r>
              <a:rPr lang="en-US" sz="1500" dirty="0">
                <a:solidFill>
                  <a:srgbClr val="D5D8DF"/>
                </a:solidFill>
                <a:latin typeface="Calibri" pitchFamily="34" charset="0"/>
                <a:ea typeface="Calibri" pitchFamily="34" charset="-122"/>
                <a:cs typeface="Calibri" pitchFamily="34" charset="-120"/>
              </a:rPr>
              <a:t>p = 0.90 · 0.20 · 0.11  —  TabPFN matched tuned CatBoost with zero tuning; TabFM used &lt; 3% of the data.</a:t>
            </a:r>
            <a:endParaRPr lang="en-US" sz="1800" dirty="0"/>
          </a:p>
        </p:txBody>
      </p:sp>
      <p:sp>
        <p:nvSpPr>
          <p:cNvPr id="25" name="Slide Number Placeholder 0"/>
          <p:cNvSpPr>
            <a:spLocks noGrp="1"/>
          </p:cNvSpPr>
          <p:nvPr>
            <p:ph type="sldNum" sz="quarter" idx="4294967295"/>
          </p:nvPr>
        </p:nvSpPr>
        <p:spPr>
          <a:xfrm>
            <a:off x="11368735" y="6446520"/>
            <a:ext cx="457200" cy="274320"/>
          </a:xfrm>
          <a:prstGeom prst="rect">
            <a:avLst/>
          </a:prstGeom>
          <a:extLst>
            <a:ext uri="{C572A759-6A51-4108-AA02-DFA0A04FC94B}">
              <ma14:wrappingTextBoxFlag xmlns:ma14="http://schemas.microsoft.com/office/mac/drawingml/2011/main" val="0"/>
            </a:ext>
          </a:extLst>
        </p:spPr>
        <p:txBody>
          <a:bodyPr/>
          <a:lstStyle>
            <a:lvl1pPr>
              <a:defRPr sz="1000">
                <a:solidFill>
                  <a:srgbClr val="5B6170"/>
                </a:solidFill>
                <a:latin typeface="Calibri"/>
                <a:ea typeface="Calibri"/>
                <a:cs typeface="Calibri"/>
              </a:defRPr>
            </a:lvl1pPr>
          </a:lstStyle>
          <a:p>
            <a:pPr algn="r"/>
            <a:fld id="{F7021451-1387-4CA6-816F-3879F97B5CBC}" type="slidenum">
              <a:rPr b="0" lang="en-US"/>
              <a:t>10</a:t>
            </a:fld>
            <a:endParaRPr lang="en-US"/>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name="Slide 11">
    <p:bg>
      <p:bgPr>
        <a:solidFill>
          <a:srgbClr val="FFFFFF"/>
        </a:solidFill>
      </p:bgPr>
    </p:bg>
    <p:spTree>
      <p:nvGrpSpPr>
        <p:cNvPr id="1" name=""/>
        <p:cNvGrpSpPr/>
        <p:nvPr/>
      </p:nvGrpSpPr>
      <p:grpSpPr>
        <a:xfrm>
          <a:off x="0" y="0"/>
          <a:ext cx="0" cy="0"/>
          <a:chOff x="0" y="0"/>
          <a:chExt cx="0" cy="0"/>
        </a:xfrm>
      </p:grpSpPr>
      <p:sp>
        <p:nvSpPr>
          <p:cNvPr id="2" name="Text 0"/>
          <p:cNvSpPr txBox="1"/>
          <p:nvPr/>
        </p:nvSpPr>
        <p:spPr>
          <a:xfrm>
            <a:off x="548640" y="365760"/>
            <a:ext cx="11094415" cy="685800"/>
          </a:xfrm>
          <a:prstGeom prst="rect">
            <a:avLst/>
          </a:prstGeom>
          <a:noFill/>
          <a:ln/>
        </p:spPr>
        <p:txBody>
          <a:bodyPr wrap="square" lIns="0" tIns="0" rIns="0" bIns="0" rtlCol="0" anchor="ctr"/>
          <a:lstStyle/>
          <a:p>
            <a:pPr indent="0" marL="0">
              <a:buNone/>
            </a:pPr>
            <a:r>
              <a:rPr lang="en-US" sz="3200" b="1" dirty="0">
                <a:solidFill>
                  <a:srgbClr val="1B1F2A"/>
                </a:solidFill>
                <a:latin typeface="Cambria" pitchFamily="34" charset="0"/>
                <a:ea typeface="Cambria" pitchFamily="34" charset="-122"/>
                <a:cs typeface="Cambria" pitchFamily="34" charset="-120"/>
              </a:rPr>
              <a:t>Where the models make mistakes</a:t>
            </a:r>
            <a:endParaRPr lang="en-US" sz="3200" dirty="0"/>
          </a:p>
        </p:txBody>
      </p:sp>
      <p:sp>
        <p:nvSpPr>
          <p:cNvPr id="3" name="Text 1"/>
          <p:cNvSpPr txBox="1"/>
          <p:nvPr/>
        </p:nvSpPr>
        <p:spPr>
          <a:xfrm>
            <a:off x="548640" y="1024128"/>
            <a:ext cx="11094415" cy="365760"/>
          </a:xfrm>
          <a:prstGeom prst="rect">
            <a:avLst/>
          </a:prstGeom>
          <a:noFill/>
          <a:ln/>
        </p:spPr>
        <p:txBody>
          <a:bodyPr wrap="square" lIns="0" tIns="0" rIns="0" bIns="0" rtlCol="0" anchor="ctr"/>
          <a:lstStyle/>
          <a:p>
            <a:pPr indent="0" marL="0">
              <a:buNone/>
            </a:pPr>
            <a:r>
              <a:rPr lang="en-US" sz="1500" i="1" dirty="0">
                <a:solidFill>
                  <a:srgbClr val="5B6170"/>
                </a:solidFill>
                <a:latin typeface="Calibri" pitchFamily="34" charset="0"/>
                <a:ea typeface="Calibri" pitchFamily="34" charset="-122"/>
                <a:cs typeface="Calibri" pitchFamily="34" charset="-120"/>
              </a:rPr>
              <a:t>Errors stay between neighbouring tiers</a:t>
            </a:r>
            <a:endParaRPr lang="en-US" sz="1500" dirty="0"/>
          </a:p>
        </p:txBody>
      </p:sp>
      <p:pic>
        <p:nvPicPr>
          <p:cNvPr id="4" name="Image 0" descr="/Users/midas/Desktop/Hairfall-Thesis/thesis/Colab Work/Step_06_TabPFN/tabpfn_confusion_matrix.png">    </p:cNvPr>
          <p:cNvPicPr>
            <a:picLocks noChangeAspect="1"/>
          </p:cNvPicPr>
          <p:nvPr/>
        </p:nvPicPr>
        <p:blipFill>
          <a:blip r:embed="rId1"/>
          <a:stretch>
            <a:fillRect/>
          </a:stretch>
        </p:blipFill>
        <p:spPr>
          <a:xfrm>
            <a:off x="548640" y="1463040"/>
            <a:ext cx="5120640" cy="4270248"/>
          </a:xfrm>
          <a:prstGeom prst="rect">
            <a:avLst/>
          </a:prstGeom>
        </p:spPr>
      </p:pic>
      <p:sp>
        <p:nvSpPr>
          <p:cNvPr id="5" name="Text 2"/>
          <p:cNvSpPr txBox="1"/>
          <p:nvPr/>
        </p:nvSpPr>
        <p:spPr>
          <a:xfrm>
            <a:off x="548640" y="5806440"/>
            <a:ext cx="5120640" cy="274320"/>
          </a:xfrm>
          <a:prstGeom prst="rect">
            <a:avLst/>
          </a:prstGeom>
          <a:noFill/>
          <a:ln/>
        </p:spPr>
        <p:txBody>
          <a:bodyPr wrap="square" lIns="0" tIns="0" rIns="0" bIns="0" rtlCol="0" anchor="t"/>
          <a:lstStyle/>
          <a:p>
            <a:pPr indent="0" marL="0">
              <a:buNone/>
            </a:pPr>
            <a:r>
              <a:rPr lang="en-US" sz="1100" i="1" dirty="0">
                <a:solidFill>
                  <a:srgbClr val="5B6170"/>
                </a:solidFill>
                <a:latin typeface="Calibri" pitchFamily="34" charset="0"/>
                <a:ea typeface="Calibri" pitchFamily="34" charset="-122"/>
                <a:cs typeface="Calibri" pitchFamily="34" charset="-120"/>
              </a:rPr>
              <a:t>TabPFN confusion matrix (others look the same)</a:t>
            </a:r>
            <a:endParaRPr lang="en-US" sz="1100" dirty="0"/>
          </a:p>
        </p:txBody>
      </p:sp>
      <p:sp>
        <p:nvSpPr>
          <p:cNvPr id="6" name="Shape 3"/>
          <p:cNvSpPr/>
          <p:nvPr/>
        </p:nvSpPr>
        <p:spPr>
          <a:xfrm>
            <a:off x="6309360" y="1691640"/>
            <a:ext cx="566928" cy="566928"/>
          </a:xfrm>
          <a:prstGeom prst="ellipse">
            <a:avLst/>
          </a:prstGeom>
          <a:solidFill>
            <a:srgbClr val="2E7D32"/>
          </a:solidFill>
          <a:ln w="12700">
            <a:solidFill>
              <a:srgbClr val="2E7D32"/>
            </a:solidFill>
            <a:prstDash val="solid"/>
          </a:ln>
        </p:spPr>
      </p:sp>
      <p:pic>
        <p:nvPicPr>
          <p:cNvPr id="7" name="Image 1" descr="preencoded.png">    </p:cNvPr>
          <p:cNvPicPr>
            <a:picLocks noChangeAspect="1"/>
          </p:cNvPicPr>
          <p:nvPr/>
        </p:nvPicPr>
        <p:blipFill>
          <a:blip r:embed="rId2"/>
          <a:stretch>
            <a:fillRect/>
          </a:stretch>
        </p:blipFill>
        <p:spPr>
          <a:xfrm>
            <a:off x="6456761" y="1839041"/>
            <a:ext cx="272125" cy="272125"/>
          </a:xfrm>
          <a:prstGeom prst="rect">
            <a:avLst/>
          </a:prstGeom>
        </p:spPr>
      </p:pic>
      <p:sp>
        <p:nvSpPr>
          <p:cNvPr id="8" name="Text 4"/>
          <p:cNvSpPr txBox="1"/>
          <p:nvPr/>
        </p:nvSpPr>
        <p:spPr>
          <a:xfrm>
            <a:off x="7086600" y="1645920"/>
            <a:ext cx="4572000" cy="365760"/>
          </a:xfrm>
          <a:prstGeom prst="rect">
            <a:avLst/>
          </a:prstGeom>
          <a:noFill/>
          <a:ln/>
        </p:spPr>
        <p:txBody>
          <a:bodyPr wrap="square" lIns="0" tIns="0" rIns="0" bIns="0" rtlCol="0" anchor="t"/>
          <a:lstStyle/>
          <a:p>
            <a:pPr indent="0" marL="0">
              <a:buNone/>
            </a:pPr>
            <a:r>
              <a:rPr lang="en-US" sz="1800" b="1" dirty="0">
                <a:solidFill>
                  <a:srgbClr val="1B1F2A"/>
                </a:solidFill>
                <a:latin typeface="Calibri" pitchFamily="34" charset="0"/>
                <a:ea typeface="Calibri" pitchFamily="34" charset="-122"/>
                <a:cs typeface="Calibri" pitchFamily="34" charset="-120"/>
              </a:rPr>
              <a:t>Low ↔ High almost never</a:t>
            </a:r>
            <a:endParaRPr lang="en-US" sz="1800" dirty="0"/>
          </a:p>
        </p:txBody>
      </p:sp>
      <p:sp>
        <p:nvSpPr>
          <p:cNvPr id="9" name="Text 5"/>
          <p:cNvSpPr txBox="1"/>
          <p:nvPr/>
        </p:nvSpPr>
        <p:spPr>
          <a:xfrm>
            <a:off x="7086600" y="2011680"/>
            <a:ext cx="4572000" cy="365760"/>
          </a:xfrm>
          <a:prstGeom prst="rect">
            <a:avLst/>
          </a:prstGeom>
          <a:noFill/>
          <a:ln/>
        </p:spPr>
        <p:txBody>
          <a:bodyPr wrap="square" lIns="0" tIns="0" rIns="0" bIns="0" rtlCol="0" anchor="t"/>
          <a:lstStyle/>
          <a:p>
            <a:pPr indent="0" marL="0">
              <a:buNone/>
            </a:pPr>
            <a:r>
              <a:rPr lang="en-US" sz="1500" dirty="0">
                <a:solidFill>
                  <a:srgbClr val="5B6170"/>
                </a:solidFill>
                <a:latin typeface="Calibri" pitchFamily="34" charset="0"/>
                <a:ea typeface="Calibri" pitchFamily="34" charset="-122"/>
                <a:cs typeface="Calibri" pitchFamily="34" charset="-120"/>
              </a:rPr>
              <a:t>only 1–3 of ~930 errors</a:t>
            </a:r>
            <a:endParaRPr lang="en-US" sz="1500" dirty="0"/>
          </a:p>
        </p:txBody>
      </p:sp>
      <p:sp>
        <p:nvSpPr>
          <p:cNvPr id="10" name="Shape 6"/>
          <p:cNvSpPr/>
          <p:nvPr/>
        </p:nvSpPr>
        <p:spPr>
          <a:xfrm>
            <a:off x="6309360" y="2715768"/>
            <a:ext cx="566928" cy="566928"/>
          </a:xfrm>
          <a:prstGeom prst="ellipse">
            <a:avLst/>
          </a:prstGeom>
          <a:solidFill>
            <a:srgbClr val="B7791F"/>
          </a:solidFill>
          <a:ln w="12700">
            <a:solidFill>
              <a:srgbClr val="B7791F"/>
            </a:solidFill>
            <a:prstDash val="solid"/>
          </a:ln>
        </p:spPr>
      </p:sp>
      <p:pic>
        <p:nvPicPr>
          <p:cNvPr id="11" name="Image 2" descr="preencoded.png">    </p:cNvPr>
          <p:cNvPicPr>
            <a:picLocks noChangeAspect="1"/>
          </p:cNvPicPr>
          <p:nvPr/>
        </p:nvPicPr>
        <p:blipFill>
          <a:blip r:embed="rId3"/>
          <a:stretch>
            <a:fillRect/>
          </a:stretch>
        </p:blipFill>
        <p:spPr>
          <a:xfrm>
            <a:off x="6456761" y="2863169"/>
            <a:ext cx="272125" cy="272125"/>
          </a:xfrm>
          <a:prstGeom prst="rect">
            <a:avLst/>
          </a:prstGeom>
        </p:spPr>
      </p:pic>
      <p:sp>
        <p:nvSpPr>
          <p:cNvPr id="12" name="Text 7"/>
          <p:cNvSpPr txBox="1"/>
          <p:nvPr/>
        </p:nvSpPr>
        <p:spPr>
          <a:xfrm>
            <a:off x="7086600" y="2670048"/>
            <a:ext cx="4572000" cy="365760"/>
          </a:xfrm>
          <a:prstGeom prst="rect">
            <a:avLst/>
          </a:prstGeom>
          <a:noFill/>
          <a:ln/>
        </p:spPr>
        <p:txBody>
          <a:bodyPr wrap="square" lIns="0" tIns="0" rIns="0" bIns="0" rtlCol="0" anchor="t"/>
          <a:lstStyle/>
          <a:p>
            <a:pPr indent="0" marL="0">
              <a:buNone/>
            </a:pPr>
            <a:r>
              <a:rPr lang="en-US" sz="1800" b="1" dirty="0">
                <a:solidFill>
                  <a:srgbClr val="1B1F2A"/>
                </a:solidFill>
                <a:latin typeface="Calibri" pitchFamily="34" charset="0"/>
                <a:ea typeface="Calibri" pitchFamily="34" charset="-122"/>
                <a:cs typeface="Calibri" pitchFamily="34" charset="-120"/>
              </a:rPr>
              <a:t>Moderate is hardest</a:t>
            </a:r>
            <a:endParaRPr lang="en-US" sz="1800" dirty="0"/>
          </a:p>
        </p:txBody>
      </p:sp>
      <p:sp>
        <p:nvSpPr>
          <p:cNvPr id="13" name="Text 8"/>
          <p:cNvSpPr txBox="1"/>
          <p:nvPr/>
        </p:nvSpPr>
        <p:spPr>
          <a:xfrm>
            <a:off x="7086600" y="3035808"/>
            <a:ext cx="4572000" cy="365760"/>
          </a:xfrm>
          <a:prstGeom prst="rect">
            <a:avLst/>
          </a:prstGeom>
          <a:noFill/>
          <a:ln/>
        </p:spPr>
        <p:txBody>
          <a:bodyPr wrap="square" lIns="0" tIns="0" rIns="0" bIns="0" rtlCol="0" anchor="t"/>
          <a:lstStyle/>
          <a:p>
            <a:pPr indent="0" marL="0">
              <a:buNone/>
            </a:pPr>
            <a:r>
              <a:rPr lang="en-US" sz="1500" dirty="0">
                <a:solidFill>
                  <a:srgbClr val="5B6170"/>
                </a:solidFill>
                <a:latin typeface="Calibri" pitchFamily="34" charset="0"/>
                <a:ea typeface="Calibri" pitchFamily="34" charset="-122"/>
                <a:cs typeface="Calibri" pitchFamily="34" charset="-120"/>
              </a:rPr>
              <a:t>F1 = 0.71 for every model</a:t>
            </a:r>
            <a:endParaRPr lang="en-US" sz="1500" dirty="0"/>
          </a:p>
        </p:txBody>
      </p:sp>
      <p:sp>
        <p:nvSpPr>
          <p:cNvPr id="14" name="Shape 9"/>
          <p:cNvSpPr/>
          <p:nvPr/>
        </p:nvSpPr>
        <p:spPr>
          <a:xfrm>
            <a:off x="6309360" y="3739896"/>
            <a:ext cx="566928" cy="566928"/>
          </a:xfrm>
          <a:prstGeom prst="ellipse">
            <a:avLst/>
          </a:prstGeom>
          <a:solidFill>
            <a:srgbClr val="B7791F"/>
          </a:solidFill>
          <a:ln w="12700">
            <a:solidFill>
              <a:srgbClr val="B7791F"/>
            </a:solidFill>
            <a:prstDash val="solid"/>
          </a:ln>
        </p:spPr>
      </p:sp>
      <p:pic>
        <p:nvPicPr>
          <p:cNvPr id="15" name="Image 3" descr="preencoded.png">    </p:cNvPr>
          <p:cNvPicPr>
            <a:picLocks noChangeAspect="1"/>
          </p:cNvPicPr>
          <p:nvPr/>
        </p:nvPicPr>
        <p:blipFill>
          <a:blip r:embed="rId4"/>
          <a:stretch>
            <a:fillRect/>
          </a:stretch>
        </p:blipFill>
        <p:spPr>
          <a:xfrm>
            <a:off x="6456761" y="3887297"/>
            <a:ext cx="272125" cy="272125"/>
          </a:xfrm>
          <a:prstGeom prst="rect">
            <a:avLst/>
          </a:prstGeom>
        </p:spPr>
      </p:pic>
      <p:sp>
        <p:nvSpPr>
          <p:cNvPr id="16" name="Text 10"/>
          <p:cNvSpPr txBox="1"/>
          <p:nvPr/>
        </p:nvSpPr>
        <p:spPr>
          <a:xfrm>
            <a:off x="7086600" y="3694176"/>
            <a:ext cx="4572000" cy="365760"/>
          </a:xfrm>
          <a:prstGeom prst="rect">
            <a:avLst/>
          </a:prstGeom>
          <a:noFill/>
          <a:ln/>
        </p:spPr>
        <p:txBody>
          <a:bodyPr wrap="square" lIns="0" tIns="0" rIns="0" bIns="0" rtlCol="0" anchor="t"/>
          <a:lstStyle/>
          <a:p>
            <a:pPr indent="0" marL="0">
              <a:buNone/>
            </a:pPr>
            <a:r>
              <a:rPr lang="en-US" sz="1800" b="1" dirty="0">
                <a:solidFill>
                  <a:srgbClr val="1B1F2A"/>
                </a:solidFill>
                <a:latin typeface="Calibri" pitchFamily="34" charset="0"/>
                <a:ea typeface="Calibri" pitchFamily="34" charset="-122"/>
                <a:cs typeface="Calibri" pitchFamily="34" charset="-120"/>
              </a:rPr>
              <a:t>High often under-rated</a:t>
            </a:r>
            <a:endParaRPr lang="en-US" sz="1800" dirty="0"/>
          </a:p>
        </p:txBody>
      </p:sp>
      <p:sp>
        <p:nvSpPr>
          <p:cNvPr id="17" name="Text 11"/>
          <p:cNvSpPr txBox="1"/>
          <p:nvPr/>
        </p:nvSpPr>
        <p:spPr>
          <a:xfrm>
            <a:off x="7086600" y="4059936"/>
            <a:ext cx="4572000" cy="365760"/>
          </a:xfrm>
          <a:prstGeom prst="rect">
            <a:avLst/>
          </a:prstGeom>
          <a:noFill/>
          <a:ln/>
        </p:spPr>
        <p:txBody>
          <a:bodyPr wrap="square" lIns="0" tIns="0" rIns="0" bIns="0" rtlCol="0" anchor="t"/>
          <a:lstStyle/>
          <a:p>
            <a:pPr indent="0" marL="0">
              <a:buNone/>
            </a:pPr>
            <a:r>
              <a:rPr lang="en-US" sz="1500" dirty="0">
                <a:solidFill>
                  <a:srgbClr val="5B6170"/>
                </a:solidFill>
                <a:latin typeface="Calibri" pitchFamily="34" charset="0"/>
                <a:ea typeface="Calibri" pitchFamily="34" charset="-122"/>
                <a:cs typeface="Calibri" pitchFamily="34" charset="-120"/>
              </a:rPr>
              <a:t>27–31% of High predicted as Moderate</a:t>
            </a:r>
            <a:endParaRPr lang="en-US" sz="1500" dirty="0"/>
          </a:p>
        </p:txBody>
      </p:sp>
      <p:sp>
        <p:nvSpPr>
          <p:cNvPr id="18" name="Shape 12"/>
          <p:cNvSpPr/>
          <p:nvPr/>
        </p:nvSpPr>
        <p:spPr>
          <a:xfrm>
            <a:off x="6309360" y="4764024"/>
            <a:ext cx="566928" cy="566928"/>
          </a:xfrm>
          <a:prstGeom prst="ellipse">
            <a:avLst/>
          </a:prstGeom>
          <a:solidFill>
            <a:srgbClr val="2E7D32"/>
          </a:solidFill>
          <a:ln w="12700">
            <a:solidFill>
              <a:srgbClr val="2E7D32"/>
            </a:solidFill>
            <a:prstDash val="solid"/>
          </a:ln>
        </p:spPr>
      </p:sp>
      <p:pic>
        <p:nvPicPr>
          <p:cNvPr id="19" name="Image 4" descr="preencoded.png">    </p:cNvPr>
          <p:cNvPicPr>
            <a:picLocks noChangeAspect="1"/>
          </p:cNvPicPr>
          <p:nvPr/>
        </p:nvPicPr>
        <p:blipFill>
          <a:blip r:embed="rId5"/>
          <a:stretch>
            <a:fillRect/>
          </a:stretch>
        </p:blipFill>
        <p:spPr>
          <a:xfrm>
            <a:off x="6456761" y="4911425"/>
            <a:ext cx="272125" cy="272125"/>
          </a:xfrm>
          <a:prstGeom prst="rect">
            <a:avLst/>
          </a:prstGeom>
        </p:spPr>
      </p:pic>
      <p:sp>
        <p:nvSpPr>
          <p:cNvPr id="20" name="Text 13"/>
          <p:cNvSpPr txBox="1"/>
          <p:nvPr/>
        </p:nvSpPr>
        <p:spPr>
          <a:xfrm>
            <a:off x="7086600" y="4718304"/>
            <a:ext cx="4572000" cy="365760"/>
          </a:xfrm>
          <a:prstGeom prst="rect">
            <a:avLst/>
          </a:prstGeom>
          <a:noFill/>
          <a:ln/>
        </p:spPr>
        <p:txBody>
          <a:bodyPr wrap="square" lIns="0" tIns="0" rIns="0" bIns="0" rtlCol="0" anchor="t"/>
          <a:lstStyle/>
          <a:p>
            <a:pPr indent="0" marL="0">
              <a:buNone/>
            </a:pPr>
            <a:r>
              <a:rPr lang="en-US" sz="1800" b="1" dirty="0">
                <a:solidFill>
                  <a:srgbClr val="1B1F2A"/>
                </a:solidFill>
                <a:latin typeface="Calibri" pitchFamily="34" charset="0"/>
                <a:ea typeface="Calibri" pitchFamily="34" charset="-122"/>
                <a:cs typeface="Calibri" pitchFamily="34" charset="-120"/>
              </a:rPr>
              <a:t>Ordinal agreement</a:t>
            </a:r>
            <a:endParaRPr lang="en-US" sz="1800" dirty="0"/>
          </a:p>
        </p:txBody>
      </p:sp>
      <p:sp>
        <p:nvSpPr>
          <p:cNvPr id="21" name="Text 14"/>
          <p:cNvSpPr txBox="1"/>
          <p:nvPr/>
        </p:nvSpPr>
        <p:spPr>
          <a:xfrm>
            <a:off x="7086600" y="5084064"/>
            <a:ext cx="4572000" cy="365760"/>
          </a:xfrm>
          <a:prstGeom prst="rect">
            <a:avLst/>
          </a:prstGeom>
          <a:noFill/>
          <a:ln/>
        </p:spPr>
        <p:txBody>
          <a:bodyPr wrap="square" lIns="0" tIns="0" rIns="0" bIns="0" rtlCol="0" anchor="t"/>
          <a:lstStyle/>
          <a:p>
            <a:pPr indent="0" marL="0">
              <a:buNone/>
            </a:pPr>
            <a:r>
              <a:rPr lang="en-US" sz="1500" dirty="0">
                <a:solidFill>
                  <a:srgbClr val="5B6170"/>
                </a:solidFill>
                <a:latin typeface="Calibri" pitchFamily="34" charset="0"/>
                <a:ea typeface="Calibri" pitchFamily="34" charset="-122"/>
                <a:cs typeface="Calibri" pitchFamily="34" charset="-120"/>
              </a:rPr>
              <a:t>Quadratic weighted kappa ≈ 0.81</a:t>
            </a:r>
            <a:endParaRPr lang="en-US" sz="1500" dirty="0"/>
          </a:p>
        </p:txBody>
      </p:sp>
      <p:sp>
        <p:nvSpPr>
          <p:cNvPr id="25" name="Slide Number Placeholder 0"/>
          <p:cNvSpPr>
            <a:spLocks noGrp="1"/>
          </p:cNvSpPr>
          <p:nvPr>
            <p:ph type="sldNum" sz="quarter" idx="4294967295"/>
          </p:nvPr>
        </p:nvSpPr>
        <p:spPr>
          <a:xfrm>
            <a:off x="11368735" y="6446520"/>
            <a:ext cx="457200" cy="274320"/>
          </a:xfrm>
          <a:prstGeom prst="rect">
            <a:avLst/>
          </a:prstGeom>
          <a:extLst>
            <a:ext uri="{C572A759-6A51-4108-AA02-DFA0A04FC94B}">
              <ma14:wrappingTextBoxFlag xmlns:ma14="http://schemas.microsoft.com/office/mac/drawingml/2011/main" val="0"/>
            </a:ext>
          </a:extLst>
        </p:spPr>
        <p:txBody>
          <a:bodyPr/>
          <a:lstStyle>
            <a:lvl1pPr>
              <a:defRPr sz="1000">
                <a:solidFill>
                  <a:srgbClr val="5B6170"/>
                </a:solidFill>
                <a:latin typeface="Calibri"/>
                <a:ea typeface="Calibri"/>
                <a:cs typeface="Calibri"/>
              </a:defRPr>
            </a:lvl1pPr>
          </a:lstStyle>
          <a:p>
            <a:pPr algn="r"/>
            <a:fld id="{F7021451-1387-4CA6-816F-3879F97B5CBC}" type="slidenum">
              <a:rPr b="0" lang="en-US"/>
              <a:t>11</a:t>
            </a:fld>
            <a:endParaRPr lang="en-US"/>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name="Slide 12">
    <p:bg>
      <p:bgPr>
        <a:solidFill>
          <a:srgbClr val="FFFFFF"/>
        </a:solidFill>
      </p:bgPr>
    </p:bg>
    <p:spTree>
      <p:nvGrpSpPr>
        <p:cNvPr id="1" name=""/>
        <p:cNvGrpSpPr/>
        <p:nvPr/>
      </p:nvGrpSpPr>
      <p:grpSpPr>
        <a:xfrm>
          <a:off x="0" y="0"/>
          <a:ext cx="0" cy="0"/>
          <a:chOff x="0" y="0"/>
          <a:chExt cx="0" cy="0"/>
        </a:xfrm>
      </p:grpSpPr>
      <p:sp>
        <p:nvSpPr>
          <p:cNvPr id="2" name="Text 0"/>
          <p:cNvSpPr txBox="1"/>
          <p:nvPr/>
        </p:nvSpPr>
        <p:spPr>
          <a:xfrm>
            <a:off x="548640" y="365760"/>
            <a:ext cx="11094415" cy="685800"/>
          </a:xfrm>
          <a:prstGeom prst="rect">
            <a:avLst/>
          </a:prstGeom>
          <a:noFill/>
          <a:ln/>
        </p:spPr>
        <p:txBody>
          <a:bodyPr wrap="square" lIns="0" tIns="0" rIns="0" bIns="0" rtlCol="0" anchor="ctr"/>
          <a:lstStyle/>
          <a:p>
            <a:pPr indent="0" marL="0">
              <a:buNone/>
            </a:pPr>
            <a:r>
              <a:rPr lang="en-US" sz="3200" b="1" dirty="0">
                <a:solidFill>
                  <a:srgbClr val="1B1F2A"/>
                </a:solidFill>
                <a:latin typeface="Cambria" pitchFamily="34" charset="0"/>
                <a:ea typeface="Cambria" pitchFamily="34" charset="-122"/>
                <a:cs typeface="Cambria" pitchFamily="34" charset="-120"/>
              </a:rPr>
              <a:t>Result 2 — foundation models need far less data</a:t>
            </a:r>
            <a:endParaRPr lang="en-US" sz="3200" dirty="0"/>
          </a:p>
        </p:txBody>
      </p:sp>
      <p:sp>
        <p:nvSpPr>
          <p:cNvPr id="3" name="Text 1"/>
          <p:cNvSpPr txBox="1"/>
          <p:nvPr/>
        </p:nvSpPr>
        <p:spPr>
          <a:xfrm>
            <a:off x="548640" y="1024128"/>
            <a:ext cx="11094415" cy="365760"/>
          </a:xfrm>
          <a:prstGeom prst="rect">
            <a:avLst/>
          </a:prstGeom>
          <a:noFill/>
          <a:ln/>
        </p:spPr>
        <p:txBody>
          <a:bodyPr wrap="square" lIns="0" tIns="0" rIns="0" bIns="0" rtlCol="0" anchor="ctr"/>
          <a:lstStyle/>
          <a:p>
            <a:pPr indent="0" marL="0">
              <a:buNone/>
            </a:pPr>
            <a:r>
              <a:rPr lang="en-US" sz="1500" i="1" dirty="0">
                <a:solidFill>
                  <a:srgbClr val="5B6170"/>
                </a:solidFill>
                <a:latin typeface="Calibri" pitchFamily="34" charset="0"/>
                <a:ea typeface="Calibri" pitchFamily="34" charset="-122"/>
                <a:cs typeface="Calibri" pitchFamily="34" charset="-120"/>
              </a:rPr>
              <a:t>Accuracy (%) when models get only part of the training data</a:t>
            </a:r>
            <a:endParaRPr lang="en-US" sz="1500" dirty="0"/>
          </a:p>
        </p:txBody>
      </p:sp>
      <p:graphicFrame>
        <p:nvGraphicFramePr>
          <p:cNvPr id="4" name="Chart 0" descr=""/>
          <p:cNvGraphicFramePr/>
          <p:nvPr/>
        </p:nvGraphicFramePr>
        <p:xfrm>
          <a:off x="548640" y="1508760"/>
          <a:ext cx="6949440" cy="4480560"/>
        </p:xfrm>
        <a:graphic xmlns:a="http://schemas.openxmlformats.org/drawingml/2006/main">
          <a:graphicData uri="http://schemas.openxmlformats.org/drawingml/2006/chart">
            <c:chart xmlns:c="http://schemas.openxmlformats.org/drawingml/2006/chart" r:id="rId1"/>
          </a:graphicData>
        </a:graphic>
      </p:graphicFrame>
      <p:sp>
        <p:nvSpPr>
          <p:cNvPr id="5" name="Text 2"/>
          <p:cNvSpPr txBox="1"/>
          <p:nvPr/>
        </p:nvSpPr>
        <p:spPr>
          <a:xfrm>
            <a:off x="548640" y="6035040"/>
            <a:ext cx="6949440" cy="274320"/>
          </a:xfrm>
          <a:prstGeom prst="rect">
            <a:avLst/>
          </a:prstGeom>
          <a:noFill/>
          <a:ln/>
        </p:spPr>
        <p:txBody>
          <a:bodyPr wrap="square" lIns="0" tIns="0" rIns="0" bIns="0" rtlCol="0" anchor="t"/>
          <a:lstStyle/>
          <a:p>
            <a:pPr indent="0" marL="0">
              <a:buNone/>
            </a:pPr>
            <a:r>
              <a:rPr lang="en-US" sz="1100" i="1" dirty="0">
                <a:solidFill>
                  <a:srgbClr val="5B6170"/>
                </a:solidFill>
                <a:latin typeface="Calibri" pitchFamily="34" charset="0"/>
                <a:ea typeface="Calibri" pitchFamily="34" charset="-122"/>
                <a:cs typeface="Calibri" pitchFamily="34" charset="-120"/>
              </a:rPr>
              <a:t>* 2,000-row run tested on a 500-record subset. TabFM not run at full size.</a:t>
            </a:r>
            <a:endParaRPr lang="en-US" sz="1100" dirty="0"/>
          </a:p>
        </p:txBody>
      </p:sp>
      <p:sp>
        <p:nvSpPr>
          <p:cNvPr id="6" name="Shape 3"/>
          <p:cNvSpPr/>
          <p:nvPr/>
        </p:nvSpPr>
        <p:spPr>
          <a:xfrm>
            <a:off x="7955280" y="1645920"/>
            <a:ext cx="3703320" cy="2011680"/>
          </a:xfrm>
          <a:prstGeom prst="roundRect">
            <a:avLst>
              <a:gd name="adj" fmla="val 3636"/>
            </a:avLst>
          </a:prstGeom>
          <a:solidFill>
            <a:srgbClr val="1B1F2A"/>
          </a:solidFill>
          <a:ln w="12700">
            <a:solidFill>
              <a:srgbClr val="1B1F2A"/>
            </a:solidFill>
            <a:prstDash val="solid"/>
          </a:ln>
        </p:spPr>
      </p:sp>
      <p:sp>
        <p:nvSpPr>
          <p:cNvPr id="7" name="Text 4"/>
          <p:cNvSpPr txBox="1"/>
          <p:nvPr/>
        </p:nvSpPr>
        <p:spPr>
          <a:xfrm>
            <a:off x="8229600" y="1828800"/>
            <a:ext cx="3200400" cy="822960"/>
          </a:xfrm>
          <a:prstGeom prst="rect">
            <a:avLst/>
          </a:prstGeom>
          <a:noFill/>
          <a:ln/>
        </p:spPr>
        <p:txBody>
          <a:bodyPr wrap="square" lIns="0" tIns="0" rIns="0" bIns="0" rtlCol="0" anchor="t"/>
          <a:lstStyle/>
          <a:p>
            <a:pPr indent="0" marL="0">
              <a:buNone/>
            </a:pPr>
            <a:r>
              <a:rPr lang="en-US" sz="4000" b="1" dirty="0">
                <a:solidFill>
                  <a:srgbClr val="FFFFFF"/>
                </a:solidFill>
                <a:latin typeface="Cambria" pitchFamily="34" charset="0"/>
                <a:ea typeface="Cambria" pitchFamily="34" charset="-122"/>
                <a:cs typeface="Cambria" pitchFamily="34" charset="-120"/>
              </a:rPr>
              <a:t>+11 to +14</a:t>
            </a:r>
            <a:endParaRPr lang="en-US" sz="4000" dirty="0"/>
          </a:p>
        </p:txBody>
      </p:sp>
      <p:sp>
        <p:nvSpPr>
          <p:cNvPr id="8" name="Text 5"/>
          <p:cNvSpPr txBox="1"/>
          <p:nvPr/>
        </p:nvSpPr>
        <p:spPr>
          <a:xfrm>
            <a:off x="8229600" y="2697480"/>
            <a:ext cx="3200400" cy="731520"/>
          </a:xfrm>
          <a:prstGeom prst="rect">
            <a:avLst/>
          </a:prstGeom>
          <a:noFill/>
          <a:ln/>
        </p:spPr>
        <p:txBody>
          <a:bodyPr wrap="square" lIns="0" tIns="0" rIns="0" bIns="0" rtlCol="0" anchor="t"/>
          <a:lstStyle/>
          <a:p>
            <a:pPr indent="0" marL="0">
              <a:buNone/>
            </a:pPr>
            <a:r>
              <a:rPr lang="en-US" sz="1500" dirty="0">
                <a:solidFill>
                  <a:srgbClr val="D5D8DF"/>
                </a:solidFill>
                <a:latin typeface="Calibri" pitchFamily="34" charset="0"/>
                <a:ea typeface="Calibri" pitchFamily="34" charset="-122"/>
                <a:cs typeface="Calibri" pitchFamily="34" charset="-120"/>
              </a:rPr>
              <a:t>points over CatBoost with only 100 rows</a:t>
            </a:r>
            <a:endParaRPr lang="en-US" sz="1500" dirty="0"/>
          </a:p>
        </p:txBody>
      </p:sp>
      <p:sp>
        <p:nvSpPr>
          <p:cNvPr id="9" name="Shape 6"/>
          <p:cNvSpPr/>
          <p:nvPr/>
        </p:nvSpPr>
        <p:spPr>
          <a:xfrm>
            <a:off x="7955280" y="3886200"/>
            <a:ext cx="3703320" cy="2011680"/>
          </a:xfrm>
          <a:prstGeom prst="roundRect">
            <a:avLst>
              <a:gd name="adj" fmla="val 3636"/>
            </a:avLst>
          </a:prstGeom>
          <a:solidFill>
            <a:srgbClr val="F2F3F5"/>
          </a:solidFill>
          <a:ln w="12700">
            <a:solidFill>
              <a:srgbClr val="F2F3F5"/>
            </a:solidFill>
            <a:prstDash val="solid"/>
          </a:ln>
        </p:spPr>
      </p:sp>
      <p:sp>
        <p:nvSpPr>
          <p:cNvPr id="10" name="Text 7"/>
          <p:cNvSpPr txBox="1"/>
          <p:nvPr/>
        </p:nvSpPr>
        <p:spPr>
          <a:xfrm>
            <a:off x="8229600" y="4069080"/>
            <a:ext cx="3200400" cy="731520"/>
          </a:xfrm>
          <a:prstGeom prst="rect">
            <a:avLst/>
          </a:prstGeom>
          <a:noFill/>
          <a:ln/>
        </p:spPr>
        <p:txBody>
          <a:bodyPr wrap="square" lIns="0" tIns="0" rIns="0" bIns="0" rtlCol="0" anchor="t"/>
          <a:lstStyle/>
          <a:p>
            <a:pPr indent="0" marL="0">
              <a:buNone/>
            </a:pPr>
            <a:r>
              <a:rPr lang="en-US" sz="3200" b="1" dirty="0">
                <a:solidFill>
                  <a:srgbClr val="C8102E"/>
                </a:solidFill>
                <a:latin typeface="Cambria" pitchFamily="34" charset="0"/>
                <a:ea typeface="Cambria" pitchFamily="34" charset="-122"/>
                <a:cs typeface="Cambria" pitchFamily="34" charset="-120"/>
              </a:rPr>
              <a:t>≥ 5× less data</a:t>
            </a:r>
            <a:endParaRPr lang="en-US" sz="3200" dirty="0"/>
          </a:p>
        </p:txBody>
      </p:sp>
      <p:sp>
        <p:nvSpPr>
          <p:cNvPr id="11" name="Text 8"/>
          <p:cNvSpPr txBox="1"/>
          <p:nvPr/>
        </p:nvSpPr>
        <p:spPr>
          <a:xfrm>
            <a:off x="8229600" y="4846320"/>
            <a:ext cx="3200400" cy="822960"/>
          </a:xfrm>
          <a:prstGeom prst="rect">
            <a:avLst/>
          </a:prstGeom>
          <a:noFill/>
          <a:ln/>
        </p:spPr>
        <p:txBody>
          <a:bodyPr wrap="square" lIns="0" tIns="0" rIns="0" bIns="0" rtlCol="0" anchor="t"/>
          <a:lstStyle/>
          <a:p>
            <a:pPr indent="0" marL="0">
              <a:buNone/>
            </a:pPr>
            <a:r>
              <a:rPr lang="en-US" sz="1500" dirty="0">
                <a:solidFill>
                  <a:srgbClr val="5B6170"/>
                </a:solidFill>
                <a:latin typeface="Calibri" pitchFamily="34" charset="0"/>
                <a:ea typeface="Calibri" pitchFamily="34" charset="-122"/>
                <a:cs typeface="Calibri" pitchFamily="34" charset="-120"/>
              </a:rPr>
              <a:t>to pass 70% accuracy; the gap closes at full data</a:t>
            </a:r>
            <a:endParaRPr lang="en-US" sz="1500" dirty="0"/>
          </a:p>
        </p:txBody>
      </p:sp>
      <p:sp>
        <p:nvSpPr>
          <p:cNvPr id="25" name="Slide Number Placeholder 0"/>
          <p:cNvSpPr>
            <a:spLocks noGrp="1"/>
          </p:cNvSpPr>
          <p:nvPr>
            <p:ph type="sldNum" sz="quarter" idx="4294967295"/>
          </p:nvPr>
        </p:nvSpPr>
        <p:spPr>
          <a:xfrm>
            <a:off x="11368735" y="6446520"/>
            <a:ext cx="457200" cy="274320"/>
          </a:xfrm>
          <a:prstGeom prst="rect">
            <a:avLst/>
          </a:prstGeom>
          <a:extLst>
            <a:ext uri="{C572A759-6A51-4108-AA02-DFA0A04FC94B}">
              <ma14:wrappingTextBoxFlag xmlns:ma14="http://schemas.microsoft.com/office/mac/drawingml/2011/main" val="0"/>
            </a:ext>
          </a:extLst>
        </p:spPr>
        <p:txBody>
          <a:bodyPr/>
          <a:lstStyle>
            <a:lvl1pPr>
              <a:defRPr sz="1000">
                <a:solidFill>
                  <a:srgbClr val="5B6170"/>
                </a:solidFill>
                <a:latin typeface="Calibri"/>
                <a:ea typeface="Calibri"/>
                <a:cs typeface="Calibri"/>
              </a:defRPr>
            </a:lvl1pPr>
          </a:lstStyle>
          <a:p>
            <a:pPr algn="r"/>
            <a:fld id="{F7021451-1387-4CA6-816F-3879F97B5CBC}" type="slidenum">
              <a:rPr b="0" lang="en-US"/>
              <a:t>12</a:t>
            </a:fld>
            <a:endParaRPr lang="en-US"/>
          </a:p>
        </p:txBody>
      </p: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name="Slide 13">
    <p:bg>
      <p:bgPr>
        <a:solidFill>
          <a:srgbClr val="FFFFFF"/>
        </a:solidFill>
      </p:bgPr>
    </p:bg>
    <p:spTree>
      <p:nvGrpSpPr>
        <p:cNvPr id="1" name=""/>
        <p:cNvGrpSpPr/>
        <p:nvPr/>
      </p:nvGrpSpPr>
      <p:grpSpPr>
        <a:xfrm>
          <a:off x="0" y="0"/>
          <a:ext cx="0" cy="0"/>
          <a:chOff x="0" y="0"/>
          <a:chExt cx="0" cy="0"/>
        </a:xfrm>
      </p:grpSpPr>
      <p:sp>
        <p:nvSpPr>
          <p:cNvPr id="2" name="Text 0"/>
          <p:cNvSpPr txBox="1"/>
          <p:nvPr/>
        </p:nvSpPr>
        <p:spPr>
          <a:xfrm>
            <a:off x="548640" y="365760"/>
            <a:ext cx="11094415" cy="685800"/>
          </a:xfrm>
          <a:prstGeom prst="rect">
            <a:avLst/>
          </a:prstGeom>
          <a:noFill/>
          <a:ln/>
        </p:spPr>
        <p:txBody>
          <a:bodyPr wrap="square" lIns="0" tIns="0" rIns="0" bIns="0" rtlCol="0" anchor="ctr"/>
          <a:lstStyle/>
          <a:p>
            <a:pPr indent="0" marL="0">
              <a:buNone/>
            </a:pPr>
            <a:r>
              <a:rPr lang="en-US" sz="3200" b="1" dirty="0">
                <a:solidFill>
                  <a:srgbClr val="1B1F2A"/>
                </a:solidFill>
                <a:latin typeface="Cambria" pitchFamily="34" charset="0"/>
                <a:ea typeface="Cambria" pitchFamily="34" charset="-122"/>
                <a:cs typeface="Cambria" pitchFamily="34" charset="-120"/>
              </a:rPr>
              <a:t>Result 3 — the same features drive every model</a:t>
            </a:r>
            <a:endParaRPr lang="en-US" sz="3200" dirty="0"/>
          </a:p>
        </p:txBody>
      </p:sp>
      <p:sp>
        <p:nvSpPr>
          <p:cNvPr id="3" name="Text 1"/>
          <p:cNvSpPr txBox="1"/>
          <p:nvPr/>
        </p:nvSpPr>
        <p:spPr>
          <a:xfrm>
            <a:off x="548640" y="1024128"/>
            <a:ext cx="11094415" cy="365760"/>
          </a:xfrm>
          <a:prstGeom prst="rect">
            <a:avLst/>
          </a:prstGeom>
          <a:noFill/>
          <a:ln/>
        </p:spPr>
        <p:txBody>
          <a:bodyPr wrap="square" lIns="0" tIns="0" rIns="0" bIns="0" rtlCol="0" anchor="ctr"/>
          <a:lstStyle/>
          <a:p>
            <a:pPr indent="0" marL="0">
              <a:buNone/>
            </a:pPr>
            <a:r>
              <a:rPr lang="en-US" sz="1500" i="1" dirty="0">
                <a:solidFill>
                  <a:srgbClr val="5B6170"/>
                </a:solidFill>
                <a:latin typeface="Calibri" pitchFamily="34" charset="0"/>
                <a:ea typeface="Calibri" pitchFamily="34" charset="-122"/>
                <a:cs typeface="Calibri" pitchFamily="34" charset="-120"/>
              </a:rPr>
              <a:t>SHAP explanations agree across all three models</a:t>
            </a:r>
            <a:endParaRPr lang="en-US" sz="1500" dirty="0"/>
          </a:p>
        </p:txBody>
      </p:sp>
      <p:pic>
        <p:nvPicPr>
          <p:cNvPr id="4" name="Image 0" descr="/Users/midas/Desktop/Hairfall-Thesis/thesis/Colab Work/Step_08a_CatBoost_SHAP/catboost_shap_global_importance.png">    </p:cNvPr>
          <p:cNvPicPr>
            <a:picLocks noChangeAspect="1"/>
          </p:cNvPicPr>
          <p:nvPr/>
        </p:nvPicPr>
        <p:blipFill>
          <a:blip r:embed="rId1"/>
          <a:stretch>
            <a:fillRect/>
          </a:stretch>
        </p:blipFill>
        <p:spPr>
          <a:xfrm>
            <a:off x="548640" y="1417320"/>
            <a:ext cx="3840480" cy="4562856"/>
          </a:xfrm>
          <a:prstGeom prst="rect">
            <a:avLst/>
          </a:prstGeom>
        </p:spPr>
      </p:pic>
      <p:sp>
        <p:nvSpPr>
          <p:cNvPr id="5" name="Text 2"/>
          <p:cNvSpPr txBox="1"/>
          <p:nvPr/>
        </p:nvSpPr>
        <p:spPr>
          <a:xfrm>
            <a:off x="548640" y="6035040"/>
            <a:ext cx="4023360" cy="274320"/>
          </a:xfrm>
          <a:prstGeom prst="rect">
            <a:avLst/>
          </a:prstGeom>
          <a:noFill/>
          <a:ln/>
        </p:spPr>
        <p:txBody>
          <a:bodyPr wrap="square" lIns="0" tIns="0" rIns="0" bIns="0" rtlCol="0" anchor="t"/>
          <a:lstStyle/>
          <a:p>
            <a:pPr indent="0" marL="0">
              <a:buNone/>
            </a:pPr>
            <a:r>
              <a:rPr lang="en-US" sz="1100" i="1" dirty="0">
                <a:solidFill>
                  <a:srgbClr val="5B6170"/>
                </a:solidFill>
                <a:latin typeface="Calibri" pitchFamily="34" charset="0"/>
                <a:ea typeface="Calibri" pitchFamily="34" charset="-122"/>
                <a:cs typeface="Calibri" pitchFamily="34" charset="-120"/>
              </a:rPr>
              <a:t>CatBoost global SHAP importance</a:t>
            </a:r>
            <a:endParaRPr lang="en-US" sz="1100" dirty="0"/>
          </a:p>
        </p:txBody>
      </p:sp>
      <p:sp>
        <p:nvSpPr>
          <p:cNvPr id="6" name="Text 3"/>
          <p:cNvSpPr txBox="1"/>
          <p:nvPr/>
        </p:nvSpPr>
        <p:spPr>
          <a:xfrm>
            <a:off x="4937760" y="1600200"/>
            <a:ext cx="3291840" cy="365760"/>
          </a:xfrm>
          <a:prstGeom prst="rect">
            <a:avLst/>
          </a:prstGeom>
          <a:noFill/>
          <a:ln/>
        </p:spPr>
        <p:txBody>
          <a:bodyPr wrap="square" lIns="0" tIns="0" rIns="0" bIns="0" rtlCol="0" anchor="t"/>
          <a:lstStyle/>
          <a:p>
            <a:pPr indent="0" marL="0">
              <a:buNone/>
            </a:pPr>
            <a:r>
              <a:rPr lang="en-US" sz="1700" b="1" dirty="0">
                <a:solidFill>
                  <a:srgbClr val="1B1F2A"/>
                </a:solidFill>
                <a:latin typeface="Calibri" pitchFamily="34" charset="0"/>
                <a:ea typeface="Calibri" pitchFamily="34" charset="-122"/>
                <a:cs typeface="Calibri" pitchFamily="34" charset="-120"/>
              </a:rPr>
              <a:t>Top 7 in all three models</a:t>
            </a:r>
            <a:endParaRPr lang="en-US" sz="1700" dirty="0"/>
          </a:p>
        </p:txBody>
      </p:sp>
      <p:sp>
        <p:nvSpPr>
          <p:cNvPr id="7" name="Shape 4"/>
          <p:cNvSpPr/>
          <p:nvPr/>
        </p:nvSpPr>
        <p:spPr>
          <a:xfrm>
            <a:off x="4937760" y="2103120"/>
            <a:ext cx="3108960" cy="438912"/>
          </a:xfrm>
          <a:prstGeom prst="roundRect">
            <a:avLst>
              <a:gd name="adj" fmla="val 12500"/>
            </a:avLst>
          </a:prstGeom>
          <a:solidFill>
            <a:srgbClr val="F2F3F5"/>
          </a:solidFill>
          <a:ln w="12700">
            <a:solidFill>
              <a:srgbClr val="F2F3F5"/>
            </a:solidFill>
            <a:prstDash val="solid"/>
          </a:ln>
        </p:spPr>
      </p:sp>
      <p:sp>
        <p:nvSpPr>
          <p:cNvPr id="8" name="Text 5"/>
          <p:cNvSpPr txBox="1"/>
          <p:nvPr/>
        </p:nvSpPr>
        <p:spPr>
          <a:xfrm>
            <a:off x="5120640" y="2103120"/>
            <a:ext cx="2743200" cy="438912"/>
          </a:xfrm>
          <a:prstGeom prst="rect">
            <a:avLst/>
          </a:prstGeom>
          <a:noFill/>
          <a:ln/>
        </p:spPr>
        <p:txBody>
          <a:bodyPr wrap="square" lIns="0" tIns="0" rIns="0" bIns="0" rtlCol="0" anchor="ctr"/>
          <a:lstStyle/>
          <a:p>
            <a:pPr indent="0" marL="0">
              <a:buNone/>
            </a:pPr>
            <a:r>
              <a:rPr lang="en-US" sz="1500" dirty="0">
                <a:solidFill>
                  <a:srgbClr val="1B1F2A"/>
                </a:solidFill>
                <a:latin typeface="Calibri" pitchFamily="34" charset="0"/>
                <a:ea typeface="Calibri" pitchFamily="34" charset="-122"/>
                <a:cs typeface="Calibri" pitchFamily="34" charset="-120"/>
              </a:rPr>
              <a:t>Iron</a:t>
            </a:r>
            <a:endParaRPr lang="en-US" sz="1500" dirty="0"/>
          </a:p>
        </p:txBody>
      </p:sp>
      <p:sp>
        <p:nvSpPr>
          <p:cNvPr id="9" name="Shape 6"/>
          <p:cNvSpPr/>
          <p:nvPr/>
        </p:nvSpPr>
        <p:spPr>
          <a:xfrm>
            <a:off x="4937760" y="2651760"/>
            <a:ext cx="3108960" cy="438912"/>
          </a:xfrm>
          <a:prstGeom prst="roundRect">
            <a:avLst>
              <a:gd name="adj" fmla="val 12500"/>
            </a:avLst>
          </a:prstGeom>
          <a:solidFill>
            <a:srgbClr val="F2F3F5"/>
          </a:solidFill>
          <a:ln w="12700">
            <a:solidFill>
              <a:srgbClr val="F2F3F5"/>
            </a:solidFill>
            <a:prstDash val="solid"/>
          </a:ln>
        </p:spPr>
      </p:sp>
      <p:sp>
        <p:nvSpPr>
          <p:cNvPr id="10" name="Text 7"/>
          <p:cNvSpPr txBox="1"/>
          <p:nvPr/>
        </p:nvSpPr>
        <p:spPr>
          <a:xfrm>
            <a:off x="5120640" y="2651760"/>
            <a:ext cx="2743200" cy="438912"/>
          </a:xfrm>
          <a:prstGeom prst="rect">
            <a:avLst/>
          </a:prstGeom>
          <a:noFill/>
          <a:ln/>
        </p:spPr>
        <p:txBody>
          <a:bodyPr wrap="square" lIns="0" tIns="0" rIns="0" bIns="0" rtlCol="0" anchor="ctr"/>
          <a:lstStyle/>
          <a:p>
            <a:pPr indent="0" marL="0">
              <a:buNone/>
            </a:pPr>
            <a:r>
              <a:rPr lang="en-US" sz="1500" dirty="0">
                <a:solidFill>
                  <a:srgbClr val="1B1F2A"/>
                </a:solidFill>
                <a:latin typeface="Calibri" pitchFamily="34" charset="0"/>
                <a:ea typeface="Calibri" pitchFamily="34" charset="-122"/>
                <a:cs typeface="Calibri" pitchFamily="34" charset="-120"/>
              </a:rPr>
              <a:t>Stress level</a:t>
            </a:r>
            <a:endParaRPr lang="en-US" sz="1500" dirty="0"/>
          </a:p>
        </p:txBody>
      </p:sp>
      <p:sp>
        <p:nvSpPr>
          <p:cNvPr id="11" name="Shape 8"/>
          <p:cNvSpPr/>
          <p:nvPr/>
        </p:nvSpPr>
        <p:spPr>
          <a:xfrm>
            <a:off x="4937760" y="3200400"/>
            <a:ext cx="3108960" cy="438912"/>
          </a:xfrm>
          <a:prstGeom prst="roundRect">
            <a:avLst>
              <a:gd name="adj" fmla="val 12500"/>
            </a:avLst>
          </a:prstGeom>
          <a:solidFill>
            <a:srgbClr val="F2F3F5"/>
          </a:solidFill>
          <a:ln w="12700">
            <a:solidFill>
              <a:srgbClr val="F2F3F5"/>
            </a:solidFill>
            <a:prstDash val="solid"/>
          </a:ln>
        </p:spPr>
      </p:sp>
      <p:sp>
        <p:nvSpPr>
          <p:cNvPr id="12" name="Text 9"/>
          <p:cNvSpPr txBox="1"/>
          <p:nvPr/>
        </p:nvSpPr>
        <p:spPr>
          <a:xfrm>
            <a:off x="5120640" y="3200400"/>
            <a:ext cx="2743200" cy="438912"/>
          </a:xfrm>
          <a:prstGeom prst="rect">
            <a:avLst/>
          </a:prstGeom>
          <a:noFill/>
          <a:ln/>
        </p:spPr>
        <p:txBody>
          <a:bodyPr wrap="square" lIns="0" tIns="0" rIns="0" bIns="0" rtlCol="0" anchor="ctr"/>
          <a:lstStyle/>
          <a:p>
            <a:pPr indent="0" marL="0">
              <a:buNone/>
            </a:pPr>
            <a:r>
              <a:rPr lang="en-US" sz="1500" dirty="0">
                <a:solidFill>
                  <a:srgbClr val="1B1F2A"/>
                </a:solidFill>
                <a:latin typeface="Calibri" pitchFamily="34" charset="0"/>
                <a:ea typeface="Calibri" pitchFamily="34" charset="-122"/>
                <a:cs typeface="Calibri" pitchFamily="34" charset="-120"/>
              </a:rPr>
              <a:t>Total protein</a:t>
            </a:r>
            <a:endParaRPr lang="en-US" sz="1500" dirty="0"/>
          </a:p>
        </p:txBody>
      </p:sp>
      <p:sp>
        <p:nvSpPr>
          <p:cNvPr id="13" name="Shape 10"/>
          <p:cNvSpPr/>
          <p:nvPr/>
        </p:nvSpPr>
        <p:spPr>
          <a:xfrm>
            <a:off x="4937760" y="3749040"/>
            <a:ext cx="3108960" cy="438912"/>
          </a:xfrm>
          <a:prstGeom prst="roundRect">
            <a:avLst>
              <a:gd name="adj" fmla="val 12500"/>
            </a:avLst>
          </a:prstGeom>
          <a:solidFill>
            <a:srgbClr val="F2F3F5"/>
          </a:solidFill>
          <a:ln w="12700">
            <a:solidFill>
              <a:srgbClr val="F2F3F5"/>
            </a:solidFill>
            <a:prstDash val="solid"/>
          </a:ln>
        </p:spPr>
      </p:sp>
      <p:sp>
        <p:nvSpPr>
          <p:cNvPr id="14" name="Text 11"/>
          <p:cNvSpPr txBox="1"/>
          <p:nvPr/>
        </p:nvSpPr>
        <p:spPr>
          <a:xfrm>
            <a:off x="5120640" y="3749040"/>
            <a:ext cx="2743200" cy="438912"/>
          </a:xfrm>
          <a:prstGeom prst="rect">
            <a:avLst/>
          </a:prstGeom>
          <a:noFill/>
          <a:ln/>
        </p:spPr>
        <p:txBody>
          <a:bodyPr wrap="square" lIns="0" tIns="0" rIns="0" bIns="0" rtlCol="0" anchor="ctr"/>
          <a:lstStyle/>
          <a:p>
            <a:pPr indent="0" marL="0">
              <a:buNone/>
            </a:pPr>
            <a:r>
              <a:rPr lang="en-US" sz="1500" dirty="0">
                <a:solidFill>
                  <a:srgbClr val="1B1F2A"/>
                </a:solidFill>
                <a:latin typeface="Calibri" pitchFamily="34" charset="0"/>
                <a:ea typeface="Calibri" pitchFamily="34" charset="-122"/>
                <a:cs typeface="Calibri" pitchFamily="34" charset="-120"/>
              </a:rPr>
              <a:t>Vitamin D</a:t>
            </a:r>
            <a:endParaRPr lang="en-US" sz="1500" dirty="0"/>
          </a:p>
        </p:txBody>
      </p:sp>
      <p:sp>
        <p:nvSpPr>
          <p:cNvPr id="15" name="Shape 12"/>
          <p:cNvSpPr/>
          <p:nvPr/>
        </p:nvSpPr>
        <p:spPr>
          <a:xfrm>
            <a:off x="4937760" y="4297680"/>
            <a:ext cx="3108960" cy="438912"/>
          </a:xfrm>
          <a:prstGeom prst="roundRect">
            <a:avLst>
              <a:gd name="adj" fmla="val 12500"/>
            </a:avLst>
          </a:prstGeom>
          <a:solidFill>
            <a:srgbClr val="F2F3F5"/>
          </a:solidFill>
          <a:ln w="12700">
            <a:solidFill>
              <a:srgbClr val="F2F3F5"/>
            </a:solidFill>
            <a:prstDash val="solid"/>
          </a:ln>
        </p:spPr>
      </p:sp>
      <p:sp>
        <p:nvSpPr>
          <p:cNvPr id="16" name="Text 13"/>
          <p:cNvSpPr txBox="1"/>
          <p:nvPr/>
        </p:nvSpPr>
        <p:spPr>
          <a:xfrm>
            <a:off x="5120640" y="4297680"/>
            <a:ext cx="2743200" cy="438912"/>
          </a:xfrm>
          <a:prstGeom prst="rect">
            <a:avLst/>
          </a:prstGeom>
          <a:noFill/>
          <a:ln/>
        </p:spPr>
        <p:txBody>
          <a:bodyPr wrap="square" lIns="0" tIns="0" rIns="0" bIns="0" rtlCol="0" anchor="ctr"/>
          <a:lstStyle/>
          <a:p>
            <a:pPr indent="0" marL="0">
              <a:buNone/>
            </a:pPr>
            <a:r>
              <a:rPr lang="en-US" sz="1500" dirty="0">
                <a:solidFill>
                  <a:srgbClr val="1B1F2A"/>
                </a:solidFill>
                <a:latin typeface="Calibri" pitchFamily="34" charset="0"/>
                <a:ea typeface="Calibri" pitchFamily="34" charset="-122"/>
                <a:cs typeface="Calibri" pitchFamily="34" charset="-120"/>
              </a:rPr>
              <a:t>ALT (liver)</a:t>
            </a:r>
            <a:endParaRPr lang="en-US" sz="1500" dirty="0"/>
          </a:p>
        </p:txBody>
      </p:sp>
      <p:sp>
        <p:nvSpPr>
          <p:cNvPr id="17" name="Shape 14"/>
          <p:cNvSpPr/>
          <p:nvPr/>
        </p:nvSpPr>
        <p:spPr>
          <a:xfrm>
            <a:off x="4937760" y="4846320"/>
            <a:ext cx="3108960" cy="438912"/>
          </a:xfrm>
          <a:prstGeom prst="roundRect">
            <a:avLst>
              <a:gd name="adj" fmla="val 12500"/>
            </a:avLst>
          </a:prstGeom>
          <a:solidFill>
            <a:srgbClr val="F2F3F5"/>
          </a:solidFill>
          <a:ln w="12700">
            <a:solidFill>
              <a:srgbClr val="F2F3F5"/>
            </a:solidFill>
            <a:prstDash val="solid"/>
          </a:ln>
        </p:spPr>
      </p:sp>
      <p:sp>
        <p:nvSpPr>
          <p:cNvPr id="18" name="Text 15"/>
          <p:cNvSpPr txBox="1"/>
          <p:nvPr/>
        </p:nvSpPr>
        <p:spPr>
          <a:xfrm>
            <a:off x="5120640" y="4846320"/>
            <a:ext cx="2743200" cy="438912"/>
          </a:xfrm>
          <a:prstGeom prst="rect">
            <a:avLst/>
          </a:prstGeom>
          <a:noFill/>
          <a:ln/>
        </p:spPr>
        <p:txBody>
          <a:bodyPr wrap="square" lIns="0" tIns="0" rIns="0" bIns="0" rtlCol="0" anchor="ctr"/>
          <a:lstStyle/>
          <a:p>
            <a:pPr indent="0" marL="0">
              <a:buNone/>
            </a:pPr>
            <a:r>
              <a:rPr lang="en-US" sz="1500" dirty="0">
                <a:solidFill>
                  <a:srgbClr val="1B1F2A"/>
                </a:solidFill>
                <a:latin typeface="Calibri" pitchFamily="34" charset="0"/>
                <a:ea typeface="Calibri" pitchFamily="34" charset="-122"/>
                <a:cs typeface="Calibri" pitchFamily="34" charset="-120"/>
              </a:rPr>
              <a:t>Calcium</a:t>
            </a:r>
            <a:endParaRPr lang="en-US" sz="1500" dirty="0"/>
          </a:p>
        </p:txBody>
      </p:sp>
      <p:sp>
        <p:nvSpPr>
          <p:cNvPr id="19" name="Shape 16"/>
          <p:cNvSpPr/>
          <p:nvPr/>
        </p:nvSpPr>
        <p:spPr>
          <a:xfrm>
            <a:off x="4937760" y="5394960"/>
            <a:ext cx="3108960" cy="438912"/>
          </a:xfrm>
          <a:prstGeom prst="roundRect">
            <a:avLst>
              <a:gd name="adj" fmla="val 12500"/>
            </a:avLst>
          </a:prstGeom>
          <a:solidFill>
            <a:srgbClr val="F2F3F5"/>
          </a:solidFill>
          <a:ln w="12700">
            <a:solidFill>
              <a:srgbClr val="F2F3F5"/>
            </a:solidFill>
            <a:prstDash val="solid"/>
          </a:ln>
        </p:spPr>
      </p:sp>
      <p:sp>
        <p:nvSpPr>
          <p:cNvPr id="20" name="Text 17"/>
          <p:cNvSpPr txBox="1"/>
          <p:nvPr/>
        </p:nvSpPr>
        <p:spPr>
          <a:xfrm>
            <a:off x="5120640" y="5394960"/>
            <a:ext cx="2743200" cy="438912"/>
          </a:xfrm>
          <a:prstGeom prst="rect">
            <a:avLst/>
          </a:prstGeom>
          <a:noFill/>
          <a:ln/>
        </p:spPr>
        <p:txBody>
          <a:bodyPr wrap="square" lIns="0" tIns="0" rIns="0" bIns="0" rtlCol="0" anchor="ctr"/>
          <a:lstStyle/>
          <a:p>
            <a:pPr indent="0" marL="0">
              <a:buNone/>
            </a:pPr>
            <a:r>
              <a:rPr lang="en-US" sz="1500" dirty="0">
                <a:solidFill>
                  <a:srgbClr val="1B1F2A"/>
                </a:solidFill>
                <a:latin typeface="Calibri" pitchFamily="34" charset="0"/>
                <a:ea typeface="Calibri" pitchFamily="34" charset="-122"/>
                <a:cs typeface="Calibri" pitchFamily="34" charset="-120"/>
              </a:rPr>
              <a:t>Manganese</a:t>
            </a:r>
            <a:endParaRPr lang="en-US" sz="1500" dirty="0"/>
          </a:p>
        </p:txBody>
      </p:sp>
      <p:sp>
        <p:nvSpPr>
          <p:cNvPr id="21" name="Shape 18"/>
          <p:cNvSpPr/>
          <p:nvPr/>
        </p:nvSpPr>
        <p:spPr>
          <a:xfrm>
            <a:off x="8366760" y="1600200"/>
            <a:ext cx="3291840" cy="2057400"/>
          </a:xfrm>
          <a:prstGeom prst="roundRect">
            <a:avLst>
              <a:gd name="adj" fmla="val 3556"/>
            </a:avLst>
          </a:prstGeom>
          <a:solidFill>
            <a:srgbClr val="FBE9EC"/>
          </a:solidFill>
          <a:ln w="12700">
            <a:solidFill>
              <a:srgbClr val="FBE9EC"/>
            </a:solidFill>
            <a:prstDash val="solid"/>
          </a:ln>
        </p:spPr>
      </p:sp>
      <p:sp>
        <p:nvSpPr>
          <p:cNvPr id="22" name="Text 19"/>
          <p:cNvSpPr txBox="1"/>
          <p:nvPr/>
        </p:nvSpPr>
        <p:spPr>
          <a:xfrm>
            <a:off x="8595360" y="1783080"/>
            <a:ext cx="2926080" cy="365760"/>
          </a:xfrm>
          <a:prstGeom prst="rect">
            <a:avLst/>
          </a:prstGeom>
          <a:noFill/>
          <a:ln/>
        </p:spPr>
        <p:txBody>
          <a:bodyPr wrap="square" lIns="0" tIns="0" rIns="0" bIns="0" rtlCol="0" anchor="t"/>
          <a:lstStyle/>
          <a:p>
            <a:pPr indent="0" marL="0">
              <a:buNone/>
            </a:pPr>
            <a:r>
              <a:rPr lang="en-US" sz="1700" b="1" dirty="0">
                <a:solidFill>
                  <a:srgbClr val="C8102E"/>
                </a:solidFill>
                <a:latin typeface="Calibri" pitchFamily="34" charset="0"/>
                <a:ea typeface="Calibri" pitchFamily="34" charset="-122"/>
                <a:cs typeface="Calibri" pitchFamily="34" charset="-120"/>
              </a:rPr>
              <a:t>▲ Raise risk</a:t>
            </a:r>
            <a:endParaRPr lang="en-US" sz="1700" dirty="0"/>
          </a:p>
        </p:txBody>
      </p:sp>
      <p:sp>
        <p:nvSpPr>
          <p:cNvPr id="23" name="Text 20"/>
          <p:cNvSpPr txBox="1"/>
          <p:nvPr/>
        </p:nvSpPr>
        <p:spPr>
          <a:xfrm>
            <a:off x="8595360" y="2194560"/>
            <a:ext cx="2834640" cy="1280160"/>
          </a:xfrm>
          <a:prstGeom prst="rect">
            <a:avLst/>
          </a:prstGeom>
          <a:noFill/>
          <a:ln/>
        </p:spPr>
        <p:txBody>
          <a:bodyPr wrap="square" lIns="0" tIns="0" rIns="0" bIns="0" rtlCol="0" anchor="t"/>
          <a:lstStyle/>
          <a:p>
            <a:pPr indent="0" marL="0">
              <a:buNone/>
            </a:pPr>
            <a:r>
              <a:rPr lang="en-US" sz="1500" dirty="0">
                <a:solidFill>
                  <a:srgbClr val="1B1F2A"/>
                </a:solidFill>
                <a:latin typeface="Calibri" pitchFamily="34" charset="0"/>
                <a:ea typeface="Calibri" pitchFamily="34" charset="-122"/>
                <a:cs typeface="Calibri" pitchFamily="34" charset="-120"/>
              </a:rPr>
              <a:t>high stress level, high ALT, every risk flag</a:t>
            </a:r>
            <a:endParaRPr lang="en-US" sz="1500" dirty="0"/>
          </a:p>
        </p:txBody>
      </p:sp>
      <p:sp>
        <p:nvSpPr>
          <p:cNvPr id="24" name="Shape 21"/>
          <p:cNvSpPr/>
          <p:nvPr/>
        </p:nvSpPr>
        <p:spPr>
          <a:xfrm>
            <a:off x="8366760" y="3840480"/>
            <a:ext cx="3291840" cy="2057400"/>
          </a:xfrm>
          <a:prstGeom prst="roundRect">
            <a:avLst>
              <a:gd name="adj" fmla="val 3556"/>
            </a:avLst>
          </a:prstGeom>
          <a:solidFill>
            <a:srgbClr val="E8F3EA"/>
          </a:solidFill>
          <a:ln w="12700">
            <a:solidFill>
              <a:srgbClr val="E8F3EA"/>
            </a:solidFill>
            <a:prstDash val="solid"/>
          </a:ln>
        </p:spPr>
      </p:sp>
      <p:sp>
        <p:nvSpPr>
          <p:cNvPr id="25" name="Text 22"/>
          <p:cNvSpPr txBox="1"/>
          <p:nvPr/>
        </p:nvSpPr>
        <p:spPr>
          <a:xfrm>
            <a:off x="8595360" y="4023360"/>
            <a:ext cx="2926080" cy="365760"/>
          </a:xfrm>
          <a:prstGeom prst="rect">
            <a:avLst/>
          </a:prstGeom>
          <a:noFill/>
          <a:ln/>
        </p:spPr>
        <p:txBody>
          <a:bodyPr wrap="square" lIns="0" tIns="0" rIns="0" bIns="0" rtlCol="0" anchor="t"/>
          <a:lstStyle/>
          <a:p>
            <a:pPr indent="0" marL="0">
              <a:buNone/>
            </a:pPr>
            <a:r>
              <a:rPr lang="en-US" sz="1700" b="1" dirty="0">
                <a:solidFill>
                  <a:srgbClr val="2E7D32"/>
                </a:solidFill>
                <a:latin typeface="Calibri" pitchFamily="34" charset="0"/>
                <a:ea typeface="Calibri" pitchFamily="34" charset="-122"/>
                <a:cs typeface="Calibri" pitchFamily="34" charset="-120"/>
              </a:rPr>
              <a:t>▼ Lower risk</a:t>
            </a:r>
            <a:endParaRPr lang="en-US" sz="1700" dirty="0"/>
          </a:p>
        </p:txBody>
      </p:sp>
      <p:sp>
        <p:nvSpPr>
          <p:cNvPr id="26" name="Text 23"/>
          <p:cNvSpPr txBox="1"/>
          <p:nvPr/>
        </p:nvSpPr>
        <p:spPr>
          <a:xfrm>
            <a:off x="8595360" y="4434840"/>
            <a:ext cx="2834640" cy="1280160"/>
          </a:xfrm>
          <a:prstGeom prst="rect">
            <a:avLst/>
          </a:prstGeom>
          <a:noFill/>
          <a:ln/>
        </p:spPr>
        <p:txBody>
          <a:bodyPr wrap="square" lIns="0" tIns="0" rIns="0" bIns="0" rtlCol="0" anchor="t"/>
          <a:lstStyle/>
          <a:p>
            <a:pPr indent="0" marL="0">
              <a:buNone/>
            </a:pPr>
            <a:r>
              <a:rPr lang="en-US" sz="1500" dirty="0">
                <a:solidFill>
                  <a:srgbClr val="1B1F2A"/>
                </a:solidFill>
                <a:latin typeface="Calibri" pitchFamily="34" charset="0"/>
                <a:ea typeface="Calibri" pitchFamily="34" charset="-122"/>
                <a:cs typeface="Calibri" pitchFamily="34" charset="-120"/>
              </a:rPr>
              <a:t>high iron, protein, vitamin D, calcium, manganese</a:t>
            </a:r>
            <a:endParaRPr lang="en-US" sz="1500" dirty="0"/>
          </a:p>
        </p:txBody>
      </p:sp>
      <p:sp>
        <p:nvSpPr>
          <p:cNvPr id="25" name="Slide Number Placeholder 0"/>
          <p:cNvSpPr>
            <a:spLocks noGrp="1"/>
          </p:cNvSpPr>
          <p:nvPr>
            <p:ph type="sldNum" sz="quarter" idx="4294967295"/>
          </p:nvPr>
        </p:nvSpPr>
        <p:spPr>
          <a:xfrm>
            <a:off x="11368735" y="6446520"/>
            <a:ext cx="457200" cy="274320"/>
          </a:xfrm>
          <a:prstGeom prst="rect">
            <a:avLst/>
          </a:prstGeom>
          <a:extLst>
            <a:ext uri="{C572A759-6A51-4108-AA02-DFA0A04FC94B}">
              <ma14:wrappingTextBoxFlag xmlns:ma14="http://schemas.microsoft.com/office/mac/drawingml/2011/main" val="0"/>
            </a:ext>
          </a:extLst>
        </p:spPr>
        <p:txBody>
          <a:bodyPr/>
          <a:lstStyle>
            <a:lvl1pPr>
              <a:defRPr sz="1000">
                <a:solidFill>
                  <a:srgbClr val="5B6170"/>
                </a:solidFill>
                <a:latin typeface="Calibri"/>
                <a:ea typeface="Calibri"/>
                <a:cs typeface="Calibri"/>
              </a:defRPr>
            </a:lvl1pPr>
          </a:lstStyle>
          <a:p>
            <a:pPr algn="r"/>
            <a:fld id="{F7021451-1387-4CA6-816F-3879F97B5CBC}" type="slidenum">
              <a:rPr b="0" lang="en-US"/>
              <a:t>13</a:t>
            </a:fld>
            <a:endParaRPr lang="en-US"/>
          </a:p>
        </p:txBody>
      </p:sp>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name="Slide 14">
    <p:bg>
      <p:bgPr>
        <a:solidFill>
          <a:srgbClr val="FFFFFF"/>
        </a:solidFill>
      </p:bgPr>
    </p:bg>
    <p:spTree>
      <p:nvGrpSpPr>
        <p:cNvPr id="1" name=""/>
        <p:cNvGrpSpPr/>
        <p:nvPr/>
      </p:nvGrpSpPr>
      <p:grpSpPr>
        <a:xfrm>
          <a:off x="0" y="0"/>
          <a:ext cx="0" cy="0"/>
          <a:chOff x="0" y="0"/>
          <a:chExt cx="0" cy="0"/>
        </a:xfrm>
      </p:grpSpPr>
      <p:sp>
        <p:nvSpPr>
          <p:cNvPr id="2" name="Text 0"/>
          <p:cNvSpPr txBox="1"/>
          <p:nvPr/>
        </p:nvSpPr>
        <p:spPr>
          <a:xfrm>
            <a:off x="548640" y="365760"/>
            <a:ext cx="11094415" cy="685800"/>
          </a:xfrm>
          <a:prstGeom prst="rect">
            <a:avLst/>
          </a:prstGeom>
          <a:noFill/>
          <a:ln/>
        </p:spPr>
        <p:txBody>
          <a:bodyPr wrap="square" lIns="0" tIns="0" rIns="0" bIns="0" rtlCol="0" anchor="ctr"/>
          <a:lstStyle/>
          <a:p>
            <a:pPr indent="0" marL="0">
              <a:buNone/>
            </a:pPr>
            <a:r>
              <a:rPr lang="en-US" sz="3200" b="1" dirty="0">
                <a:solidFill>
                  <a:srgbClr val="1B1F2A"/>
                </a:solidFill>
                <a:latin typeface="Cambria" pitchFamily="34" charset="0"/>
                <a:ea typeface="Cambria" pitchFamily="34" charset="-122"/>
                <a:cs typeface="Cambria" pitchFamily="34" charset="-120"/>
              </a:rPr>
              <a:t>Result 4 — no tuning ≠ cheap to run</a:t>
            </a:r>
            <a:endParaRPr lang="en-US" sz="3200" dirty="0"/>
          </a:p>
        </p:txBody>
      </p:sp>
      <p:sp>
        <p:nvSpPr>
          <p:cNvPr id="3" name="Text 1"/>
          <p:cNvSpPr txBox="1"/>
          <p:nvPr/>
        </p:nvSpPr>
        <p:spPr>
          <a:xfrm>
            <a:off x="548640" y="1024128"/>
            <a:ext cx="11094415" cy="365760"/>
          </a:xfrm>
          <a:prstGeom prst="rect">
            <a:avLst/>
          </a:prstGeom>
          <a:noFill/>
          <a:ln/>
        </p:spPr>
        <p:txBody>
          <a:bodyPr wrap="square" lIns="0" tIns="0" rIns="0" bIns="0" rtlCol="0" anchor="ctr"/>
          <a:lstStyle/>
          <a:p>
            <a:pPr indent="0" marL="0">
              <a:buNone/>
            </a:pPr>
            <a:r>
              <a:rPr lang="en-US" sz="1500" i="1" dirty="0">
                <a:solidFill>
                  <a:srgbClr val="5B6170"/>
                </a:solidFill>
                <a:latin typeface="Calibri" pitchFamily="34" charset="0"/>
                <a:ea typeface="Calibri" pitchFamily="34" charset="-122"/>
                <a:cs typeface="Calibri" pitchFamily="34" charset="-120"/>
              </a:rPr>
              <a:t>TabFM prediction time grows steeply with context size</a:t>
            </a:r>
            <a:endParaRPr lang="en-US" sz="1500" dirty="0"/>
          </a:p>
        </p:txBody>
      </p:sp>
      <p:sp>
        <p:nvSpPr>
          <p:cNvPr id="4" name="Shape 2"/>
          <p:cNvSpPr/>
          <p:nvPr/>
        </p:nvSpPr>
        <p:spPr>
          <a:xfrm>
            <a:off x="548640" y="1828800"/>
            <a:ext cx="2286000" cy="2286000"/>
          </a:xfrm>
          <a:prstGeom prst="roundRect">
            <a:avLst>
              <a:gd name="adj" fmla="val 3200"/>
            </a:avLst>
          </a:prstGeom>
          <a:solidFill>
            <a:srgbClr val="F2F3F5"/>
          </a:solidFill>
          <a:ln w="12700">
            <a:solidFill>
              <a:srgbClr val="F2F3F5"/>
            </a:solidFill>
            <a:prstDash val="solid"/>
          </a:ln>
        </p:spPr>
      </p:sp>
      <p:sp>
        <p:nvSpPr>
          <p:cNvPr id="5" name="Text 3"/>
          <p:cNvSpPr txBox="1"/>
          <p:nvPr/>
        </p:nvSpPr>
        <p:spPr>
          <a:xfrm>
            <a:off x="731520" y="2057400"/>
            <a:ext cx="1920240" cy="731520"/>
          </a:xfrm>
          <a:prstGeom prst="rect">
            <a:avLst/>
          </a:prstGeom>
          <a:noFill/>
          <a:ln/>
        </p:spPr>
        <p:txBody>
          <a:bodyPr wrap="square" lIns="0" tIns="0" rIns="0" bIns="0" rtlCol="0" anchor="ctr"/>
          <a:lstStyle/>
          <a:p>
            <a:pPr indent="0" marL="0">
              <a:buNone/>
            </a:pPr>
            <a:r>
              <a:rPr lang="en-US" sz="3600" b="1" dirty="0">
                <a:solidFill>
                  <a:srgbClr val="C8102E"/>
                </a:solidFill>
                <a:latin typeface="Cambria" pitchFamily="34" charset="0"/>
                <a:ea typeface="Cambria" pitchFamily="34" charset="-122"/>
                <a:cs typeface="Cambria" pitchFamily="34" charset="-120"/>
              </a:rPr>
              <a:t>0.11 s</a:t>
            </a:r>
            <a:endParaRPr lang="en-US" sz="3600" dirty="0"/>
          </a:p>
        </p:txBody>
      </p:sp>
      <p:sp>
        <p:nvSpPr>
          <p:cNvPr id="6" name="Text 4"/>
          <p:cNvSpPr txBox="1"/>
          <p:nvPr/>
        </p:nvSpPr>
        <p:spPr>
          <a:xfrm>
            <a:off x="731520" y="2834640"/>
            <a:ext cx="1920240" cy="320040"/>
          </a:xfrm>
          <a:prstGeom prst="rect">
            <a:avLst/>
          </a:prstGeom>
          <a:noFill/>
          <a:ln/>
        </p:spPr>
        <p:txBody>
          <a:bodyPr wrap="square" lIns="0" tIns="0" rIns="0" bIns="0" rtlCol="0" anchor="t"/>
          <a:lstStyle/>
          <a:p>
            <a:pPr indent="0" marL="0">
              <a:buNone/>
            </a:pPr>
            <a:r>
              <a:rPr lang="en-US" sz="1400" dirty="0">
                <a:solidFill>
                  <a:srgbClr val="5B6170"/>
                </a:solidFill>
                <a:latin typeface="Calibri" pitchFamily="34" charset="0"/>
                <a:ea typeface="Calibri" pitchFamily="34" charset="-122"/>
                <a:cs typeface="Calibri" pitchFamily="34" charset="-120"/>
              </a:rPr>
              <a:t>per record</a:t>
            </a:r>
            <a:endParaRPr lang="en-US" sz="1400" dirty="0"/>
          </a:p>
        </p:txBody>
      </p:sp>
      <p:sp>
        <p:nvSpPr>
          <p:cNvPr id="7" name="Text 5"/>
          <p:cNvSpPr txBox="1"/>
          <p:nvPr/>
        </p:nvSpPr>
        <p:spPr>
          <a:xfrm>
            <a:off x="731520" y="3337560"/>
            <a:ext cx="1920240" cy="457200"/>
          </a:xfrm>
          <a:prstGeom prst="rect">
            <a:avLst/>
          </a:prstGeom>
          <a:noFill/>
          <a:ln/>
        </p:spPr>
        <p:txBody>
          <a:bodyPr wrap="square" lIns="0" tIns="0" rIns="0" bIns="0" rtlCol="0" anchor="t"/>
          <a:lstStyle/>
          <a:p>
            <a:pPr indent="0" marL="0">
              <a:buNone/>
            </a:pPr>
            <a:r>
              <a:rPr lang="en-US" sz="1400" b="1" dirty="0">
                <a:solidFill>
                  <a:srgbClr val="1B1F2A"/>
                </a:solidFill>
                <a:latin typeface="Calibri" pitchFamily="34" charset="0"/>
                <a:ea typeface="Calibri" pitchFamily="34" charset="-122"/>
                <a:cs typeface="Calibri" pitchFamily="34" charset="-120"/>
              </a:rPr>
              <a:t>500-row context</a:t>
            </a:r>
            <a:endParaRPr lang="en-US" sz="1400" dirty="0"/>
          </a:p>
        </p:txBody>
      </p:sp>
      <p:sp>
        <p:nvSpPr>
          <p:cNvPr id="8" name="Shape 6"/>
          <p:cNvSpPr/>
          <p:nvPr/>
        </p:nvSpPr>
        <p:spPr>
          <a:xfrm>
            <a:off x="3063240" y="1828800"/>
            <a:ext cx="2286000" cy="2286000"/>
          </a:xfrm>
          <a:prstGeom prst="roundRect">
            <a:avLst>
              <a:gd name="adj" fmla="val 3200"/>
            </a:avLst>
          </a:prstGeom>
          <a:solidFill>
            <a:srgbClr val="F2F3F5"/>
          </a:solidFill>
          <a:ln w="12700">
            <a:solidFill>
              <a:srgbClr val="F2F3F5"/>
            </a:solidFill>
            <a:prstDash val="solid"/>
          </a:ln>
        </p:spPr>
      </p:sp>
      <p:sp>
        <p:nvSpPr>
          <p:cNvPr id="9" name="Text 7"/>
          <p:cNvSpPr txBox="1"/>
          <p:nvPr/>
        </p:nvSpPr>
        <p:spPr>
          <a:xfrm>
            <a:off x="3246120" y="2057400"/>
            <a:ext cx="1920240" cy="731520"/>
          </a:xfrm>
          <a:prstGeom prst="rect">
            <a:avLst/>
          </a:prstGeom>
          <a:noFill/>
          <a:ln/>
        </p:spPr>
        <p:txBody>
          <a:bodyPr wrap="square" lIns="0" tIns="0" rIns="0" bIns="0" rtlCol="0" anchor="ctr"/>
          <a:lstStyle/>
          <a:p>
            <a:pPr indent="0" marL="0">
              <a:buNone/>
            </a:pPr>
            <a:r>
              <a:rPr lang="en-US" sz="3600" b="1" dirty="0">
                <a:solidFill>
                  <a:srgbClr val="C8102E"/>
                </a:solidFill>
                <a:latin typeface="Cambria" pitchFamily="34" charset="0"/>
                <a:ea typeface="Cambria" pitchFamily="34" charset="-122"/>
                <a:cs typeface="Cambria" pitchFamily="34" charset="-120"/>
              </a:rPr>
              <a:t>1.8 s</a:t>
            </a:r>
            <a:endParaRPr lang="en-US" sz="3600" dirty="0"/>
          </a:p>
        </p:txBody>
      </p:sp>
      <p:sp>
        <p:nvSpPr>
          <p:cNvPr id="10" name="Text 8"/>
          <p:cNvSpPr txBox="1"/>
          <p:nvPr/>
        </p:nvSpPr>
        <p:spPr>
          <a:xfrm>
            <a:off x="3246120" y="2834640"/>
            <a:ext cx="1920240" cy="320040"/>
          </a:xfrm>
          <a:prstGeom prst="rect">
            <a:avLst/>
          </a:prstGeom>
          <a:noFill/>
          <a:ln/>
        </p:spPr>
        <p:txBody>
          <a:bodyPr wrap="square" lIns="0" tIns="0" rIns="0" bIns="0" rtlCol="0" anchor="t"/>
          <a:lstStyle/>
          <a:p>
            <a:pPr indent="0" marL="0">
              <a:buNone/>
            </a:pPr>
            <a:r>
              <a:rPr lang="en-US" sz="1400" dirty="0">
                <a:solidFill>
                  <a:srgbClr val="5B6170"/>
                </a:solidFill>
                <a:latin typeface="Calibri" pitchFamily="34" charset="0"/>
                <a:ea typeface="Calibri" pitchFamily="34" charset="-122"/>
                <a:cs typeface="Calibri" pitchFamily="34" charset="-120"/>
              </a:rPr>
              <a:t>per record</a:t>
            </a:r>
            <a:endParaRPr lang="en-US" sz="1400" dirty="0"/>
          </a:p>
        </p:txBody>
      </p:sp>
      <p:sp>
        <p:nvSpPr>
          <p:cNvPr id="11" name="Text 9"/>
          <p:cNvSpPr txBox="1"/>
          <p:nvPr/>
        </p:nvSpPr>
        <p:spPr>
          <a:xfrm>
            <a:off x="3246120" y="3337560"/>
            <a:ext cx="1920240" cy="457200"/>
          </a:xfrm>
          <a:prstGeom prst="rect">
            <a:avLst/>
          </a:prstGeom>
          <a:noFill/>
          <a:ln/>
        </p:spPr>
        <p:txBody>
          <a:bodyPr wrap="square" lIns="0" tIns="0" rIns="0" bIns="0" rtlCol="0" anchor="t"/>
          <a:lstStyle/>
          <a:p>
            <a:pPr indent="0" marL="0">
              <a:buNone/>
            </a:pPr>
            <a:r>
              <a:rPr lang="en-US" sz="1400" b="1" dirty="0">
                <a:solidFill>
                  <a:srgbClr val="1B1F2A"/>
                </a:solidFill>
                <a:latin typeface="Calibri" pitchFamily="34" charset="0"/>
                <a:ea typeface="Calibri" pitchFamily="34" charset="-122"/>
                <a:cs typeface="Calibri" pitchFamily="34" charset="-120"/>
              </a:rPr>
              <a:t>2,000-row context</a:t>
            </a:r>
            <a:endParaRPr lang="en-US" sz="1400" dirty="0"/>
          </a:p>
        </p:txBody>
      </p:sp>
      <p:sp>
        <p:nvSpPr>
          <p:cNvPr id="12" name="Shape 10"/>
          <p:cNvSpPr/>
          <p:nvPr/>
        </p:nvSpPr>
        <p:spPr>
          <a:xfrm>
            <a:off x="5577840" y="1828800"/>
            <a:ext cx="2286000" cy="2286000"/>
          </a:xfrm>
          <a:prstGeom prst="roundRect">
            <a:avLst>
              <a:gd name="adj" fmla="val 3200"/>
            </a:avLst>
          </a:prstGeom>
          <a:solidFill>
            <a:srgbClr val="1B1F2A"/>
          </a:solidFill>
          <a:ln w="12700">
            <a:solidFill>
              <a:srgbClr val="1B1F2A"/>
            </a:solidFill>
            <a:prstDash val="solid"/>
          </a:ln>
        </p:spPr>
      </p:sp>
      <p:sp>
        <p:nvSpPr>
          <p:cNvPr id="13" name="Text 11"/>
          <p:cNvSpPr txBox="1"/>
          <p:nvPr/>
        </p:nvSpPr>
        <p:spPr>
          <a:xfrm>
            <a:off x="5760720" y="2057400"/>
            <a:ext cx="1920240" cy="731520"/>
          </a:xfrm>
          <a:prstGeom prst="rect">
            <a:avLst/>
          </a:prstGeom>
          <a:noFill/>
          <a:ln/>
        </p:spPr>
        <p:txBody>
          <a:bodyPr wrap="square" lIns="0" tIns="0" rIns="0" bIns="0" rtlCol="0" anchor="ctr"/>
          <a:lstStyle/>
          <a:p>
            <a:pPr indent="0" marL="0">
              <a:buNone/>
            </a:pPr>
            <a:r>
              <a:rPr lang="en-US" sz="2400" b="1" dirty="0">
                <a:solidFill>
                  <a:srgbClr val="FFFFFF"/>
                </a:solidFill>
                <a:latin typeface="Cambria" pitchFamily="34" charset="0"/>
                <a:ea typeface="Cambria" pitchFamily="34" charset="-122"/>
                <a:cs typeface="Cambria" pitchFamily="34" charset="-120"/>
              </a:rPr>
              <a:t>did not finish</a:t>
            </a:r>
            <a:endParaRPr lang="en-US" sz="2400" dirty="0"/>
          </a:p>
        </p:txBody>
      </p:sp>
      <p:sp>
        <p:nvSpPr>
          <p:cNvPr id="14" name="Text 12"/>
          <p:cNvSpPr txBox="1"/>
          <p:nvPr/>
        </p:nvSpPr>
        <p:spPr>
          <a:xfrm>
            <a:off x="5760720" y="2834640"/>
            <a:ext cx="1920240" cy="320040"/>
          </a:xfrm>
          <a:prstGeom prst="rect">
            <a:avLst/>
          </a:prstGeom>
          <a:noFill/>
          <a:ln/>
        </p:spPr>
        <p:txBody>
          <a:bodyPr wrap="square" lIns="0" tIns="0" rIns="0" bIns="0" rtlCol="0" anchor="t"/>
          <a:lstStyle/>
          <a:p>
            <a:pPr indent="0" marL="0">
              <a:buNone/>
            </a:pPr>
            <a:endParaRPr lang="en-US" sz="1400" dirty="0"/>
          </a:p>
        </p:txBody>
      </p:sp>
      <p:sp>
        <p:nvSpPr>
          <p:cNvPr id="15" name="Text 13"/>
          <p:cNvSpPr txBox="1"/>
          <p:nvPr/>
        </p:nvSpPr>
        <p:spPr>
          <a:xfrm>
            <a:off x="5760720" y="3337560"/>
            <a:ext cx="1920240" cy="457200"/>
          </a:xfrm>
          <a:prstGeom prst="rect">
            <a:avLst/>
          </a:prstGeom>
          <a:noFill/>
          <a:ln/>
        </p:spPr>
        <p:txBody>
          <a:bodyPr wrap="square" lIns="0" tIns="0" rIns="0" bIns="0" rtlCol="0" anchor="t"/>
          <a:lstStyle/>
          <a:p>
            <a:pPr indent="0" marL="0">
              <a:buNone/>
            </a:pPr>
            <a:r>
              <a:rPr lang="en-US" sz="1400" b="1" dirty="0">
                <a:solidFill>
                  <a:srgbClr val="D5D8DF"/>
                </a:solidFill>
                <a:latin typeface="Calibri" pitchFamily="34" charset="0"/>
                <a:ea typeface="Calibri" pitchFamily="34" charset="-122"/>
                <a:cs typeface="Calibri" pitchFamily="34" charset="-120"/>
              </a:rPr>
              <a:t>17,284-row context</a:t>
            </a:r>
            <a:endParaRPr lang="en-US" sz="1400" dirty="0"/>
          </a:p>
        </p:txBody>
      </p:sp>
      <p:sp>
        <p:nvSpPr>
          <p:cNvPr id="16" name="Text 14"/>
          <p:cNvSpPr txBox="1"/>
          <p:nvPr/>
        </p:nvSpPr>
        <p:spPr>
          <a:xfrm>
            <a:off x="548640" y="4389120"/>
            <a:ext cx="7315200" cy="411480"/>
          </a:xfrm>
          <a:prstGeom prst="rect">
            <a:avLst/>
          </a:prstGeom>
          <a:noFill/>
          <a:ln/>
        </p:spPr>
        <p:txBody>
          <a:bodyPr wrap="square" lIns="0" tIns="0" rIns="0" bIns="0" rtlCol="0" anchor="t"/>
          <a:lstStyle/>
          <a:p>
            <a:pPr indent="0" marL="0">
              <a:buNone/>
            </a:pPr>
            <a:r>
              <a:rPr lang="en-US" sz="1700" b="1" dirty="0">
                <a:solidFill>
                  <a:srgbClr val="C8102E"/>
                </a:solidFill>
                <a:latin typeface="Calibri" pitchFamily="34" charset="0"/>
                <a:ea typeface="Calibri" pitchFamily="34" charset="-122"/>
                <a:cs typeface="Calibri" pitchFamily="34" charset="-120"/>
              </a:rPr>
              <a:t>4× more context → ~16× slower per record</a:t>
            </a:r>
            <a:endParaRPr lang="en-US" sz="1700" dirty="0"/>
          </a:p>
        </p:txBody>
      </p:sp>
      <p:sp>
        <p:nvSpPr>
          <p:cNvPr id="17" name="Text 15"/>
          <p:cNvSpPr txBox="1"/>
          <p:nvPr/>
        </p:nvSpPr>
        <p:spPr>
          <a:xfrm>
            <a:off x="8412480" y="1828800"/>
            <a:ext cx="3291840" cy="365760"/>
          </a:xfrm>
          <a:prstGeom prst="rect">
            <a:avLst/>
          </a:prstGeom>
          <a:noFill/>
          <a:ln/>
        </p:spPr>
        <p:txBody>
          <a:bodyPr wrap="square" lIns="0" tIns="0" rIns="0" bIns="0" rtlCol="0" anchor="t"/>
          <a:lstStyle/>
          <a:p>
            <a:pPr indent="0" marL="0">
              <a:buNone/>
            </a:pPr>
            <a:r>
              <a:rPr lang="en-US" sz="1700" b="1" dirty="0">
                <a:solidFill>
                  <a:srgbClr val="1B1F2A"/>
                </a:solidFill>
                <a:latin typeface="Calibri" pitchFamily="34" charset="0"/>
                <a:ea typeface="Calibri" pitchFamily="34" charset="-122"/>
                <a:cs typeface="Calibri" pitchFamily="34" charset="-120"/>
              </a:rPr>
              <a:t>Software problems solved</a:t>
            </a:r>
            <a:endParaRPr lang="en-US" sz="1700" dirty="0"/>
          </a:p>
        </p:txBody>
      </p:sp>
      <p:sp>
        <p:nvSpPr>
          <p:cNvPr id="18" name="Shape 16"/>
          <p:cNvSpPr/>
          <p:nvPr/>
        </p:nvSpPr>
        <p:spPr>
          <a:xfrm>
            <a:off x="8412480" y="2377440"/>
            <a:ext cx="502920" cy="502920"/>
          </a:xfrm>
          <a:prstGeom prst="ellipse">
            <a:avLst/>
          </a:prstGeom>
          <a:solidFill>
            <a:srgbClr val="1B1F2A"/>
          </a:solidFill>
          <a:ln w="12700">
            <a:solidFill>
              <a:srgbClr val="1B1F2A"/>
            </a:solidFill>
            <a:prstDash val="solid"/>
          </a:ln>
        </p:spPr>
      </p:sp>
      <p:pic>
        <p:nvPicPr>
          <p:cNvPr id="19" name="Image 0" descr="preencoded.png">    </p:cNvPr>
          <p:cNvPicPr>
            <a:picLocks noChangeAspect="1"/>
          </p:cNvPicPr>
          <p:nvPr/>
        </p:nvPicPr>
        <p:blipFill>
          <a:blip r:embed="rId1"/>
          <a:stretch>
            <a:fillRect/>
          </a:stretch>
        </p:blipFill>
        <p:spPr>
          <a:xfrm>
            <a:off x="8543239" y="2508199"/>
            <a:ext cx="241402" cy="241402"/>
          </a:xfrm>
          <a:prstGeom prst="rect">
            <a:avLst/>
          </a:prstGeom>
        </p:spPr>
      </p:pic>
      <p:sp>
        <p:nvSpPr>
          <p:cNvPr id="20" name="Text 17"/>
          <p:cNvSpPr txBox="1"/>
          <p:nvPr/>
        </p:nvSpPr>
        <p:spPr>
          <a:xfrm>
            <a:off x="9098280" y="2331720"/>
            <a:ext cx="2606040" cy="1005840"/>
          </a:xfrm>
          <a:prstGeom prst="rect">
            <a:avLst/>
          </a:prstGeom>
          <a:noFill/>
          <a:ln/>
        </p:spPr>
        <p:txBody>
          <a:bodyPr wrap="square" lIns="0" tIns="0" rIns="0" bIns="0" rtlCol="0" anchor="t"/>
          <a:lstStyle/>
          <a:p>
            <a:pPr indent="0" marL="0">
              <a:buNone/>
            </a:pPr>
            <a:r>
              <a:rPr lang="en-US" sz="1500" dirty="0">
                <a:solidFill>
                  <a:srgbClr val="1B1F2A"/>
                </a:solidFill>
                <a:latin typeface="Calibri" pitchFamily="34" charset="0"/>
                <a:ea typeface="Calibri" pitchFamily="34" charset="-122"/>
                <a:cs typeface="Calibri" pitchFamily="34" charset="-120"/>
              </a:rPr>
              <a:t>SHAP Permutation → numba error; used KernelExplainer</a:t>
            </a:r>
            <a:endParaRPr lang="en-US" sz="1500" dirty="0"/>
          </a:p>
        </p:txBody>
      </p:sp>
      <p:sp>
        <p:nvSpPr>
          <p:cNvPr id="21" name="Shape 18"/>
          <p:cNvSpPr/>
          <p:nvPr/>
        </p:nvSpPr>
        <p:spPr>
          <a:xfrm>
            <a:off x="8412480" y="3611880"/>
            <a:ext cx="502920" cy="502920"/>
          </a:xfrm>
          <a:prstGeom prst="ellipse">
            <a:avLst/>
          </a:prstGeom>
          <a:solidFill>
            <a:srgbClr val="1B1F2A"/>
          </a:solidFill>
          <a:ln w="12700">
            <a:solidFill>
              <a:srgbClr val="1B1F2A"/>
            </a:solidFill>
            <a:prstDash val="solid"/>
          </a:ln>
        </p:spPr>
      </p:sp>
      <p:pic>
        <p:nvPicPr>
          <p:cNvPr id="22" name="Image 1" descr="preencoded.png">    </p:cNvPr>
          <p:cNvPicPr>
            <a:picLocks noChangeAspect="1"/>
          </p:cNvPicPr>
          <p:nvPr/>
        </p:nvPicPr>
        <p:blipFill>
          <a:blip r:embed="rId2"/>
          <a:stretch>
            <a:fillRect/>
          </a:stretch>
        </p:blipFill>
        <p:spPr>
          <a:xfrm>
            <a:off x="8543239" y="3742639"/>
            <a:ext cx="241402" cy="241402"/>
          </a:xfrm>
          <a:prstGeom prst="rect">
            <a:avLst/>
          </a:prstGeom>
        </p:spPr>
      </p:pic>
      <p:sp>
        <p:nvSpPr>
          <p:cNvPr id="23" name="Text 19"/>
          <p:cNvSpPr txBox="1"/>
          <p:nvPr/>
        </p:nvSpPr>
        <p:spPr>
          <a:xfrm>
            <a:off x="9098280" y="3566160"/>
            <a:ext cx="2606040" cy="1005840"/>
          </a:xfrm>
          <a:prstGeom prst="rect">
            <a:avLst/>
          </a:prstGeom>
          <a:noFill/>
          <a:ln/>
        </p:spPr>
        <p:txBody>
          <a:bodyPr wrap="square" lIns="0" tIns="0" rIns="0" bIns="0" rtlCol="0" anchor="t"/>
          <a:lstStyle/>
          <a:p>
            <a:pPr indent="0" marL="0">
              <a:buNone/>
            </a:pPr>
            <a:r>
              <a:rPr lang="en-US" sz="1500" dirty="0">
                <a:solidFill>
                  <a:srgbClr val="1B1F2A"/>
                </a:solidFill>
                <a:latin typeface="Calibri" pitchFamily="34" charset="0"/>
                <a:ea typeface="Calibri" pitchFamily="34" charset="-122"/>
                <a:cs typeface="Calibri" pitchFamily="34" charset="-120"/>
              </a:rPr>
              <a:t>TabFM crashed on 1-row input; padded to 2 rows</a:t>
            </a:r>
            <a:endParaRPr lang="en-US" sz="1500" dirty="0"/>
          </a:p>
        </p:txBody>
      </p:sp>
      <p:sp>
        <p:nvSpPr>
          <p:cNvPr id="24" name="Shape 20"/>
          <p:cNvSpPr/>
          <p:nvPr/>
        </p:nvSpPr>
        <p:spPr>
          <a:xfrm>
            <a:off x="8412480" y="4846320"/>
            <a:ext cx="502920" cy="502920"/>
          </a:xfrm>
          <a:prstGeom prst="ellipse">
            <a:avLst/>
          </a:prstGeom>
          <a:solidFill>
            <a:srgbClr val="1B1F2A"/>
          </a:solidFill>
          <a:ln w="12700">
            <a:solidFill>
              <a:srgbClr val="1B1F2A"/>
            </a:solidFill>
            <a:prstDash val="solid"/>
          </a:ln>
        </p:spPr>
      </p:sp>
      <p:pic>
        <p:nvPicPr>
          <p:cNvPr id="25" name="Image 2" descr="preencoded.png">    </p:cNvPr>
          <p:cNvPicPr>
            <a:picLocks noChangeAspect="1"/>
          </p:cNvPicPr>
          <p:nvPr/>
        </p:nvPicPr>
        <p:blipFill>
          <a:blip r:embed="rId3"/>
          <a:stretch>
            <a:fillRect/>
          </a:stretch>
        </p:blipFill>
        <p:spPr>
          <a:xfrm>
            <a:off x="8543239" y="4977079"/>
            <a:ext cx="241402" cy="241402"/>
          </a:xfrm>
          <a:prstGeom prst="rect">
            <a:avLst/>
          </a:prstGeom>
        </p:spPr>
      </p:pic>
      <p:sp>
        <p:nvSpPr>
          <p:cNvPr id="26" name="Text 21"/>
          <p:cNvSpPr txBox="1"/>
          <p:nvPr/>
        </p:nvSpPr>
        <p:spPr>
          <a:xfrm>
            <a:off x="9098280" y="4800600"/>
            <a:ext cx="2606040" cy="1005840"/>
          </a:xfrm>
          <a:prstGeom prst="rect">
            <a:avLst/>
          </a:prstGeom>
          <a:noFill/>
          <a:ln/>
        </p:spPr>
        <p:txBody>
          <a:bodyPr wrap="square" lIns="0" tIns="0" rIns="0" bIns="0" rtlCol="0" anchor="t"/>
          <a:lstStyle/>
          <a:p>
            <a:pPr indent="0" marL="0">
              <a:buNone/>
            </a:pPr>
            <a:r>
              <a:rPr lang="en-US" sz="1500" dirty="0">
                <a:solidFill>
                  <a:srgbClr val="1B1F2A"/>
                </a:solidFill>
                <a:latin typeface="Calibri" pitchFamily="34" charset="0"/>
                <a:ea typeface="Calibri" pitchFamily="34" charset="-122"/>
                <a:cs typeface="Calibri" pitchFamily="34" charset="-120"/>
              </a:rPr>
              <a:t>TabPFN checkpoint load; patched torch.load</a:t>
            </a:r>
            <a:endParaRPr lang="en-US" sz="1500" dirty="0"/>
          </a:p>
        </p:txBody>
      </p:sp>
      <p:sp>
        <p:nvSpPr>
          <p:cNvPr id="27" name="Shape 22"/>
          <p:cNvSpPr/>
          <p:nvPr/>
        </p:nvSpPr>
        <p:spPr>
          <a:xfrm>
            <a:off x="548640" y="4983480"/>
            <a:ext cx="7315200" cy="1188720"/>
          </a:xfrm>
          <a:prstGeom prst="roundRect">
            <a:avLst>
              <a:gd name="adj" fmla="val 6154"/>
            </a:avLst>
          </a:prstGeom>
          <a:solidFill>
            <a:srgbClr val="F2F3F5"/>
          </a:solidFill>
          <a:ln w="12700">
            <a:solidFill>
              <a:srgbClr val="F2F3F5"/>
            </a:solidFill>
            <a:prstDash val="solid"/>
          </a:ln>
        </p:spPr>
      </p:sp>
      <p:sp>
        <p:nvSpPr>
          <p:cNvPr id="28" name="Text 23"/>
          <p:cNvSpPr txBox="1"/>
          <p:nvPr/>
        </p:nvSpPr>
        <p:spPr>
          <a:xfrm>
            <a:off x="822960" y="4983480"/>
            <a:ext cx="6766560" cy="1188720"/>
          </a:xfrm>
          <a:prstGeom prst="rect">
            <a:avLst/>
          </a:prstGeom>
          <a:noFill/>
          <a:ln/>
        </p:spPr>
        <p:txBody>
          <a:bodyPr wrap="square" lIns="0" tIns="0" rIns="0" bIns="0" rtlCol="0" anchor="ctr"/>
          <a:lstStyle/>
          <a:p>
            <a:pPr indent="0" marL="0">
              <a:buNone/>
            </a:pPr>
            <a:r>
              <a:rPr lang="en-US" sz="1600" dirty="0">
                <a:solidFill>
                  <a:srgbClr val="5B6170"/>
                </a:solidFill>
                <a:latin typeface="Calibri" pitchFamily="34" charset="0"/>
                <a:ea typeface="Calibri" pitchFamily="34" charset="-122"/>
                <a:cs typeface="Calibri" pitchFamily="34" charset="-120"/>
              </a:rPr>
              <a:t>Choice depends on data size and number of predictions: CatBoost is cheap to run once trained; foundation models need no training but pay at every prediction.</a:t>
            </a:r>
            <a:endParaRPr lang="en-US" sz="1600" dirty="0"/>
          </a:p>
        </p:txBody>
      </p:sp>
      <p:sp>
        <p:nvSpPr>
          <p:cNvPr id="25" name="Slide Number Placeholder 0"/>
          <p:cNvSpPr>
            <a:spLocks noGrp="1"/>
          </p:cNvSpPr>
          <p:nvPr>
            <p:ph type="sldNum" sz="quarter" idx="4294967295"/>
          </p:nvPr>
        </p:nvSpPr>
        <p:spPr>
          <a:xfrm>
            <a:off x="11368735" y="6446520"/>
            <a:ext cx="457200" cy="274320"/>
          </a:xfrm>
          <a:prstGeom prst="rect">
            <a:avLst/>
          </a:prstGeom>
          <a:extLst>
            <a:ext uri="{C572A759-6A51-4108-AA02-DFA0A04FC94B}">
              <ma14:wrappingTextBoxFlag xmlns:ma14="http://schemas.microsoft.com/office/mac/drawingml/2011/main" val="0"/>
            </a:ext>
          </a:extLst>
        </p:spPr>
        <p:txBody>
          <a:bodyPr/>
          <a:lstStyle>
            <a:lvl1pPr>
              <a:defRPr sz="1000">
                <a:solidFill>
                  <a:srgbClr val="5B6170"/>
                </a:solidFill>
                <a:latin typeface="Calibri"/>
                <a:ea typeface="Calibri"/>
                <a:cs typeface="Calibri"/>
              </a:defRPr>
            </a:lvl1pPr>
          </a:lstStyle>
          <a:p>
            <a:pPr algn="r"/>
            <a:fld id="{F7021451-1387-4CA6-816F-3879F97B5CBC}" type="slidenum">
              <a:rPr b="0" lang="en-US"/>
              <a:t>14</a:t>
            </a:fld>
            <a:endParaRPr lang="en-US"/>
          </a:p>
        </p:txBody>
      </p:sp>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name="Slide 15">
    <p:bg>
      <p:bgPr>
        <a:solidFill>
          <a:srgbClr val="1B1F2A"/>
        </a:solidFill>
      </p:bgPr>
    </p:bg>
    <p:spTree>
      <p:nvGrpSpPr>
        <p:cNvPr id="1" name=""/>
        <p:cNvGrpSpPr/>
        <p:nvPr/>
      </p:nvGrpSpPr>
      <p:grpSpPr>
        <a:xfrm>
          <a:off x="0" y="0"/>
          <a:ext cx="0" cy="0"/>
          <a:chOff x="0" y="0"/>
          <a:chExt cx="0" cy="0"/>
        </a:xfrm>
      </p:grpSpPr>
      <p:sp>
        <p:nvSpPr>
          <p:cNvPr id="2" name="Text 0"/>
          <p:cNvSpPr txBox="1"/>
          <p:nvPr/>
        </p:nvSpPr>
        <p:spPr>
          <a:xfrm>
            <a:off x="548640" y="411480"/>
            <a:ext cx="9144000" cy="731520"/>
          </a:xfrm>
          <a:prstGeom prst="rect">
            <a:avLst/>
          </a:prstGeom>
          <a:noFill/>
          <a:ln/>
        </p:spPr>
        <p:txBody>
          <a:bodyPr wrap="square" lIns="0" tIns="0" rIns="0" bIns="0" rtlCol="0" anchor="ctr"/>
          <a:lstStyle/>
          <a:p>
            <a:pPr indent="0" marL="0">
              <a:buNone/>
            </a:pPr>
            <a:r>
              <a:rPr lang="en-US" sz="3400" b="1" dirty="0">
                <a:solidFill>
                  <a:srgbClr val="FFFFFF"/>
                </a:solidFill>
                <a:latin typeface="Cambria" pitchFamily="34" charset="0"/>
                <a:ea typeface="Cambria" pitchFamily="34" charset="-122"/>
                <a:cs typeface="Cambria" pitchFamily="34" charset="-120"/>
              </a:rPr>
              <a:t>Conclusion</a:t>
            </a:r>
            <a:endParaRPr lang="en-US" sz="3400" dirty="0"/>
          </a:p>
        </p:txBody>
      </p:sp>
      <p:sp>
        <p:nvSpPr>
          <p:cNvPr id="3" name="Shape 1"/>
          <p:cNvSpPr/>
          <p:nvPr/>
        </p:nvSpPr>
        <p:spPr>
          <a:xfrm>
            <a:off x="548640" y="1508760"/>
            <a:ext cx="5394960" cy="1874520"/>
          </a:xfrm>
          <a:prstGeom prst="roundRect">
            <a:avLst>
              <a:gd name="adj" fmla="val 3902"/>
            </a:avLst>
          </a:prstGeom>
          <a:solidFill>
            <a:srgbClr val="2A2F3D"/>
          </a:solidFill>
          <a:ln w="12700">
            <a:solidFill>
              <a:srgbClr val="2A2F3D"/>
            </a:solidFill>
            <a:prstDash val="solid"/>
          </a:ln>
        </p:spPr>
      </p:sp>
      <p:sp>
        <p:nvSpPr>
          <p:cNvPr id="4" name="Shape 2"/>
          <p:cNvSpPr/>
          <p:nvPr/>
        </p:nvSpPr>
        <p:spPr>
          <a:xfrm>
            <a:off x="822960" y="1783080"/>
            <a:ext cx="548640" cy="548640"/>
          </a:xfrm>
          <a:prstGeom prst="ellipse">
            <a:avLst/>
          </a:prstGeom>
          <a:solidFill>
            <a:srgbClr val="C8102E"/>
          </a:solidFill>
          <a:ln w="12700">
            <a:solidFill>
              <a:srgbClr val="C8102E"/>
            </a:solidFill>
            <a:prstDash val="solid"/>
          </a:ln>
        </p:spPr>
      </p:sp>
      <p:pic>
        <p:nvPicPr>
          <p:cNvPr id="5" name="Image 0" descr="preencoded.png">    </p:cNvPr>
          <p:cNvPicPr>
            <a:picLocks noChangeAspect="1"/>
          </p:cNvPicPr>
          <p:nvPr/>
        </p:nvPicPr>
        <p:blipFill>
          <a:blip r:embed="rId1"/>
          <a:stretch>
            <a:fillRect/>
          </a:stretch>
        </p:blipFill>
        <p:spPr>
          <a:xfrm>
            <a:off x="965606" y="1925726"/>
            <a:ext cx="263347" cy="263347"/>
          </a:xfrm>
          <a:prstGeom prst="rect">
            <a:avLst/>
          </a:prstGeom>
        </p:spPr>
      </p:pic>
      <p:sp>
        <p:nvSpPr>
          <p:cNvPr id="6" name="Text 3"/>
          <p:cNvSpPr txBox="1"/>
          <p:nvPr/>
        </p:nvSpPr>
        <p:spPr>
          <a:xfrm>
            <a:off x="1554480" y="1801368"/>
            <a:ext cx="4114800" cy="457200"/>
          </a:xfrm>
          <a:prstGeom prst="rect">
            <a:avLst/>
          </a:prstGeom>
          <a:noFill/>
          <a:ln/>
        </p:spPr>
        <p:txBody>
          <a:bodyPr wrap="square" lIns="0" tIns="0" rIns="0" bIns="0" rtlCol="0" anchor="t"/>
          <a:lstStyle/>
          <a:p>
            <a:pPr indent="0" marL="0">
              <a:buNone/>
            </a:pPr>
            <a:r>
              <a:rPr lang="en-US" sz="1900" b="1" dirty="0">
                <a:solidFill>
                  <a:srgbClr val="FFFFFF"/>
                </a:solidFill>
                <a:latin typeface="Calibri" pitchFamily="34" charset="0"/>
                <a:ea typeface="Calibri" pitchFamily="34" charset="-122"/>
                <a:cs typeface="Calibri" pitchFamily="34" charset="-120"/>
              </a:rPr>
              <a:t>RQ1 · Performance</a:t>
            </a:r>
            <a:endParaRPr lang="en-US" sz="1900" dirty="0"/>
          </a:p>
        </p:txBody>
      </p:sp>
      <p:sp>
        <p:nvSpPr>
          <p:cNvPr id="7" name="Text 4"/>
          <p:cNvSpPr txBox="1"/>
          <p:nvPr/>
        </p:nvSpPr>
        <p:spPr>
          <a:xfrm>
            <a:off x="1554480" y="2331720"/>
            <a:ext cx="4114800" cy="914400"/>
          </a:xfrm>
          <a:prstGeom prst="rect">
            <a:avLst/>
          </a:prstGeom>
          <a:noFill/>
          <a:ln/>
        </p:spPr>
        <p:txBody>
          <a:bodyPr wrap="square" lIns="0" tIns="0" rIns="0" bIns="0" rtlCol="0" anchor="t"/>
          <a:lstStyle/>
          <a:p>
            <a:pPr indent="0" marL="0">
              <a:buNone/>
            </a:pPr>
            <a:r>
              <a:rPr lang="en-US" sz="1500" dirty="0">
                <a:solidFill>
                  <a:srgbClr val="D5D8DF"/>
                </a:solidFill>
                <a:latin typeface="Calibri" pitchFamily="34" charset="0"/>
                <a:ea typeface="Calibri" pitchFamily="34" charset="-122"/>
                <a:cs typeface="Calibri" pitchFamily="34" charset="-120"/>
              </a:rPr>
              <a:t>No significant difference: tuned CatBoost ≈ zero-shot TabPFN ≈ TabFM (~78%).</a:t>
            </a:r>
            <a:endParaRPr lang="en-US" sz="1500" dirty="0"/>
          </a:p>
        </p:txBody>
      </p:sp>
      <p:sp>
        <p:nvSpPr>
          <p:cNvPr id="8" name="Shape 5"/>
          <p:cNvSpPr/>
          <p:nvPr/>
        </p:nvSpPr>
        <p:spPr>
          <a:xfrm>
            <a:off x="6172200" y="1508760"/>
            <a:ext cx="5394960" cy="1874520"/>
          </a:xfrm>
          <a:prstGeom prst="roundRect">
            <a:avLst>
              <a:gd name="adj" fmla="val 3902"/>
            </a:avLst>
          </a:prstGeom>
          <a:solidFill>
            <a:srgbClr val="2A2F3D"/>
          </a:solidFill>
          <a:ln w="12700">
            <a:solidFill>
              <a:srgbClr val="2A2F3D"/>
            </a:solidFill>
            <a:prstDash val="solid"/>
          </a:ln>
        </p:spPr>
      </p:sp>
      <p:sp>
        <p:nvSpPr>
          <p:cNvPr id="9" name="Shape 6"/>
          <p:cNvSpPr/>
          <p:nvPr/>
        </p:nvSpPr>
        <p:spPr>
          <a:xfrm>
            <a:off x="6446520" y="1783080"/>
            <a:ext cx="548640" cy="548640"/>
          </a:xfrm>
          <a:prstGeom prst="ellipse">
            <a:avLst/>
          </a:prstGeom>
          <a:solidFill>
            <a:srgbClr val="C8102E"/>
          </a:solidFill>
          <a:ln w="12700">
            <a:solidFill>
              <a:srgbClr val="C8102E"/>
            </a:solidFill>
            <a:prstDash val="solid"/>
          </a:ln>
        </p:spPr>
      </p:sp>
      <p:pic>
        <p:nvPicPr>
          <p:cNvPr id="10" name="Image 1" descr="preencoded.png">    </p:cNvPr>
          <p:cNvPicPr>
            <a:picLocks noChangeAspect="1"/>
          </p:cNvPicPr>
          <p:nvPr/>
        </p:nvPicPr>
        <p:blipFill>
          <a:blip r:embed="rId2"/>
          <a:stretch>
            <a:fillRect/>
          </a:stretch>
        </p:blipFill>
        <p:spPr>
          <a:xfrm>
            <a:off x="6589166" y="1925726"/>
            <a:ext cx="263347" cy="263347"/>
          </a:xfrm>
          <a:prstGeom prst="rect">
            <a:avLst/>
          </a:prstGeom>
        </p:spPr>
      </p:pic>
      <p:sp>
        <p:nvSpPr>
          <p:cNvPr id="11" name="Text 7"/>
          <p:cNvSpPr txBox="1"/>
          <p:nvPr/>
        </p:nvSpPr>
        <p:spPr>
          <a:xfrm>
            <a:off x="7178040" y="1801368"/>
            <a:ext cx="4114800" cy="457200"/>
          </a:xfrm>
          <a:prstGeom prst="rect">
            <a:avLst/>
          </a:prstGeom>
          <a:noFill/>
          <a:ln/>
        </p:spPr>
        <p:txBody>
          <a:bodyPr wrap="square" lIns="0" tIns="0" rIns="0" bIns="0" rtlCol="0" anchor="t"/>
          <a:lstStyle/>
          <a:p>
            <a:pPr indent="0" marL="0">
              <a:buNone/>
            </a:pPr>
            <a:r>
              <a:rPr lang="en-US" sz="1900" b="1" dirty="0">
                <a:solidFill>
                  <a:srgbClr val="FFFFFF"/>
                </a:solidFill>
                <a:latin typeface="Calibri" pitchFamily="34" charset="0"/>
                <a:ea typeface="Calibri" pitchFamily="34" charset="-122"/>
                <a:cs typeface="Calibri" pitchFamily="34" charset="-120"/>
              </a:rPr>
              <a:t>RQ2 · Data efficiency</a:t>
            </a:r>
            <a:endParaRPr lang="en-US" sz="1900" dirty="0"/>
          </a:p>
        </p:txBody>
      </p:sp>
      <p:sp>
        <p:nvSpPr>
          <p:cNvPr id="12" name="Text 8"/>
          <p:cNvSpPr txBox="1"/>
          <p:nvPr/>
        </p:nvSpPr>
        <p:spPr>
          <a:xfrm>
            <a:off x="7178040" y="2331720"/>
            <a:ext cx="4114800" cy="914400"/>
          </a:xfrm>
          <a:prstGeom prst="rect">
            <a:avLst/>
          </a:prstGeom>
          <a:noFill/>
          <a:ln/>
        </p:spPr>
        <p:txBody>
          <a:bodyPr wrap="square" lIns="0" tIns="0" rIns="0" bIns="0" rtlCol="0" anchor="t"/>
          <a:lstStyle/>
          <a:p>
            <a:pPr indent="0" marL="0">
              <a:buNone/>
            </a:pPr>
            <a:r>
              <a:rPr lang="en-US" sz="1500" dirty="0">
                <a:solidFill>
                  <a:srgbClr val="D5D8DF"/>
                </a:solidFill>
                <a:latin typeface="Calibri" pitchFamily="34" charset="0"/>
                <a:ea typeface="Calibri" pitchFamily="34" charset="-122"/>
                <a:cs typeface="Calibri" pitchFamily="34" charset="-120"/>
              </a:rPr>
              <a:t>Foundation models far better with little data; gap closes at full size.</a:t>
            </a:r>
            <a:endParaRPr lang="en-US" sz="1500" dirty="0"/>
          </a:p>
        </p:txBody>
      </p:sp>
      <p:sp>
        <p:nvSpPr>
          <p:cNvPr id="13" name="Shape 9"/>
          <p:cNvSpPr/>
          <p:nvPr/>
        </p:nvSpPr>
        <p:spPr>
          <a:xfrm>
            <a:off x="548640" y="3657600"/>
            <a:ext cx="5394960" cy="1874520"/>
          </a:xfrm>
          <a:prstGeom prst="roundRect">
            <a:avLst>
              <a:gd name="adj" fmla="val 3902"/>
            </a:avLst>
          </a:prstGeom>
          <a:solidFill>
            <a:srgbClr val="2A2F3D"/>
          </a:solidFill>
          <a:ln w="12700">
            <a:solidFill>
              <a:srgbClr val="2A2F3D"/>
            </a:solidFill>
            <a:prstDash val="solid"/>
          </a:ln>
        </p:spPr>
      </p:sp>
      <p:sp>
        <p:nvSpPr>
          <p:cNvPr id="14" name="Shape 10"/>
          <p:cNvSpPr/>
          <p:nvPr/>
        </p:nvSpPr>
        <p:spPr>
          <a:xfrm>
            <a:off x="822960" y="3931920"/>
            <a:ext cx="548640" cy="548640"/>
          </a:xfrm>
          <a:prstGeom prst="ellipse">
            <a:avLst/>
          </a:prstGeom>
          <a:solidFill>
            <a:srgbClr val="C8102E"/>
          </a:solidFill>
          <a:ln w="12700">
            <a:solidFill>
              <a:srgbClr val="C8102E"/>
            </a:solidFill>
            <a:prstDash val="solid"/>
          </a:ln>
        </p:spPr>
      </p:sp>
      <p:pic>
        <p:nvPicPr>
          <p:cNvPr id="15" name="Image 2" descr="preencoded.png">    </p:cNvPr>
          <p:cNvPicPr>
            <a:picLocks noChangeAspect="1"/>
          </p:cNvPicPr>
          <p:nvPr/>
        </p:nvPicPr>
        <p:blipFill>
          <a:blip r:embed="rId3"/>
          <a:stretch>
            <a:fillRect/>
          </a:stretch>
        </p:blipFill>
        <p:spPr>
          <a:xfrm>
            <a:off x="965606" y="4074566"/>
            <a:ext cx="263347" cy="263347"/>
          </a:xfrm>
          <a:prstGeom prst="rect">
            <a:avLst/>
          </a:prstGeom>
        </p:spPr>
      </p:pic>
      <p:sp>
        <p:nvSpPr>
          <p:cNvPr id="16" name="Text 11"/>
          <p:cNvSpPr txBox="1"/>
          <p:nvPr/>
        </p:nvSpPr>
        <p:spPr>
          <a:xfrm>
            <a:off x="1554480" y="3950208"/>
            <a:ext cx="4114800" cy="457200"/>
          </a:xfrm>
          <a:prstGeom prst="rect">
            <a:avLst/>
          </a:prstGeom>
          <a:noFill/>
          <a:ln/>
        </p:spPr>
        <p:txBody>
          <a:bodyPr wrap="square" lIns="0" tIns="0" rIns="0" bIns="0" rtlCol="0" anchor="t"/>
          <a:lstStyle/>
          <a:p>
            <a:pPr indent="0" marL="0">
              <a:buNone/>
            </a:pPr>
            <a:r>
              <a:rPr lang="en-US" sz="1900" b="1" dirty="0">
                <a:solidFill>
                  <a:srgbClr val="FFFFFF"/>
                </a:solidFill>
                <a:latin typeface="Calibri" pitchFamily="34" charset="0"/>
                <a:ea typeface="Calibri" pitchFamily="34" charset="-122"/>
                <a:cs typeface="Calibri" pitchFamily="34" charset="-120"/>
              </a:rPr>
              <a:t>RQ3 · Explainability</a:t>
            </a:r>
            <a:endParaRPr lang="en-US" sz="1900" dirty="0"/>
          </a:p>
        </p:txBody>
      </p:sp>
      <p:sp>
        <p:nvSpPr>
          <p:cNvPr id="17" name="Text 12"/>
          <p:cNvSpPr txBox="1"/>
          <p:nvPr/>
        </p:nvSpPr>
        <p:spPr>
          <a:xfrm>
            <a:off x="1554480" y="4480560"/>
            <a:ext cx="4114800" cy="914400"/>
          </a:xfrm>
          <a:prstGeom prst="rect">
            <a:avLst/>
          </a:prstGeom>
          <a:noFill/>
          <a:ln/>
        </p:spPr>
        <p:txBody>
          <a:bodyPr wrap="square" lIns="0" tIns="0" rIns="0" bIns="0" rtlCol="0" anchor="t"/>
          <a:lstStyle/>
          <a:p>
            <a:pPr indent="0" marL="0">
              <a:buNone/>
            </a:pPr>
            <a:r>
              <a:rPr lang="en-US" sz="1500" dirty="0">
                <a:solidFill>
                  <a:srgbClr val="D5D8DF"/>
                </a:solidFill>
                <a:latin typeface="Calibri" pitchFamily="34" charset="0"/>
                <a:ea typeface="Calibri" pitchFamily="34" charset="-122"/>
                <a:cs typeface="Calibri" pitchFamily="34" charset="-120"/>
              </a:rPr>
              <a:t>Same 7 biomarkers and directions in all models — SHAP works for all.</a:t>
            </a:r>
            <a:endParaRPr lang="en-US" sz="1500" dirty="0"/>
          </a:p>
        </p:txBody>
      </p:sp>
      <p:sp>
        <p:nvSpPr>
          <p:cNvPr id="18" name="Shape 13"/>
          <p:cNvSpPr/>
          <p:nvPr/>
        </p:nvSpPr>
        <p:spPr>
          <a:xfrm>
            <a:off x="6172200" y="3657600"/>
            <a:ext cx="5394960" cy="1874520"/>
          </a:xfrm>
          <a:prstGeom prst="roundRect">
            <a:avLst>
              <a:gd name="adj" fmla="val 3902"/>
            </a:avLst>
          </a:prstGeom>
          <a:solidFill>
            <a:srgbClr val="2A2F3D"/>
          </a:solidFill>
          <a:ln w="12700">
            <a:solidFill>
              <a:srgbClr val="2A2F3D"/>
            </a:solidFill>
            <a:prstDash val="solid"/>
          </a:ln>
        </p:spPr>
      </p:sp>
      <p:sp>
        <p:nvSpPr>
          <p:cNvPr id="19" name="Shape 14"/>
          <p:cNvSpPr/>
          <p:nvPr/>
        </p:nvSpPr>
        <p:spPr>
          <a:xfrm>
            <a:off x="6446520" y="3931920"/>
            <a:ext cx="548640" cy="548640"/>
          </a:xfrm>
          <a:prstGeom prst="ellipse">
            <a:avLst/>
          </a:prstGeom>
          <a:solidFill>
            <a:srgbClr val="C8102E"/>
          </a:solidFill>
          <a:ln w="12700">
            <a:solidFill>
              <a:srgbClr val="C8102E"/>
            </a:solidFill>
            <a:prstDash val="solid"/>
          </a:ln>
        </p:spPr>
      </p:sp>
      <p:pic>
        <p:nvPicPr>
          <p:cNvPr id="20" name="Image 3" descr="preencoded.png">    </p:cNvPr>
          <p:cNvPicPr>
            <a:picLocks noChangeAspect="1"/>
          </p:cNvPicPr>
          <p:nvPr/>
        </p:nvPicPr>
        <p:blipFill>
          <a:blip r:embed="rId4"/>
          <a:stretch>
            <a:fillRect/>
          </a:stretch>
        </p:blipFill>
        <p:spPr>
          <a:xfrm>
            <a:off x="6589166" y="4074566"/>
            <a:ext cx="263347" cy="263347"/>
          </a:xfrm>
          <a:prstGeom prst="rect">
            <a:avLst/>
          </a:prstGeom>
        </p:spPr>
      </p:pic>
      <p:sp>
        <p:nvSpPr>
          <p:cNvPr id="21" name="Text 15"/>
          <p:cNvSpPr txBox="1"/>
          <p:nvPr/>
        </p:nvSpPr>
        <p:spPr>
          <a:xfrm>
            <a:off x="7178040" y="3950208"/>
            <a:ext cx="4114800" cy="457200"/>
          </a:xfrm>
          <a:prstGeom prst="rect">
            <a:avLst/>
          </a:prstGeom>
          <a:noFill/>
          <a:ln/>
        </p:spPr>
        <p:txBody>
          <a:bodyPr wrap="square" lIns="0" tIns="0" rIns="0" bIns="0" rtlCol="0" anchor="t"/>
          <a:lstStyle/>
          <a:p>
            <a:pPr indent="0" marL="0">
              <a:buNone/>
            </a:pPr>
            <a:r>
              <a:rPr lang="en-US" sz="1900" b="1" dirty="0">
                <a:solidFill>
                  <a:srgbClr val="FFFFFF"/>
                </a:solidFill>
                <a:latin typeface="Calibri" pitchFamily="34" charset="0"/>
                <a:ea typeface="Calibri" pitchFamily="34" charset="-122"/>
                <a:cs typeface="Calibri" pitchFamily="34" charset="-120"/>
              </a:rPr>
              <a:t>RQ4 · Practicality</a:t>
            </a:r>
            <a:endParaRPr lang="en-US" sz="1900" dirty="0"/>
          </a:p>
        </p:txBody>
      </p:sp>
      <p:sp>
        <p:nvSpPr>
          <p:cNvPr id="22" name="Text 16"/>
          <p:cNvSpPr txBox="1"/>
          <p:nvPr/>
        </p:nvSpPr>
        <p:spPr>
          <a:xfrm>
            <a:off x="7178040" y="4480560"/>
            <a:ext cx="4114800" cy="914400"/>
          </a:xfrm>
          <a:prstGeom prst="rect">
            <a:avLst/>
          </a:prstGeom>
          <a:noFill/>
          <a:ln/>
        </p:spPr>
        <p:txBody>
          <a:bodyPr wrap="square" lIns="0" tIns="0" rIns="0" bIns="0" rtlCol="0" anchor="t"/>
          <a:lstStyle/>
          <a:p>
            <a:pPr indent="0" marL="0">
              <a:buNone/>
            </a:pPr>
            <a:r>
              <a:rPr lang="en-US" sz="1500" dirty="0">
                <a:solidFill>
                  <a:srgbClr val="D5D8DF"/>
                </a:solidFill>
                <a:latin typeface="Calibri" pitchFamily="34" charset="0"/>
                <a:ea typeface="Calibri" pitchFamily="34" charset="-122"/>
                <a:cs typeface="Calibri" pitchFamily="34" charset="-120"/>
              </a:rPr>
              <a:t>TabFM is slow at large context; new tools need testing before use.</a:t>
            </a:r>
            <a:endParaRPr lang="en-US" sz="1500" dirty="0"/>
          </a:p>
        </p:txBody>
      </p:sp>
      <p:sp>
        <p:nvSpPr>
          <p:cNvPr id="23" name="Text 17"/>
          <p:cNvSpPr txBox="1"/>
          <p:nvPr/>
        </p:nvSpPr>
        <p:spPr>
          <a:xfrm>
            <a:off x="548640" y="5897880"/>
            <a:ext cx="10180015" cy="457200"/>
          </a:xfrm>
          <a:prstGeom prst="rect">
            <a:avLst/>
          </a:prstGeom>
          <a:noFill/>
          <a:ln/>
        </p:spPr>
        <p:txBody>
          <a:bodyPr wrap="square" lIns="0" tIns="0" rIns="0" bIns="0" rtlCol="0" anchor="t"/>
          <a:lstStyle/>
          <a:p>
            <a:pPr indent="0" marL="0">
              <a:buNone/>
            </a:pPr>
            <a:r>
              <a:rPr lang="en-US" sz="1600" i="1" dirty="0">
                <a:solidFill>
                  <a:srgbClr val="F2A0AB"/>
                </a:solidFill>
                <a:latin typeface="Calibri" pitchFamily="34" charset="0"/>
                <a:ea typeface="Calibri" pitchFamily="34" charset="-122"/>
                <a:cs typeface="Calibri" pitchFamily="34" charset="-120"/>
              </a:rPr>
              <a:t>When labelled data is scarce, start with a tabular foundation model — and always explain the predictions.</a:t>
            </a:r>
            <a:endParaRPr lang="en-US" sz="1600" dirty="0"/>
          </a:p>
        </p:txBody>
      </p:sp>
      <p:sp>
        <p:nvSpPr>
          <p:cNvPr id="25" name="Slide Number Placeholder 0"/>
          <p:cNvSpPr>
            <a:spLocks noGrp="1"/>
          </p:cNvSpPr>
          <p:nvPr>
            <p:ph type="sldNum" sz="quarter" idx="4294967295"/>
          </p:nvPr>
        </p:nvSpPr>
        <p:spPr>
          <a:xfrm>
            <a:off x="11368735" y="6446520"/>
            <a:ext cx="457200" cy="274320"/>
          </a:xfrm>
          <a:prstGeom prst="rect">
            <a:avLst/>
          </a:prstGeom>
          <a:extLst>
            <a:ext uri="{C572A759-6A51-4108-AA02-DFA0A04FC94B}">
              <ma14:wrappingTextBoxFlag xmlns:ma14="http://schemas.microsoft.com/office/mac/drawingml/2011/main" val="0"/>
            </a:ext>
          </a:extLst>
        </p:spPr>
        <p:txBody>
          <a:bodyPr/>
          <a:lstStyle>
            <a:lvl1pPr>
              <a:defRPr sz="1000">
                <a:solidFill>
                  <a:srgbClr val="B8BCC6"/>
                </a:solidFill>
                <a:latin typeface="Calibri"/>
                <a:ea typeface="Calibri"/>
                <a:cs typeface="Calibri"/>
              </a:defRPr>
            </a:lvl1pPr>
          </a:lstStyle>
          <a:p>
            <a:pPr algn="r"/>
            <a:fld id="{F7021451-1387-4CA6-816F-3879F97B5CBC}" type="slidenum">
              <a:rPr b="0" lang="en-US"/>
              <a:t>15</a:t>
            </a:fld>
            <a:endParaRPr lang="en-US"/>
          </a:p>
        </p:txBody>
      </p:sp>
    </p:spTree>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name="Slide 16">
    <p:bg>
      <p:bgPr>
        <a:solidFill>
          <a:srgbClr val="FFFFFF"/>
        </a:solidFill>
      </p:bgPr>
    </p:bg>
    <p:spTree>
      <p:nvGrpSpPr>
        <p:cNvPr id="1" name=""/>
        <p:cNvGrpSpPr/>
        <p:nvPr/>
      </p:nvGrpSpPr>
      <p:grpSpPr>
        <a:xfrm>
          <a:off x="0" y="0"/>
          <a:ext cx="0" cy="0"/>
          <a:chOff x="0" y="0"/>
          <a:chExt cx="0" cy="0"/>
        </a:xfrm>
      </p:grpSpPr>
      <p:sp>
        <p:nvSpPr>
          <p:cNvPr id="2" name="Text 0"/>
          <p:cNvSpPr txBox="1"/>
          <p:nvPr/>
        </p:nvSpPr>
        <p:spPr>
          <a:xfrm>
            <a:off x="548640" y="365760"/>
            <a:ext cx="11094415" cy="685800"/>
          </a:xfrm>
          <a:prstGeom prst="rect">
            <a:avLst/>
          </a:prstGeom>
          <a:noFill/>
          <a:ln/>
        </p:spPr>
        <p:txBody>
          <a:bodyPr wrap="square" lIns="0" tIns="0" rIns="0" bIns="0" rtlCol="0" anchor="ctr"/>
          <a:lstStyle/>
          <a:p>
            <a:pPr indent="0" marL="0">
              <a:buNone/>
            </a:pPr>
            <a:r>
              <a:rPr lang="en-US" sz="3200" b="1" dirty="0">
                <a:solidFill>
                  <a:srgbClr val="1B1F2A"/>
                </a:solidFill>
                <a:latin typeface="Cambria" pitchFamily="34" charset="0"/>
                <a:ea typeface="Cambria" pitchFamily="34" charset="-122"/>
                <a:cs typeface="Cambria" pitchFamily="34" charset="-120"/>
              </a:rPr>
              <a:t>Limitations &amp; future work</a:t>
            </a:r>
            <a:endParaRPr lang="en-US" sz="3200" dirty="0"/>
          </a:p>
        </p:txBody>
      </p:sp>
      <p:sp>
        <p:nvSpPr>
          <p:cNvPr id="3" name="Shape 1"/>
          <p:cNvSpPr/>
          <p:nvPr/>
        </p:nvSpPr>
        <p:spPr>
          <a:xfrm>
            <a:off x="548640" y="1463040"/>
            <a:ext cx="5394960" cy="4206240"/>
          </a:xfrm>
          <a:prstGeom prst="roundRect">
            <a:avLst>
              <a:gd name="adj" fmla="val 1739"/>
            </a:avLst>
          </a:prstGeom>
          <a:solidFill>
            <a:srgbClr val="F2F3F5"/>
          </a:solidFill>
          <a:ln w="12700">
            <a:solidFill>
              <a:srgbClr val="F2F3F5"/>
            </a:solidFill>
            <a:prstDash val="solid"/>
          </a:ln>
        </p:spPr>
      </p:sp>
      <p:sp>
        <p:nvSpPr>
          <p:cNvPr id="4" name="Shape 2"/>
          <p:cNvSpPr/>
          <p:nvPr/>
        </p:nvSpPr>
        <p:spPr>
          <a:xfrm>
            <a:off x="822960" y="1691640"/>
            <a:ext cx="548640" cy="548640"/>
          </a:xfrm>
          <a:prstGeom prst="ellipse">
            <a:avLst/>
          </a:prstGeom>
          <a:solidFill>
            <a:srgbClr val="B7791F"/>
          </a:solidFill>
          <a:ln w="12700">
            <a:solidFill>
              <a:srgbClr val="B7791F"/>
            </a:solidFill>
            <a:prstDash val="solid"/>
          </a:ln>
        </p:spPr>
      </p:sp>
      <p:pic>
        <p:nvPicPr>
          <p:cNvPr id="5" name="Image 0" descr="preencoded.png">    </p:cNvPr>
          <p:cNvPicPr>
            <a:picLocks noChangeAspect="1"/>
          </p:cNvPicPr>
          <p:nvPr/>
        </p:nvPicPr>
        <p:blipFill>
          <a:blip r:embed="rId1"/>
          <a:stretch>
            <a:fillRect/>
          </a:stretch>
        </p:blipFill>
        <p:spPr>
          <a:xfrm>
            <a:off x="965606" y="1834286"/>
            <a:ext cx="263347" cy="263347"/>
          </a:xfrm>
          <a:prstGeom prst="rect">
            <a:avLst/>
          </a:prstGeom>
        </p:spPr>
      </p:pic>
      <p:sp>
        <p:nvSpPr>
          <p:cNvPr id="6" name="Text 3"/>
          <p:cNvSpPr txBox="1"/>
          <p:nvPr/>
        </p:nvSpPr>
        <p:spPr>
          <a:xfrm>
            <a:off x="1554480" y="1737360"/>
            <a:ext cx="4114800" cy="457200"/>
          </a:xfrm>
          <a:prstGeom prst="rect">
            <a:avLst/>
          </a:prstGeom>
          <a:noFill/>
          <a:ln/>
        </p:spPr>
        <p:txBody>
          <a:bodyPr wrap="square" lIns="0" tIns="0" rIns="0" bIns="0" rtlCol="0" anchor="t"/>
          <a:lstStyle/>
          <a:p>
            <a:pPr indent="0" marL="0">
              <a:buNone/>
            </a:pPr>
            <a:r>
              <a:rPr lang="en-US" sz="2000" b="1" dirty="0">
                <a:solidFill>
                  <a:srgbClr val="1B1F2A"/>
                </a:solidFill>
                <a:latin typeface="Calibri" pitchFamily="34" charset="0"/>
                <a:ea typeface="Calibri" pitchFamily="34" charset="-122"/>
                <a:cs typeface="Calibri" pitchFamily="34" charset="-120"/>
              </a:rPr>
              <a:t>Limitations</a:t>
            </a:r>
            <a:endParaRPr lang="en-US" sz="2000" dirty="0"/>
          </a:p>
        </p:txBody>
      </p:sp>
      <p:sp>
        <p:nvSpPr>
          <p:cNvPr id="7" name="Text 4"/>
          <p:cNvSpPr txBox="1"/>
          <p:nvPr/>
        </p:nvSpPr>
        <p:spPr>
          <a:xfrm>
            <a:off x="868680" y="2468880"/>
            <a:ext cx="4846320" cy="3017520"/>
          </a:xfrm>
          <a:prstGeom prst="rect">
            <a:avLst/>
          </a:prstGeom>
          <a:noFill/>
          <a:ln/>
        </p:spPr>
        <p:txBody>
          <a:bodyPr wrap="square" lIns="0" tIns="0" rIns="0" bIns="0" rtlCol="0" anchor="t"/>
          <a:lstStyle/>
          <a:p>
            <a:pPr marL="203200" indent="-203200">
              <a:spcAft>
                <a:spcPts val="800"/>
              </a:spcAft>
              <a:buSzPct val="100000"/>
              <a:buChar char="•"/>
            </a:pPr>
            <a:r>
              <a:rPr lang="en-US" sz="1800" dirty="0">
                <a:solidFill>
                  <a:srgbClr val="1B1F2A"/>
                </a:solidFill>
                <a:latin typeface="Calibri" pitchFamily="34" charset="0"/>
                <a:ea typeface="Calibri" pitchFamily="34" charset="-122"/>
                <a:cs typeface="Calibri" pitchFamily="34" charset="-120"/>
              </a:rPr>
              <a:t>Constructed dataset — not clinical validation</a:t>
            </a:r>
            <a:endParaRPr lang="en-US" sz="1800" dirty="0"/>
          </a:p>
          <a:p>
            <a:pPr marL="203200" indent="-203200">
              <a:spcAft>
                <a:spcPts val="800"/>
              </a:spcAft>
              <a:buSzPct val="100000"/>
              <a:buChar char="•"/>
            </a:pPr>
            <a:r>
              <a:rPr lang="en-US" sz="1800" dirty="0">
                <a:solidFill>
                  <a:srgbClr val="1B1F2A"/>
                </a:solidFill>
                <a:latin typeface="Calibri" pitchFamily="34" charset="0"/>
                <a:ea typeface="Calibri" pitchFamily="34" charset="-122"/>
                <a:cs typeface="Calibri" pitchFamily="34" charset="-120"/>
              </a:rPr>
              <a:t>TabFM used 500 rows, not full data</a:t>
            </a:r>
            <a:endParaRPr lang="en-US" sz="1800" dirty="0"/>
          </a:p>
          <a:p>
            <a:pPr marL="203200" indent="-203200">
              <a:spcAft>
                <a:spcPts val="800"/>
              </a:spcAft>
              <a:buSzPct val="100000"/>
              <a:buChar char="•"/>
            </a:pPr>
            <a:r>
              <a:rPr lang="en-US" sz="1800" dirty="0">
                <a:solidFill>
                  <a:srgbClr val="1B1F2A"/>
                </a:solidFill>
                <a:latin typeface="Calibri" pitchFamily="34" charset="0"/>
                <a:ea typeface="Calibri" pitchFamily="34" charset="-122"/>
                <a:cs typeface="Calibri" pitchFamily="34" charset="-120"/>
              </a:rPr>
              <a:t>SHAP for foundation models on 20–30 records</a:t>
            </a:r>
            <a:endParaRPr lang="en-US" sz="1800" dirty="0"/>
          </a:p>
          <a:p>
            <a:pPr marL="203200" indent="-203200">
              <a:spcAft>
                <a:spcPts val="800"/>
              </a:spcAft>
              <a:buSzPct val="100000"/>
              <a:buChar char="•"/>
            </a:pPr>
            <a:r>
              <a:rPr lang="en-US" sz="1800" dirty="0">
                <a:solidFill>
                  <a:srgbClr val="1B1F2A"/>
                </a:solidFill>
                <a:latin typeface="Calibri" pitchFamily="34" charset="0"/>
                <a:ea typeface="Calibri" pitchFamily="34" charset="-122"/>
                <a:cs typeface="Calibri" pitchFamily="34" charset="-120"/>
              </a:rPr>
              <a:t>One split, one seed; early stopping used test set</a:t>
            </a:r>
            <a:endParaRPr lang="en-US" sz="1800" dirty="0"/>
          </a:p>
        </p:txBody>
      </p:sp>
      <p:sp>
        <p:nvSpPr>
          <p:cNvPr id="8" name="Shape 5"/>
          <p:cNvSpPr/>
          <p:nvPr/>
        </p:nvSpPr>
        <p:spPr>
          <a:xfrm>
            <a:off x="6245352" y="1463040"/>
            <a:ext cx="5394960" cy="4206240"/>
          </a:xfrm>
          <a:prstGeom prst="roundRect">
            <a:avLst>
              <a:gd name="adj" fmla="val 1739"/>
            </a:avLst>
          </a:prstGeom>
          <a:solidFill>
            <a:srgbClr val="1B1F2A"/>
          </a:solidFill>
          <a:ln w="12700">
            <a:solidFill>
              <a:srgbClr val="1B1F2A"/>
            </a:solidFill>
            <a:prstDash val="solid"/>
          </a:ln>
        </p:spPr>
      </p:sp>
      <p:sp>
        <p:nvSpPr>
          <p:cNvPr id="9" name="Shape 6"/>
          <p:cNvSpPr/>
          <p:nvPr/>
        </p:nvSpPr>
        <p:spPr>
          <a:xfrm>
            <a:off x="6519672" y="1691640"/>
            <a:ext cx="548640" cy="548640"/>
          </a:xfrm>
          <a:prstGeom prst="ellipse">
            <a:avLst/>
          </a:prstGeom>
          <a:solidFill>
            <a:srgbClr val="C8102E"/>
          </a:solidFill>
          <a:ln w="12700">
            <a:solidFill>
              <a:srgbClr val="C8102E"/>
            </a:solidFill>
            <a:prstDash val="solid"/>
          </a:ln>
        </p:spPr>
      </p:sp>
      <p:pic>
        <p:nvPicPr>
          <p:cNvPr id="10" name="Image 1" descr="preencoded.png">    </p:cNvPr>
          <p:cNvPicPr>
            <a:picLocks noChangeAspect="1"/>
          </p:cNvPicPr>
          <p:nvPr/>
        </p:nvPicPr>
        <p:blipFill>
          <a:blip r:embed="rId2"/>
          <a:stretch>
            <a:fillRect/>
          </a:stretch>
        </p:blipFill>
        <p:spPr>
          <a:xfrm>
            <a:off x="6662318" y="1834286"/>
            <a:ext cx="263347" cy="263347"/>
          </a:xfrm>
          <a:prstGeom prst="rect">
            <a:avLst/>
          </a:prstGeom>
        </p:spPr>
      </p:pic>
      <p:sp>
        <p:nvSpPr>
          <p:cNvPr id="11" name="Text 7"/>
          <p:cNvSpPr txBox="1"/>
          <p:nvPr/>
        </p:nvSpPr>
        <p:spPr>
          <a:xfrm>
            <a:off x="7251192" y="1737360"/>
            <a:ext cx="4114800" cy="457200"/>
          </a:xfrm>
          <a:prstGeom prst="rect">
            <a:avLst/>
          </a:prstGeom>
          <a:noFill/>
          <a:ln/>
        </p:spPr>
        <p:txBody>
          <a:bodyPr wrap="square" lIns="0" tIns="0" rIns="0" bIns="0" rtlCol="0" anchor="t"/>
          <a:lstStyle/>
          <a:p>
            <a:pPr indent="0" marL="0">
              <a:buNone/>
            </a:pPr>
            <a:r>
              <a:rPr lang="en-US" sz="2000" b="1" dirty="0">
                <a:solidFill>
                  <a:srgbClr val="FFFFFF"/>
                </a:solidFill>
                <a:latin typeface="Calibri" pitchFamily="34" charset="0"/>
                <a:ea typeface="Calibri" pitchFamily="34" charset="-122"/>
                <a:cs typeface="Calibri" pitchFamily="34" charset="-120"/>
              </a:rPr>
              <a:t>Future work</a:t>
            </a:r>
            <a:endParaRPr lang="en-US" sz="2000" dirty="0"/>
          </a:p>
        </p:txBody>
      </p:sp>
      <p:sp>
        <p:nvSpPr>
          <p:cNvPr id="12" name="Text 8"/>
          <p:cNvSpPr txBox="1"/>
          <p:nvPr/>
        </p:nvSpPr>
        <p:spPr>
          <a:xfrm>
            <a:off x="6565392" y="2468880"/>
            <a:ext cx="4846320" cy="3017520"/>
          </a:xfrm>
          <a:prstGeom prst="rect">
            <a:avLst/>
          </a:prstGeom>
          <a:noFill/>
          <a:ln/>
        </p:spPr>
        <p:txBody>
          <a:bodyPr wrap="square" lIns="0" tIns="0" rIns="0" bIns="0" rtlCol="0" anchor="t"/>
          <a:lstStyle/>
          <a:p>
            <a:pPr marL="203200" indent="-203200">
              <a:spcAft>
                <a:spcPts val="800"/>
              </a:spcAft>
              <a:buSzPct val="100000"/>
              <a:buChar char="•"/>
            </a:pPr>
            <a:r>
              <a:rPr lang="en-US" sz="1800" dirty="0">
                <a:solidFill>
                  <a:srgbClr val="FFFFFF"/>
                </a:solidFill>
                <a:latin typeface="Calibri" pitchFamily="34" charset="0"/>
                <a:ea typeface="Calibri" pitchFamily="34" charset="-122"/>
                <a:cs typeface="Calibri" pitchFamily="34" charset="-120"/>
              </a:rPr>
              <a:t>Validate on real clinical data</a:t>
            </a:r>
            <a:endParaRPr lang="en-US" sz="1800" dirty="0"/>
          </a:p>
          <a:p>
            <a:pPr marL="203200" indent="-203200">
              <a:spcAft>
                <a:spcPts val="800"/>
              </a:spcAft>
              <a:buSzPct val="100000"/>
              <a:buChar char="•"/>
            </a:pPr>
            <a:r>
              <a:rPr lang="en-US" sz="1800" dirty="0">
                <a:solidFill>
                  <a:srgbClr val="FFFFFF"/>
                </a:solidFill>
                <a:latin typeface="Calibri" pitchFamily="34" charset="0"/>
                <a:ea typeface="Calibri" pitchFamily="34" charset="-122"/>
                <a:cs typeface="Calibri" pitchFamily="34" charset="-120"/>
              </a:rPr>
              <a:t>Full-context TabFM, several seeds and splits</a:t>
            </a:r>
            <a:endParaRPr lang="en-US" sz="1800" dirty="0"/>
          </a:p>
          <a:p>
            <a:pPr marL="203200" indent="-203200">
              <a:spcAft>
                <a:spcPts val="800"/>
              </a:spcAft>
              <a:buSzPct val="100000"/>
              <a:buChar char="•"/>
            </a:pPr>
            <a:r>
              <a:rPr lang="en-US" sz="1800" dirty="0">
                <a:solidFill>
                  <a:srgbClr val="FFFFFF"/>
                </a:solidFill>
                <a:latin typeface="Calibri" pitchFamily="34" charset="0"/>
                <a:ea typeface="Calibri" pitchFamily="34" charset="-122"/>
                <a:cs typeface="Calibri" pitchFamily="34" charset="-120"/>
              </a:rPr>
              <a:t>Larger SHAP samples</a:t>
            </a:r>
            <a:endParaRPr lang="en-US" sz="1800" dirty="0"/>
          </a:p>
          <a:p>
            <a:pPr marL="203200" indent="-203200">
              <a:spcAft>
                <a:spcPts val="800"/>
              </a:spcAft>
              <a:buSzPct val="100000"/>
              <a:buChar char="•"/>
            </a:pPr>
            <a:r>
              <a:rPr lang="en-US" sz="1800" dirty="0">
                <a:solidFill>
                  <a:srgbClr val="FFFFFF"/>
                </a:solidFill>
                <a:latin typeface="Calibri" pitchFamily="34" charset="0"/>
                <a:ea typeface="Calibri" pitchFamily="34" charset="-122"/>
                <a:cs typeface="Calibri" pitchFamily="34" charset="-120"/>
              </a:rPr>
              <a:t>Ordinal models for the Moderate tier</a:t>
            </a:r>
            <a:endParaRPr lang="en-US" sz="1800" dirty="0"/>
          </a:p>
          <a:p>
            <a:pPr marL="203200" indent="-203200">
              <a:spcAft>
                <a:spcPts val="800"/>
              </a:spcAft>
              <a:buSzPct val="100000"/>
              <a:buChar char="•"/>
            </a:pPr>
            <a:r>
              <a:rPr lang="en-US" sz="1800" dirty="0">
                <a:solidFill>
                  <a:srgbClr val="FFFFFF"/>
                </a:solidFill>
                <a:latin typeface="Calibri" pitchFamily="34" charset="0"/>
                <a:ea typeface="Calibri" pitchFamily="34" charset="-122"/>
                <a:cs typeface="Calibri" pitchFamily="34" charset="-120"/>
              </a:rPr>
              <a:t>Ensembles and lightweight distilled models</a:t>
            </a:r>
            <a:endParaRPr lang="en-US" sz="1800" dirty="0"/>
          </a:p>
        </p:txBody>
      </p:sp>
      <p:sp>
        <p:nvSpPr>
          <p:cNvPr id="25" name="Slide Number Placeholder 0"/>
          <p:cNvSpPr>
            <a:spLocks noGrp="1"/>
          </p:cNvSpPr>
          <p:nvPr>
            <p:ph type="sldNum" sz="quarter" idx="4294967295"/>
          </p:nvPr>
        </p:nvSpPr>
        <p:spPr>
          <a:xfrm>
            <a:off x="11368735" y="6446520"/>
            <a:ext cx="457200" cy="274320"/>
          </a:xfrm>
          <a:prstGeom prst="rect">
            <a:avLst/>
          </a:prstGeom>
          <a:extLst>
            <a:ext uri="{C572A759-6A51-4108-AA02-DFA0A04FC94B}">
              <ma14:wrappingTextBoxFlag xmlns:ma14="http://schemas.microsoft.com/office/mac/drawingml/2011/main" val="0"/>
            </a:ext>
          </a:extLst>
        </p:spPr>
        <p:txBody>
          <a:bodyPr/>
          <a:lstStyle>
            <a:lvl1pPr>
              <a:defRPr sz="1000">
                <a:solidFill>
                  <a:srgbClr val="5B6170"/>
                </a:solidFill>
                <a:latin typeface="Calibri"/>
                <a:ea typeface="Calibri"/>
                <a:cs typeface="Calibri"/>
              </a:defRPr>
            </a:lvl1pPr>
          </a:lstStyle>
          <a:p>
            <a:pPr algn="r"/>
            <a:fld id="{F7021451-1387-4CA6-816F-3879F97B5CBC}" type="slidenum">
              <a:rPr b="0" lang="en-US"/>
              <a:t>16</a:t>
            </a:fld>
            <a:endParaRPr lang="en-US"/>
          </a:p>
        </p:txBody>
      </p:sp>
    </p:spTree>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name="Slide 17">
    <p:bg>
      <p:bgPr>
        <a:solidFill>
          <a:srgbClr val="1B1F2A"/>
        </a:solidFill>
      </p:bgPr>
    </p:bg>
    <p:spTree>
      <p:nvGrpSpPr>
        <p:cNvPr id="1" name=""/>
        <p:cNvGrpSpPr/>
        <p:nvPr/>
      </p:nvGrpSpPr>
      <p:grpSpPr>
        <a:xfrm>
          <a:off x="0" y="0"/>
          <a:ext cx="0" cy="0"/>
          <a:chOff x="0" y="0"/>
          <a:chExt cx="0" cy="0"/>
        </a:xfrm>
      </p:grpSpPr>
      <p:sp>
        <p:nvSpPr>
          <p:cNvPr id="2" name="Text 0"/>
          <p:cNvSpPr txBox="1"/>
          <p:nvPr/>
        </p:nvSpPr>
        <p:spPr>
          <a:xfrm>
            <a:off x="548640" y="2011680"/>
            <a:ext cx="11094415" cy="1097280"/>
          </a:xfrm>
          <a:prstGeom prst="rect">
            <a:avLst/>
          </a:prstGeom>
          <a:noFill/>
          <a:ln/>
        </p:spPr>
        <p:txBody>
          <a:bodyPr wrap="square" lIns="0" tIns="0" rIns="0" bIns="0" rtlCol="0" anchor="ctr"/>
          <a:lstStyle/>
          <a:p>
            <a:pPr algn="ctr" indent="0" marL="0">
              <a:buNone/>
            </a:pPr>
            <a:r>
              <a:rPr lang="en-US" sz="6000" b="1" dirty="0">
                <a:solidFill>
                  <a:srgbClr val="FFFFFF"/>
                </a:solidFill>
                <a:latin typeface="Cambria" pitchFamily="34" charset="0"/>
                <a:ea typeface="Cambria" pitchFamily="34" charset="-122"/>
                <a:cs typeface="Cambria" pitchFamily="34" charset="-120"/>
              </a:rPr>
              <a:t>Thank you</a:t>
            </a:r>
            <a:endParaRPr lang="en-US" sz="6000" dirty="0"/>
          </a:p>
        </p:txBody>
      </p:sp>
      <p:sp>
        <p:nvSpPr>
          <p:cNvPr id="3" name="Text 1"/>
          <p:cNvSpPr txBox="1"/>
          <p:nvPr/>
        </p:nvSpPr>
        <p:spPr>
          <a:xfrm>
            <a:off x="548640" y="3154680"/>
            <a:ext cx="11094415" cy="548640"/>
          </a:xfrm>
          <a:prstGeom prst="rect">
            <a:avLst/>
          </a:prstGeom>
          <a:noFill/>
          <a:ln/>
        </p:spPr>
        <p:txBody>
          <a:bodyPr wrap="square" lIns="0" tIns="0" rIns="0" bIns="0" rtlCol="0" anchor="ctr"/>
          <a:lstStyle/>
          <a:p>
            <a:pPr algn="ctr" indent="0" marL="0">
              <a:buNone/>
            </a:pPr>
            <a:r>
              <a:rPr lang="en-US" sz="2400" dirty="0">
                <a:solidFill>
                  <a:srgbClr val="F2A0AB"/>
                </a:solidFill>
                <a:latin typeface="Calibri" pitchFamily="34" charset="0"/>
                <a:ea typeface="Calibri" pitchFamily="34" charset="-122"/>
                <a:cs typeface="Calibri" pitchFamily="34" charset="-120"/>
              </a:rPr>
              <a:t>Questions &amp; discussion</a:t>
            </a:r>
            <a:endParaRPr lang="en-US" sz="2400" dirty="0"/>
          </a:p>
        </p:txBody>
      </p:sp>
      <p:sp>
        <p:nvSpPr>
          <p:cNvPr id="4" name="Shape 2"/>
          <p:cNvSpPr/>
          <p:nvPr/>
        </p:nvSpPr>
        <p:spPr>
          <a:xfrm>
            <a:off x="4678528" y="4206240"/>
            <a:ext cx="2834640" cy="1161288"/>
          </a:xfrm>
          <a:prstGeom prst="roundRect">
            <a:avLst>
              <a:gd name="adj" fmla="val 4724"/>
            </a:avLst>
          </a:prstGeom>
          <a:solidFill>
            <a:srgbClr val="FFFFFF"/>
          </a:solidFill>
          <a:ln w="12700">
            <a:solidFill>
              <a:srgbClr val="FFFFFF"/>
            </a:solidFill>
            <a:prstDash val="solid"/>
          </a:ln>
        </p:spPr>
      </p:sp>
      <p:pic>
        <p:nvPicPr>
          <p:cNvPr id="5" name="Image 0" descr="/Users/midas/Desktop/Hairfall-Thesis/thesis/final_src/assets/lincoln_logo.jpeg">    </p:cNvPr>
          <p:cNvPicPr>
            <a:picLocks noChangeAspect="1"/>
          </p:cNvPicPr>
          <p:nvPr/>
        </p:nvPicPr>
        <p:blipFill>
          <a:blip r:embed="rId1"/>
          <a:stretch>
            <a:fillRect/>
          </a:stretch>
        </p:blipFill>
        <p:spPr>
          <a:xfrm>
            <a:off x="4769968" y="4279392"/>
            <a:ext cx="2651760" cy="1014984"/>
          </a:xfrm>
          <a:prstGeom prst="rect">
            <a:avLst/>
          </a:prstGeom>
        </p:spPr>
      </p:pic>
      <p:sp>
        <p:nvSpPr>
          <p:cNvPr id="6" name="Text 3"/>
          <p:cNvSpPr txBox="1"/>
          <p:nvPr/>
        </p:nvSpPr>
        <p:spPr>
          <a:xfrm>
            <a:off x="548640" y="5669280"/>
            <a:ext cx="11094415" cy="365760"/>
          </a:xfrm>
          <a:prstGeom prst="rect">
            <a:avLst/>
          </a:prstGeom>
          <a:noFill/>
          <a:ln/>
        </p:spPr>
        <p:txBody>
          <a:bodyPr wrap="square" lIns="0" tIns="0" rIns="0" bIns="0" rtlCol="0" anchor="ctr"/>
          <a:lstStyle/>
          <a:p>
            <a:pPr algn="ctr" indent="0" marL="0">
              <a:buNone/>
            </a:pPr>
            <a:r>
              <a:rPr lang="en-US" sz="1500" dirty="0">
                <a:solidFill>
                  <a:srgbClr val="D5D8DF"/>
                </a:solidFill>
                <a:latin typeface="Calibri" pitchFamily="34" charset="0"/>
                <a:ea typeface="Calibri" pitchFamily="34" charset="-122"/>
                <a:cs typeface="Calibri" pitchFamily="34" charset="-120"/>
              </a:rPr>
              <a:t>Krishna Gautam  ·  Supervisor: Rabin Shrestha</a:t>
            </a:r>
            <a:endParaRPr lang="en-US" sz="1500" dirty="0"/>
          </a:p>
        </p:txBody>
      </p:sp>
      <p:sp>
        <p:nvSpPr>
          <p:cNvPr id="25" name="Slide Number Placeholder 0"/>
          <p:cNvSpPr>
            <a:spLocks noGrp="1"/>
          </p:cNvSpPr>
          <p:nvPr>
            <p:ph type="sldNum" sz="quarter" idx="4294967295"/>
          </p:nvPr>
        </p:nvSpPr>
        <p:spPr>
          <a:xfrm>
            <a:off x="11368735" y="6446520"/>
            <a:ext cx="457200" cy="274320"/>
          </a:xfrm>
          <a:prstGeom prst="rect">
            <a:avLst/>
          </a:prstGeom>
          <a:extLst>
            <a:ext uri="{C572A759-6A51-4108-AA02-DFA0A04FC94B}">
              <ma14:wrappingTextBoxFlag xmlns:ma14="http://schemas.microsoft.com/office/mac/drawingml/2011/main" val="0"/>
            </a:ext>
          </a:extLst>
        </p:spPr>
        <p:txBody>
          <a:bodyPr/>
          <a:lstStyle>
            <a:lvl1pPr>
              <a:defRPr sz="1000">
                <a:solidFill>
                  <a:srgbClr val="B8BCC6"/>
                </a:solidFill>
                <a:latin typeface="Calibri"/>
                <a:ea typeface="Calibri"/>
                <a:cs typeface="Calibri"/>
              </a:defRPr>
            </a:lvl1pPr>
          </a:lstStyle>
          <a:p>
            <a:pPr algn="r"/>
            <a:fld id="{F7021451-1387-4CA6-816F-3879F97B5CBC}" type="slidenum">
              <a:rPr b="0" lang="en-US"/>
              <a:t>17</a:t>
            </a:fld>
            <a:endParaRPr lang="en-US"/>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0</Words>
  <Application>Microsoft Office PowerPoint</Application>
  <PresentationFormat>On-screen Show (16:9)</PresentationFormat>
  <Paragraphs>0</Paragraphs>
  <Slides>17</Slides>
  <Notes>17</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17</vt:i4>
      </vt:variant>
    </vt:vector>
  </HeadingPairs>
  <TitlesOfParts>
    <vt:vector size="20" baseType="lpstr">
      <vt:lpstr>Arial</vt:lpstr>
      <vt:lpstr>Calibri</vt:lpstr>
      <vt:lpstr>Office Theme</vt:lpstr>
      <vt:lpstr>Slide 1</vt:lpstr>
      <vt:lpstr>Slide 2</vt:lpstr>
      <vt:lpstr>Slide 3</vt:lpstr>
      <vt:lpstr>Slide 4</vt:lpstr>
      <vt:lpstr>Slide 5</vt:lpstr>
      <vt:lpstr>Slide 6</vt:lpstr>
      <vt:lpstr>Slide 7</vt:lpstr>
      <vt:lpstr>Slide 8</vt:lpstr>
      <vt:lpstr>Slide 9</vt:lpstr>
      <vt:lpstr>Slide 10</vt:lpstr>
      <vt:lpstr>Slide 11</vt:lpstr>
      <vt:lpstr>Slide 12</vt:lpstr>
      <vt:lpstr>Slide 13</vt:lpstr>
      <vt:lpstr>Slide 14</vt:lpstr>
      <vt:lpstr>Slide 15</vt:lpstr>
      <vt:lpstr>Slide 16</vt:lpstr>
      <vt:lpstr>Slide 17</vt:lpstr>
    </vt:vector>
  </TitlesOfParts>
  <Company>PptxGenJS</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Comparative Benchmarking of CatBoost, TabPFN and TabFM for Explainable Multi-Tier Hair Fall Risk Stratification</dc:title>
  <dc:subject>PptxGenJS Presentation</dc:subject>
  <dc:creator>Krishna Gautam</dc:creator>
  <cp:lastModifiedBy>Krishna Gautam</cp:lastModifiedBy>
  <cp:revision>1</cp:revision>
  <dcterms:created xsi:type="dcterms:W3CDTF">2026-09-23T19:44:26Z</dcterms:created>
  <dcterms:modified xsi:type="dcterms:W3CDTF">2026-09-23T19:44:26Z</dcterms:modified>
</cp:coreProperties>
</file>